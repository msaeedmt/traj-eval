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0:00–0:45 · Speaker 1</a:t>
            </a:r>
          </a:p>
          <a:p>
            <a:r>
              <a:t>Opening claim: a correct-looking final answer is not enough to evaluate a scientific agent.</a:t>
            </a:r>
          </a:p>
          <a:p>
            <a:r>
              <a:t>Preview the split: five minutes on the architecture and evidence model, five minutes on hand-reviewed Lean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0:45–3:00 · Speaker 1</a:t>
            </a:r>
          </a:p>
          <a:p>
            <a:r>
              <a:t>Explain the three roles and separate agent proposals from executor/tool evidence.</a:t>
            </a:r>
          </a:p>
          <a:p>
            <a:r>
              <a:t>Important wording: the canonical Critic made zero return handoffs to the Engineer; Engineers did revise their own code.</a:t>
            </a:r>
          </a:p>
          <a:p>
            <a:r>
              <a:t>The 97/100 number describes recorded causal-graph topology, not hidden 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3:00–5:00 · Speaker 1</a:t>
            </a:r>
          </a:p>
          <a:p>
            <a:r>
              <a:t>Use the four JSON fields to explain why this is more than a final-answer benchmark.</a:t>
            </a:r>
          </a:p>
          <a:p>
            <a:r>
              <a:t>Stress the concept rule: observed facts and inferred causes are separate layers.</a:t>
            </a:r>
          </a:p>
          <a:p>
            <a:r>
              <a:t>Handoff to Speaker 2: now use the same evidence model on the canonical Lean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5:00–6:00 · Speaker 2</a:t>
            </a:r>
          </a:p>
          <a:p>
            <a:r>
              <a:t>Lead with 56 / 40 / 4. The four silent failures are the strongest reason to inspect trajectories.</a:t>
            </a:r>
          </a:p>
          <a:p>
            <a:r>
              <a:t>Mention the topology cautiously: 97 connected-linear, 3 disconnected, 0 branching in the recorded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7:15–9:15 · Speaker 2</a:t>
            </a:r>
          </a:p>
          <a:p>
            <a:r>
              <a:t>Case A: say 'ended without a handoff or target attempt'—the legacy trace has no explicit budget terminal event.</a:t>
            </a:r>
          </a:p>
          <a:p>
            <a:r>
              <a:t>Case B: walk the three structured events in order. The changed statement compiled; the exact requested statement failed; approval still followed.</a:t>
            </a:r>
          </a:p>
          <a:p>
            <a:r>
              <a:t>This is the clearest trace-internal Critic masking case in the canonical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6:00–7:15 · Speaker 2</a:t>
            </a:r>
          </a:p>
          <a:p>
            <a:r>
              <a:t>This is the healthy control: three failed checks, a repaired exact target, then a fresh Critic compile and approval.</a:t>
            </a:r>
          </a:p>
          <a:p>
            <a:r>
              <a:t>The user's selected easy_fatem_012_t2 event 9 is also a successful recovery, but its Critic did not recompile; t3 is the cleaner positive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9:15–10:00 · Speaker 2</a:t>
            </a:r>
          </a:p>
          <a:p>
            <a:r>
              <a:t>Close with the two smallest high-value changes: an evidence-carrying return route and a structured approval gate.</a:t>
            </a:r>
          </a:p>
          <a:p>
            <a:r>
              <a:t>The retrieval guard is the next small experiment; independent validation remains the non-negotiable outer layer.</a:t>
            </a:r>
          </a:p>
          <a:p>
            <a:r>
              <a:t>Final sentence: trajectory evidence turns 'the agent failed' into a concrete, testable system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2A8EBA-6379-4EEB-8A65-F8B2C62AF046}"/>
              </a:ext>
            </a:extLst>
          </p:cNvPr>
          <p:cNvSpPr>
            <a:spLocks noGrp="1"/>
          </p:cNvSpPr>
          <p:nvPr/>
        </p:nvSpPr>
        <p:spPr>
          <a:xfrm>
            <a:off x="822960" y="1417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4AB4E6-3050-4CBB-BF60-4CE8A998F752}"/>
              </a:ext>
            </a:extLst>
          </p:cNvPr>
          <p:cNvSpPr>
            <a:spLocks noGrp="1"/>
          </p:cNvSpPr>
          <p:nvPr/>
        </p:nvSpPr>
        <p:spPr>
          <a:xfrm>
            <a:off x="82296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λ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97472E-9F43-48D6-B99A-8DE126D82573}"/>
              </a:ext>
            </a:extLst>
          </p:cNvPr>
          <p:cNvSpPr>
            <a:spLocks noGrp="1"/>
          </p:cNvSpPr>
          <p:nvPr/>
        </p:nvSpPr>
        <p:spPr>
          <a:xfrm>
            <a:off x="1508760" y="13716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traj-eval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8D1397-229A-4D5A-B955-C32101CFCD8D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Scientific agents can pass—and still fail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2F73A5-138D-43B3-82E2-719B5ED23382}"/>
              </a:ext>
            </a:extLst>
          </p:cNvPr>
          <p:cNvSpPr>
            <a:spLocks noGrp="1"/>
          </p:cNvSpPr>
          <p:nvPr/>
        </p:nvSpPr>
        <p:spPr>
          <a:xfrm>
            <a:off x="822960" y="2651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350" i="1">
                <a:solidFill>
                  <a:srgbClr val="0A789F"/>
                </a:solidFill>
              </a:defRPr>
            </a:pPr>
            <a:r>
              <a:rPr sz="1350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Architecture + hand-reviewed Lean evidence · 5 + 5 minutes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B2AE3B-526A-451F-96D1-43C0B81A3B36}"/>
              </a:ext>
            </a:extLst>
          </p:cNvPr>
          <p:cNvSpPr>
            <a:spLocks noGrp="1"/>
          </p:cNvSpPr>
          <p:nvPr/>
        </p:nvSpPr>
        <p:spPr>
          <a:xfrm>
            <a:off x="822960" y="3657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4EFAD13-0726-4755-AFFA-C990B62200F0}"/>
              </a:ext>
            </a:extLst>
          </p:cNvPr>
          <p:cNvSpPr>
            <a:spLocks noGrp="1"/>
          </p:cNvSpPr>
          <p:nvPr/>
        </p:nvSpPr>
        <p:spPr>
          <a:xfrm>
            <a:off x="102412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Sci-Agent architecture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AB3ED24-D8A9-48F9-8D6A-961B47CC48B6}"/>
              </a:ext>
            </a:extLst>
          </p:cNvPr>
          <p:cNvSpPr>
            <a:spLocks noGrp="1"/>
          </p:cNvSpPr>
          <p:nvPr/>
        </p:nvSpPr>
        <p:spPr>
          <a:xfrm>
            <a:off x="1024128" y="4133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0A789F"/>
                </a:solidFill>
              </a:defRPr>
            </a:pPr>
            <a:r>
              <a:rPr sz="900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PART 1 · 5 MIN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C474EE-27DF-4C73-A4B8-558E68105EB3}"/>
              </a:ext>
            </a:extLst>
          </p:cNvPr>
          <p:cNvSpPr>
            <a:spLocks noGrp="1"/>
          </p:cNvSpPr>
          <p:nvPr/>
        </p:nvSpPr>
        <p:spPr>
          <a:xfrm>
            <a:off x="4389120" y="3657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BF03BB4-5E24-401F-AB1A-992B0785E534}"/>
              </a:ext>
            </a:extLst>
          </p:cNvPr>
          <p:cNvSpPr>
            <a:spLocks noGrp="1"/>
          </p:cNvSpPr>
          <p:nvPr/>
        </p:nvSpPr>
        <p:spPr>
          <a:xfrm>
            <a:off x="459028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failure analysis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DC86EF-7FB9-498A-8F7E-FE58F6944135}"/>
              </a:ext>
            </a:extLst>
          </p:cNvPr>
          <p:cNvSpPr>
            <a:spLocks noGrp="1"/>
          </p:cNvSpPr>
          <p:nvPr/>
        </p:nvSpPr>
        <p:spPr>
          <a:xfrm>
            <a:off x="4590288" y="4133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PART 2 · 5 MIN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87A5E39-5862-4D7B-9ED8-685D85532993}"/>
              </a:ext>
            </a:extLst>
          </p:cNvPr>
          <p:cNvSpPr>
            <a:spLocks noGrp="1"/>
          </p:cNvSpPr>
          <p:nvPr/>
        </p:nvSpPr>
        <p:spPr>
          <a:xfrm>
            <a:off x="7955280" y="3657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ECA54D4-DF92-4D88-84E0-66EAC600CBE3}"/>
              </a:ext>
            </a:extLst>
          </p:cNvPr>
          <p:cNvSpPr>
            <a:spLocks noGrp="1"/>
          </p:cNvSpPr>
          <p:nvPr/>
        </p:nvSpPr>
        <p:spPr>
          <a:xfrm>
            <a:off x="815644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base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1B6FBEA-73C2-4134-B5E9-53CBA9B39DD5}"/>
              </a:ext>
            </a:extLst>
          </p:cNvPr>
          <p:cNvSpPr>
            <a:spLocks noGrp="1"/>
          </p:cNvSpPr>
          <p:nvPr/>
        </p:nvSpPr>
        <p:spPr>
          <a:xfrm>
            <a:off x="8156448" y="4133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100 LEAN RUNS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10E8D50-EEED-4AAD-9201-D1DC431FCA82}"/>
              </a:ext>
            </a:extLst>
          </p:cNvPr>
          <p:cNvSpPr>
            <a:spLocks noGrp="1"/>
          </p:cNvSpPr>
          <p:nvPr/>
        </p:nvSpPr>
        <p:spPr>
          <a:xfrm>
            <a:off x="822960" y="5212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D6E0EE"/>
                </a:solidFill>
              </a:defRPr>
            </a:pPr>
            <a:r>
              <a:rPr sz="938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Jiadong Han · Mohammad Saeed Motevali Amin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CCC4BC-7FA8-4C69-BA21-856BCEB97C50}"/>
              </a:ext>
            </a:extLst>
          </p:cNvPr>
          <p:cNvSpPr>
            <a:spLocks noGrp="1"/>
          </p:cNvSpPr>
          <p:nvPr/>
        </p:nvSpPr>
        <p:spPr>
          <a:xfrm>
            <a:off x="82296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B7C5D8"/>
                </a:solidFill>
              </a:defRPr>
            </a:pPr>
            <a:r>
              <a:rPr sz="788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CAISA Lab · University of Bonn · Summer Semester 2026</a:t>
            </a:r>
          </a:p>
        </p:txBody>
      </p:sp>
    </p:spTree>
    <p:extLst>
      <p:ext uri="{BB962C8B-B14F-4D97-AF65-F5344CB8AC3E}">
        <p14:creationId xmlns:p14="http://schemas.microsoft.com/office/powerpoint/2010/main" val="58097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6B94CC-8780-4EFF-91F8-44143F250906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Part 1 · Scientific-agent architecture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94D43E-977A-4D1E-BAB3-52C8D8245EB4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Roles generate proposals; tools and validators supply evidence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88E99E-F85D-4942-820F-11F632C2A3F4}"/>
              </a:ext>
            </a:extLst>
          </p:cNvPr>
          <p:cNvSpPr>
            <a:spLocks noGrp="1"/>
          </p:cNvSpPr>
          <p:nvPr/>
        </p:nvSpPr>
        <p:spPr>
          <a:xfrm>
            <a:off x="548640" y="1481328"/>
            <a:ext cx="7589520" cy="4160520"/>
          </a:xfrm>
          <a:prstGeom prst="roundRect">
            <a:avLst>
              <a:gd name="adj" fmla="val 1319"/>
            </a:avLst>
          </a:prstGeom>
          <a:solidFill>
            <a:srgbClr val="F5F9FB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BDE5B7-1CDD-409A-9CC2-FBD7817CE330}"/>
              </a:ext>
            </a:extLst>
          </p:cNvPr>
          <p:cNvSpPr>
            <a:spLocks noGrp="1"/>
          </p:cNvSpPr>
          <p:nvPr/>
        </p:nvSpPr>
        <p:spPr>
          <a:xfrm>
            <a:off x="914400" y="21488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BB33F0-7A87-48EC-8DD8-CEF9D7D9052F}"/>
              </a:ext>
            </a:extLst>
          </p:cNvPr>
          <p:cNvSpPr>
            <a:spLocks noGrp="1"/>
          </p:cNvSpPr>
          <p:nvPr/>
        </p:nvSpPr>
        <p:spPr>
          <a:xfrm>
            <a:off x="914400" y="2148840"/>
            <a:ext cx="1691640" cy="566928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Reasoner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03FF866-333E-4FD8-B53E-27E223AEC0E9}"/>
              </a:ext>
            </a:extLst>
          </p:cNvPr>
          <p:cNvSpPr>
            <a:spLocks noGrp="1"/>
          </p:cNvSpPr>
          <p:nvPr/>
        </p:nvSpPr>
        <p:spPr>
          <a:xfrm>
            <a:off x="3246120" y="21488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413A2F-790E-4406-A721-0E7BB1322970}"/>
              </a:ext>
            </a:extLst>
          </p:cNvPr>
          <p:cNvSpPr>
            <a:spLocks noGrp="1"/>
          </p:cNvSpPr>
          <p:nvPr/>
        </p:nvSpPr>
        <p:spPr>
          <a:xfrm>
            <a:off x="3246120" y="2148840"/>
            <a:ext cx="1691640" cy="566928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9813A80-A4A5-45EB-BA1E-96EE089FFFA2}"/>
              </a:ext>
            </a:extLst>
          </p:cNvPr>
          <p:cNvSpPr>
            <a:spLocks noGrp="1"/>
          </p:cNvSpPr>
          <p:nvPr/>
        </p:nvSpPr>
        <p:spPr>
          <a:xfrm>
            <a:off x="5577840" y="21488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87EF55-D0A7-49EE-AE57-33CCCA27FC65}"/>
              </a:ext>
            </a:extLst>
          </p:cNvPr>
          <p:cNvSpPr>
            <a:spLocks noGrp="1"/>
          </p:cNvSpPr>
          <p:nvPr/>
        </p:nvSpPr>
        <p:spPr>
          <a:xfrm>
            <a:off x="5577840" y="2148840"/>
            <a:ext cx="1691640" cy="566928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8323070-8CCC-49DA-9A95-4B693452F383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retrieves + plans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E442A1A-9C2A-4739-A6E5-56C8821479F5}"/>
              </a:ext>
            </a:extLst>
          </p:cNvPr>
          <p:cNvSpPr>
            <a:spLocks noGrp="1"/>
          </p:cNvSpPr>
          <p:nvPr/>
        </p:nvSpPr>
        <p:spPr>
          <a:xfrm>
            <a:off x="3246120" y="27432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formalizes + checks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341FDBF-2AB7-4C8F-A0A2-2C666715F0C4}"/>
              </a:ext>
            </a:extLst>
          </p:cNvPr>
          <p:cNvSpPr>
            <a:spLocks noGrp="1"/>
          </p:cNvSpPr>
          <p:nvPr/>
        </p:nvSpPr>
        <p:spPr>
          <a:xfrm>
            <a:off x="5577840" y="27432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checks the contract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3A69153-A1E9-4CFB-BC35-7D73C2EC2302}"/>
              </a:ext>
            </a:extLst>
          </p:cNvPr>
          <p:cNvSpPr>
            <a:spLocks noGrp="1"/>
          </p:cNvSpPr>
          <p:nvPr/>
        </p:nvSpPr>
        <p:spPr>
          <a:xfrm>
            <a:off x="2638843" y="2359733"/>
            <a:ext cx="56692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33A6697-C111-4E68-B76E-8E8A54856B96}"/>
              </a:ext>
            </a:extLst>
          </p:cNvPr>
          <p:cNvSpPr>
            <a:spLocks noGrp="1"/>
          </p:cNvSpPr>
          <p:nvPr/>
        </p:nvSpPr>
        <p:spPr>
          <a:xfrm>
            <a:off x="4970562" y="2359733"/>
            <a:ext cx="56692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B89F624-AE05-47C5-B076-1D46E58CD0FC}"/>
              </a:ext>
            </a:extLst>
          </p:cNvPr>
          <p:cNvSpPr>
            <a:spLocks noGrp="1"/>
          </p:cNvSpPr>
          <p:nvPr/>
        </p:nvSpPr>
        <p:spPr>
          <a:xfrm>
            <a:off x="2487168" y="190195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handoff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9407FD1-8C79-414A-83DB-32017DF4A0CF}"/>
              </a:ext>
            </a:extLst>
          </p:cNvPr>
          <p:cNvSpPr>
            <a:spLocks noGrp="1"/>
          </p:cNvSpPr>
          <p:nvPr/>
        </p:nvSpPr>
        <p:spPr>
          <a:xfrm>
            <a:off x="4846320" y="190195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A644A53-1213-4911-B787-6FE7CC6283FC}"/>
              </a:ext>
            </a:extLst>
          </p:cNvPr>
          <p:cNvSpPr>
            <a:spLocks noGrp="1"/>
          </p:cNvSpPr>
          <p:nvPr/>
        </p:nvSpPr>
        <p:spPr>
          <a:xfrm>
            <a:off x="4727303" y="2566707"/>
            <a:ext cx="1119049" cy="83602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50">
                <a:solidFill>
                  <a:srgbClr val="D27B12"/>
                </a:solidFill>
              </a:defRPr>
            </a:pPr>
            <a:r>
              <a:rPr sz="75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return with failing evidence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631E386-5E6B-4364-AD75-831366251BFF}"/>
              </a:ext>
            </a:extLst>
          </p:cNvPr>
          <p:cNvSpPr>
            <a:spLocks noGrp="1"/>
          </p:cNvSpPr>
          <p:nvPr/>
        </p:nvSpPr>
        <p:spPr>
          <a:xfrm>
            <a:off x="2366554" y="2763810"/>
            <a:ext cx="1104538" cy="451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50">
                <a:solidFill>
                  <a:srgbClr val="0A789F"/>
                </a:solidFill>
              </a:defRPr>
            </a:pPr>
            <a:r>
              <a:rPr sz="75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request a new plan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D1F976B-51E2-406D-8CFA-C6AA1C713341}"/>
              </a:ext>
            </a:extLst>
          </p:cNvPr>
          <p:cNvSpPr>
            <a:spLocks noGrp="1"/>
          </p:cNvSpPr>
          <p:nvPr/>
        </p:nvSpPr>
        <p:spPr>
          <a:xfrm>
            <a:off x="5577840" y="329184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5652C0B-06B7-484A-959E-04A2E47085D3}"/>
              </a:ext>
            </a:extLst>
          </p:cNvPr>
          <p:cNvSpPr>
            <a:spLocks noGrp="1"/>
          </p:cNvSpPr>
          <p:nvPr/>
        </p:nvSpPr>
        <p:spPr>
          <a:xfrm>
            <a:off x="5577840" y="32918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 latest checked target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1890A8C-2612-4BF7-8F27-ACD2985B2A07}"/>
              </a:ext>
            </a:extLst>
          </p:cNvPr>
          <p:cNvSpPr>
            <a:spLocks noGrp="1"/>
          </p:cNvSpPr>
          <p:nvPr/>
        </p:nvSpPr>
        <p:spPr>
          <a:xfrm>
            <a:off x="6419088" y="2761488"/>
            <a:ext cx="0" cy="47548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0F66F4F-5C3B-46CB-A92D-0FA706661140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6355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AA7B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D2FBB57-091D-4B8E-801F-0CE2D0E6857E}"/>
              </a:ext>
            </a:extLst>
          </p:cNvPr>
          <p:cNvSpPr>
            <a:spLocks noGrp="1"/>
          </p:cNvSpPr>
          <p:nvPr/>
        </p:nvSpPr>
        <p:spPr>
          <a:xfrm>
            <a:off x="1051560" y="4059936"/>
            <a:ext cx="60350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Tools, run on request by a mechanical executor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0B354DB-78D7-4D03-AF8F-79AD62C07608}"/>
              </a:ext>
            </a:extLst>
          </p:cNvPr>
          <p:cNvSpPr>
            <a:spLocks noGrp="1"/>
          </p:cNvSpPr>
          <p:nvPr/>
        </p:nvSpPr>
        <p:spPr>
          <a:xfrm>
            <a:off x="105156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5051C69-354E-4E2F-BAE3-E521DF3F671E}"/>
              </a:ext>
            </a:extLst>
          </p:cNvPr>
          <p:cNvSpPr>
            <a:spLocks noGrp="1"/>
          </p:cNvSpPr>
          <p:nvPr/>
        </p:nvSpPr>
        <p:spPr>
          <a:xfrm>
            <a:off x="105156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proof checker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E0B8546-6DFC-48CB-9A15-5902BEAC48D9}"/>
              </a:ext>
            </a:extLst>
          </p:cNvPr>
          <p:cNvSpPr>
            <a:spLocks noGrp="1"/>
          </p:cNvSpPr>
          <p:nvPr/>
        </p:nvSpPr>
        <p:spPr>
          <a:xfrm>
            <a:off x="105156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  C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6840AD9-ECBD-4BD9-AD12-2BE7ED432306}"/>
              </a:ext>
            </a:extLst>
          </p:cNvPr>
          <p:cNvSpPr>
            <a:spLocks noGrp="1"/>
          </p:cNvSpPr>
          <p:nvPr/>
        </p:nvSpPr>
        <p:spPr>
          <a:xfrm>
            <a:off x="260604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555745E-A98F-4CD3-81DE-54AC02122A18}"/>
              </a:ext>
            </a:extLst>
          </p:cNvPr>
          <p:cNvSpPr>
            <a:spLocks noGrp="1"/>
          </p:cNvSpPr>
          <p:nvPr/>
        </p:nvSpPr>
        <p:spPr>
          <a:xfrm>
            <a:off x="260604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lemma search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2F32EF0-E8AB-4A51-B868-9FD23B2FA8A0}"/>
              </a:ext>
            </a:extLst>
          </p:cNvPr>
          <p:cNvSpPr>
            <a:spLocks noGrp="1"/>
          </p:cNvSpPr>
          <p:nvPr/>
        </p:nvSpPr>
        <p:spPr>
          <a:xfrm>
            <a:off x="260604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  E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1D0F0F2-A7F5-47E7-B78C-829B5F98439A}"/>
              </a:ext>
            </a:extLst>
          </p:cNvPr>
          <p:cNvSpPr>
            <a:spLocks noGrp="1"/>
          </p:cNvSpPr>
          <p:nvPr/>
        </p:nvSpPr>
        <p:spPr>
          <a:xfrm>
            <a:off x="416052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EA35C39-39C4-448C-B65B-E8DEBD4CA9DF}"/>
              </a:ext>
            </a:extLst>
          </p:cNvPr>
          <p:cNvSpPr>
            <a:spLocks noGrp="1"/>
          </p:cNvSpPr>
          <p:nvPr/>
        </p:nvSpPr>
        <p:spPr>
          <a:xfrm>
            <a:off x="416052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tactic finder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3F84E72-F88B-4709-94CA-0907F80074E6}"/>
              </a:ext>
            </a:extLst>
          </p:cNvPr>
          <p:cNvSpPr>
            <a:spLocks noGrp="1"/>
          </p:cNvSpPr>
          <p:nvPr/>
        </p:nvSpPr>
        <p:spPr>
          <a:xfrm>
            <a:off x="416052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F8306A0-38B6-4E56-92A1-0F0C95B61D1B}"/>
              </a:ext>
            </a:extLst>
          </p:cNvPr>
          <p:cNvSpPr>
            <a:spLocks noGrp="1"/>
          </p:cNvSpPr>
          <p:nvPr/>
        </p:nvSpPr>
        <p:spPr>
          <a:xfrm>
            <a:off x="571500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6630C80-56A9-4360-A14E-2A03A7A08A50}"/>
              </a:ext>
            </a:extLst>
          </p:cNvPr>
          <p:cNvSpPr>
            <a:spLocks noGrp="1"/>
          </p:cNvSpPr>
          <p:nvPr/>
        </p:nvSpPr>
        <p:spPr>
          <a:xfrm>
            <a:off x="571500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goal viewer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A0BD503-6B38-4A66-8616-FE26E04AA1EC}"/>
              </a:ext>
            </a:extLst>
          </p:cNvPr>
          <p:cNvSpPr>
            <a:spLocks noGrp="1"/>
          </p:cNvSpPr>
          <p:nvPr/>
        </p:nvSpPr>
        <p:spPr>
          <a:xfrm>
            <a:off x="571500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CB434BD-FC1F-4375-88B7-7C04BA3E61E7}"/>
              </a:ext>
            </a:extLst>
          </p:cNvPr>
          <p:cNvSpPr>
            <a:spLocks noGrp="1"/>
          </p:cNvSpPr>
          <p:nvPr/>
        </p:nvSpPr>
        <p:spPr>
          <a:xfrm>
            <a:off x="1051560" y="4983480"/>
            <a:ext cx="60350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638" i="1">
                <a:solidFill>
                  <a:srgbClr val="617187"/>
                </a:solidFill>
              </a:defRPr>
            </a:pPr>
            <a:r>
              <a:rPr sz="638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 = Reasoner   E = Engineer   C = Critic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D7B33F6-778D-4571-B304-008CB1783294}"/>
              </a:ext>
            </a:extLst>
          </p:cNvPr>
          <p:cNvSpPr>
            <a:spLocks noGrp="1"/>
          </p:cNvSpPr>
          <p:nvPr/>
        </p:nvSpPr>
        <p:spPr>
          <a:xfrm>
            <a:off x="1755648" y="3749040"/>
            <a:ext cx="0" cy="219456"/>
          </a:xfrm>
          <a:prstGeom prst="line">
            <a:avLst/>
          </a:prstGeom>
          <a:noFill/>
          <a:ln w="12700">
            <a:solidFill>
              <a:srgbClr val="9AA7B2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70FE46D-C547-4299-88EE-D5FD8EB4C43C}"/>
              </a:ext>
            </a:extLst>
          </p:cNvPr>
          <p:cNvSpPr>
            <a:spLocks noGrp="1"/>
          </p:cNvSpPr>
          <p:nvPr/>
        </p:nvSpPr>
        <p:spPr>
          <a:xfrm>
            <a:off x="4087368" y="2761488"/>
            <a:ext cx="0" cy="1207008"/>
          </a:xfrm>
          <a:prstGeom prst="line">
            <a:avLst/>
          </a:prstGeom>
          <a:noFill/>
          <a:ln w="12700">
            <a:solidFill>
              <a:srgbClr val="9AA7B2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4CDABE3-9B15-4F4D-A15F-E9CCD6A46693}"/>
              </a:ext>
            </a:extLst>
          </p:cNvPr>
          <p:cNvSpPr>
            <a:spLocks noGrp="1"/>
          </p:cNvSpPr>
          <p:nvPr/>
        </p:nvSpPr>
        <p:spPr>
          <a:xfrm>
            <a:off x="6419088" y="3822192"/>
            <a:ext cx="0" cy="146304"/>
          </a:xfrm>
          <a:prstGeom prst="line">
            <a:avLst/>
          </a:prstGeom>
          <a:noFill/>
          <a:ln w="12700">
            <a:solidFill>
              <a:srgbClr val="9AA7B2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A9A209CA-C304-4880-9DBF-E713DE8F4147}"/>
              </a:ext>
            </a:extLst>
          </p:cNvPr>
          <p:cNvSpPr>
            <a:spLocks noGrp="1"/>
          </p:cNvSpPr>
          <p:nvPr/>
        </p:nvSpPr>
        <p:spPr>
          <a:xfrm>
            <a:off x="914400" y="52120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>
                <a:solidFill>
                  <a:srgbClr val="617187"/>
                </a:solidFill>
              </a:defRPr>
            </a:pPr>
            <a:r>
              <a:rPr sz="86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Design rule: a failed check must change who acts next—or why the run ends.</a:t>
            </a: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3F9B5D2-79A3-47E6-AB1E-1CD5BEBACF4A}"/>
              </a:ext>
            </a:extLst>
          </p:cNvPr>
          <p:cNvSpPr>
            <a:spLocks noGrp="1"/>
          </p:cNvSpPr>
          <p:nvPr/>
        </p:nvSpPr>
        <p:spPr>
          <a:xfrm>
            <a:off x="8412480" y="1481328"/>
            <a:ext cx="3200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05B0B43-CF72-4083-A698-F4357D0BA366}"/>
              </a:ext>
            </a:extLst>
          </p:cNvPr>
          <p:cNvSpPr>
            <a:spLocks noGrp="1"/>
          </p:cNvSpPr>
          <p:nvPr/>
        </p:nvSpPr>
        <p:spPr>
          <a:xfrm>
            <a:off x="8613648" y="160934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00" b="1">
                <a:solidFill>
                  <a:srgbClr val="252E63"/>
                </a:solidFill>
              </a:defRPr>
            </a:pPr>
            <a:r>
              <a:rPr sz="12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Control contract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7A46E12-CF8A-4F52-A657-DE384F84C10D}"/>
              </a:ext>
            </a:extLst>
          </p:cNvPr>
          <p:cNvSpPr>
            <a:spLocks noGrp="1"/>
          </p:cNvSpPr>
          <p:nvPr/>
        </p:nvSpPr>
        <p:spPr>
          <a:xfrm>
            <a:off x="8613648" y="192024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choose a tool or next role. The executor runs tools; the recorder preserves every returned result.</a:t>
            </a: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DF885E4-1FAF-4B3D-B3CA-EFBFA9FBECFB}"/>
              </a:ext>
            </a:extLst>
          </p:cNvPr>
          <p:cNvSpPr>
            <a:spLocks noGrp="1"/>
          </p:cNvSpPr>
          <p:nvPr/>
        </p:nvSpPr>
        <p:spPr>
          <a:xfrm>
            <a:off x="8412480" y="3520440"/>
            <a:ext cx="3200400" cy="2121408"/>
          </a:xfrm>
          <a:prstGeom prst="roundRect">
            <a:avLst>
              <a:gd name="adj" fmla="val 2586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A9E29F78-A755-4AB2-902F-74A41401B11E}"/>
              </a:ext>
            </a:extLst>
          </p:cNvPr>
          <p:cNvSpPr>
            <a:spLocks noGrp="1"/>
          </p:cNvSpPr>
          <p:nvPr/>
        </p:nvSpPr>
        <p:spPr>
          <a:xfrm>
            <a:off x="8613648" y="364845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63" b="1">
                <a:solidFill>
                  <a:srgbClr val="0A789F"/>
                </a:solidFill>
              </a:defRPr>
            </a:pPr>
            <a:r>
              <a:rPr sz="1163" b="1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Observed canonical routing</a:t>
            </a: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784460D6-A4B9-445F-BDEB-EF898B7BFC46}"/>
              </a:ext>
            </a:extLst>
          </p:cNvPr>
          <p:cNvSpPr>
            <a:spLocks noGrp="1"/>
          </p:cNvSpPr>
          <p:nvPr/>
        </p:nvSpPr>
        <p:spPr>
          <a:xfrm>
            <a:off x="8613648" y="4032504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647E186-E85B-4E99-A00C-4773FE0D7397}"/>
              </a:ext>
            </a:extLst>
          </p:cNvPr>
          <p:cNvSpPr>
            <a:spLocks noGrp="1"/>
          </p:cNvSpPr>
          <p:nvPr/>
        </p:nvSpPr>
        <p:spPr>
          <a:xfrm>
            <a:off x="8851392" y="39684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59 forward handoffs</a:t>
            </a: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E236EE1-27EB-448C-9959-85AEA563230B}"/>
              </a:ext>
            </a:extLst>
          </p:cNvPr>
          <p:cNvSpPr>
            <a:spLocks noGrp="1"/>
          </p:cNvSpPr>
          <p:nvPr/>
        </p:nvSpPr>
        <p:spPr>
          <a:xfrm>
            <a:off x="8851392" y="41696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Engineer → Critic</a:t>
            </a: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DA9CCF6-B348-4F40-A881-C72E5C68FCEA}"/>
              </a:ext>
            </a:extLst>
          </p:cNvPr>
          <p:cNvSpPr>
            <a:spLocks noGrp="1"/>
          </p:cNvSpPr>
          <p:nvPr/>
        </p:nvSpPr>
        <p:spPr>
          <a:xfrm>
            <a:off x="8613648" y="4489704"/>
            <a:ext cx="137160" cy="137160"/>
          </a:xfrm>
          <a:prstGeom prst="ellipse">
            <a:avLst/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C3CE227-A08E-42ED-A3DA-B500049E7849}"/>
              </a:ext>
            </a:extLst>
          </p:cNvPr>
          <p:cNvSpPr>
            <a:spLocks noGrp="1"/>
          </p:cNvSpPr>
          <p:nvPr/>
        </p:nvSpPr>
        <p:spPr>
          <a:xfrm>
            <a:off x="8851392" y="44256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0 return handoffs</a:t>
            </a: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4494572-4D3D-4A17-B2CD-091AA9DD7201}"/>
              </a:ext>
            </a:extLst>
          </p:cNvPr>
          <p:cNvSpPr>
            <a:spLocks noGrp="1"/>
          </p:cNvSpPr>
          <p:nvPr/>
        </p:nvSpPr>
        <p:spPr>
          <a:xfrm>
            <a:off x="8851392" y="46268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Critic → Engineer</a:t>
            </a: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7181C04-C916-4757-8444-A26D9F44C3B5}"/>
              </a:ext>
            </a:extLst>
          </p:cNvPr>
          <p:cNvSpPr>
            <a:spLocks noGrp="1"/>
          </p:cNvSpPr>
          <p:nvPr/>
        </p:nvSpPr>
        <p:spPr>
          <a:xfrm>
            <a:off x="8613648" y="4946904"/>
            <a:ext cx="137160" cy="137160"/>
          </a:xfrm>
          <a:prstGeom prst="ellipse">
            <a:avLst/>
          </a:prstGeom>
          <a:solidFill>
            <a:srgbClr val="9AA7B2"/>
          </a:solidFill>
          <a:ln w="12700">
            <a:solidFill>
              <a:srgbClr val="9AA7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38DE614-920A-4F66-B339-9D5D75BEF636}"/>
              </a:ext>
            </a:extLst>
          </p:cNvPr>
          <p:cNvSpPr>
            <a:spLocks noGrp="1"/>
          </p:cNvSpPr>
          <p:nvPr/>
        </p:nvSpPr>
        <p:spPr>
          <a:xfrm>
            <a:off x="8851392" y="48828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97 connected-linear</a:t>
            </a: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3DF76EA8-6331-4039-BF9A-0A9629E9CE8B}"/>
              </a:ext>
            </a:extLst>
          </p:cNvPr>
          <p:cNvSpPr>
            <a:spLocks noGrp="1"/>
          </p:cNvSpPr>
          <p:nvPr/>
        </p:nvSpPr>
        <p:spPr>
          <a:xfrm>
            <a:off x="8851392" y="50840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recorded event graphs</a:t>
            </a: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47C8201-9DC7-4C8E-B6AD-6CF7A419DE66}"/>
              </a:ext>
            </a:extLst>
          </p:cNvPr>
          <p:cNvSpPr>
            <a:spLocks noGrp="1"/>
          </p:cNvSpPr>
          <p:nvPr/>
        </p:nvSpPr>
        <p:spPr>
          <a:xfrm>
            <a:off x="8613648" y="5349240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 b="1" i="1">
                <a:solidFill>
                  <a:srgbClr val="0A789F"/>
                </a:solidFill>
              </a:defRPr>
            </a:pPr>
            <a:r>
              <a:rPr sz="788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The architecture can express a loop; the observed routing realizes a pipeline.</a:t>
            </a: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AC4ADF1-C50A-4F94-8D7F-06FC36060EF0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3F19560C-E864-42B7-BD10-76D0CE6BAB0E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cxnSp>
        <p:nvCxnSpPr>
          <p:cNvPr id="181" name="Straight Arrow Connector 62"/>
          <p:cNvCxnSpPr/>
          <p:nvPr/>
        </p:nvCxnSpPr>
        <p:spPr>
          <a:xfrm flipH="1" flipV="1">
            <a:off x="2657927" y="2492830"/>
            <a:ext cx="529771" cy="1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63"/>
          <p:cNvCxnSpPr/>
          <p:nvPr/>
        </p:nvCxnSpPr>
        <p:spPr>
          <a:xfrm flipH="1" flipV="1">
            <a:off x="4972955" y="2485571"/>
            <a:ext cx="529771" cy="1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782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752365-B9FB-48B9-821C-D4395C541CFB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JSON turns a run into testable evidence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E39C45-A7CB-4202-A204-90EF30D3B116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 what happened first; infer why it failed only afterwards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1C59EA0-023D-4125-93ED-5C78C289C16F}"/>
              </a:ext>
            </a:extLst>
          </p:cNvPr>
          <p:cNvSpPr>
            <a:spLocks noGrp="1"/>
          </p:cNvSpPr>
          <p:nvPr/>
        </p:nvSpPr>
        <p:spPr>
          <a:xfrm>
            <a:off x="548640" y="1536192"/>
            <a:ext cx="5029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951415-FBD2-4950-A0BD-FAAE1798F8D4}"/>
              </a:ext>
            </a:extLst>
          </p:cNvPr>
          <p:cNvSpPr>
            <a:spLocks noGrp="1"/>
          </p:cNvSpPr>
          <p:nvPr/>
        </p:nvSpPr>
        <p:spPr>
          <a:xfrm>
            <a:off x="777240" y="170078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One event per JSONL line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9ABD5C-EC20-49F8-B8FE-4AE8B1543FBF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agent_role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033EC9-0F85-41FC-9FBF-378AC8798DC3}"/>
              </a:ext>
            </a:extLst>
          </p:cNvPr>
          <p:cNvSpPr>
            <a:spLocks noGrp="1"/>
          </p:cNvSpPr>
          <p:nvPr/>
        </p:nvSpPr>
        <p:spPr>
          <a:xfrm>
            <a:off x="777240" y="234086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who acted: Reasoner, Engineer, Critic, or Executor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7D27DF-B160-4254-80C1-055E7885F3CE}"/>
              </a:ext>
            </a:extLst>
          </p:cNvPr>
          <p:cNvSpPr>
            <a:spLocks noGrp="1"/>
          </p:cNvSpPr>
          <p:nvPr/>
        </p:nvSpPr>
        <p:spPr>
          <a:xfrm>
            <a:off x="777240" y="2852928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event_type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A44245-FECF-4909-A454-A1F5EEE5E7DC}"/>
              </a:ext>
            </a:extLst>
          </p:cNvPr>
          <p:cNvSpPr>
            <a:spLocks noGrp="1"/>
          </p:cNvSpPr>
          <p:nvPr/>
        </p:nvSpPr>
        <p:spPr>
          <a:xfrm>
            <a:off x="777240" y="309067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message · tool_call · execution_result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40B5DA-F854-4353-8673-7368CF2275A2}"/>
              </a:ext>
            </a:extLst>
          </p:cNvPr>
          <p:cNvSpPr>
            <a:spLocks noGrp="1"/>
          </p:cNvSpPr>
          <p:nvPr/>
        </p:nvSpPr>
        <p:spPr>
          <a:xfrm>
            <a:off x="777240" y="360273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payload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5187E0-49E7-4E2D-A5BF-F71E88C24447}"/>
              </a:ext>
            </a:extLst>
          </p:cNvPr>
          <p:cNvSpPr>
            <a:spLocks noGrp="1"/>
          </p:cNvSpPr>
          <p:nvPr/>
        </p:nvSpPr>
        <p:spPr>
          <a:xfrm>
            <a:off x="777240" y="38404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full prompt, proof candidate, tool arguments, and diagnostics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3900430-133F-4266-966D-1A4E5C768F65}"/>
              </a:ext>
            </a:extLst>
          </p:cNvPr>
          <p:cNvSpPr>
            <a:spLocks noGrp="1"/>
          </p:cNvSpPr>
          <p:nvPr/>
        </p:nvSpPr>
        <p:spPr>
          <a:xfrm>
            <a:off x="777240" y="435254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caused_by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812C4A2-9ECB-4CFB-8757-AAE055694A4E}"/>
              </a:ext>
            </a:extLst>
          </p:cNvPr>
          <p:cNvSpPr>
            <a:spLocks noGrp="1"/>
          </p:cNvSpPr>
          <p:nvPr/>
        </p:nvSpPr>
        <p:spPr>
          <a:xfrm>
            <a:off x="777240" y="459028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the explicit parent event—so the recorded chain is inspectable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4F94325-8792-4326-AF78-56877F70598C}"/>
              </a:ext>
            </a:extLst>
          </p:cNvPr>
          <p:cNvSpPr>
            <a:spLocks noGrp="1"/>
          </p:cNvSpPr>
          <p:nvPr/>
        </p:nvSpPr>
        <p:spPr>
          <a:xfrm>
            <a:off x="777240" y="48646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i="1">
                <a:solidFill>
                  <a:srgbClr val="0A789F"/>
                </a:solidFill>
              </a:defRPr>
            </a:pPr>
            <a:r>
              <a:rPr sz="863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Observed evidence is immutable; causal labels remain reviewable.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4AF9BC8-8E24-4AA2-B6B3-F9A56F56425E}"/>
              </a:ext>
            </a:extLst>
          </p:cNvPr>
          <p:cNvSpPr>
            <a:spLocks noGrp="1"/>
          </p:cNvSpPr>
          <p:nvPr/>
        </p:nvSpPr>
        <p:spPr>
          <a:xfrm>
            <a:off x="5852160" y="1700784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Two independent passes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990D808-F2F0-4331-8E22-392BC1183E2C}"/>
              </a:ext>
            </a:extLst>
          </p:cNvPr>
          <p:cNvSpPr>
            <a:spLocks noGrp="1"/>
          </p:cNvSpPr>
          <p:nvPr/>
        </p:nvSpPr>
        <p:spPr>
          <a:xfrm>
            <a:off x="5852160" y="2084832"/>
            <a:ext cx="5760720" cy="1417320"/>
          </a:xfrm>
          <a:prstGeom prst="roundRect">
            <a:avLst>
              <a:gd name="adj" fmla="val 3871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A43CDFB-9A53-418B-B255-A1F00E2C343D}"/>
              </a:ext>
            </a:extLst>
          </p:cNvPr>
          <p:cNvSpPr>
            <a:spLocks noGrp="1"/>
          </p:cNvSpPr>
          <p:nvPr/>
        </p:nvSpPr>
        <p:spPr>
          <a:xfrm>
            <a:off x="6080760" y="21945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During the run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64F55E1-D347-4F05-9A72-CF46BA0FE5F6}"/>
              </a:ext>
            </a:extLst>
          </p:cNvPr>
          <p:cNvSpPr>
            <a:spLocks noGrp="1"/>
          </p:cNvSpPr>
          <p:nvPr/>
        </p:nvSpPr>
        <p:spPr>
          <a:xfrm>
            <a:off x="6080760" y="2468880"/>
            <a:ext cx="530352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call tools. The Executor records the exact request and returned evidence without judging it.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13865A4-9DA3-4F02-A485-B86CDC9A8D77}"/>
              </a:ext>
            </a:extLst>
          </p:cNvPr>
          <p:cNvSpPr>
            <a:spLocks noGrp="1"/>
          </p:cNvSpPr>
          <p:nvPr/>
        </p:nvSpPr>
        <p:spPr>
          <a:xfrm>
            <a:off x="5852160" y="3639312"/>
            <a:ext cx="5760720" cy="1554480"/>
          </a:xfrm>
          <a:prstGeom prst="roundRect">
            <a:avLst>
              <a:gd name="adj" fmla="val 352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0AC5ADD-793F-4941-A28D-B14301E4DD55}"/>
              </a:ext>
            </a:extLst>
          </p:cNvPr>
          <p:cNvSpPr>
            <a:spLocks noGrp="1"/>
          </p:cNvSpPr>
          <p:nvPr/>
        </p:nvSpPr>
        <p:spPr>
          <a:xfrm>
            <a:off x="6080760" y="374904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After the run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1FD3D8D-523F-42FD-9517-F4C5D80EFA07}"/>
              </a:ext>
            </a:extLst>
          </p:cNvPr>
          <p:cNvSpPr>
            <a:spLocks noGrp="1"/>
          </p:cNvSpPr>
          <p:nvPr/>
        </p:nvSpPr>
        <p:spPr>
          <a:xfrm>
            <a:off x="6080760" y="402336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15">
                <a:solidFill>
                  <a:srgbClr val="273446"/>
                </a:solidFill>
              </a:defRPr>
            </a:pPr>
            <a:r>
              <a:rPr sz="915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An independent validator checks exact target, Lean compilation, sorry-freedom, and statement preservation. Reviewers then label behavior.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6738EBA-BBF4-4980-BCA1-6C0705DC1852}"/>
              </a:ext>
            </a:extLst>
          </p:cNvPr>
          <p:cNvSpPr>
            <a:spLocks noGrp="1"/>
          </p:cNvSpPr>
          <p:nvPr/>
        </p:nvSpPr>
        <p:spPr>
          <a:xfrm>
            <a:off x="548640" y="541324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645717-41DC-428A-924F-3759C80DC951}"/>
              </a:ext>
            </a:extLst>
          </p:cNvPr>
          <p:cNvSpPr>
            <a:spLocks noGrp="1"/>
          </p:cNvSpPr>
          <p:nvPr/>
        </p:nvSpPr>
        <p:spPr>
          <a:xfrm>
            <a:off x="777240" y="55046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0A789F"/>
                </a:solidFill>
              </a:defRPr>
            </a:pPr>
            <a:r>
              <a:rPr sz="1013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4779F89-605D-4632-9CB4-7CB4E001CEEB}"/>
              </a:ext>
            </a:extLst>
          </p:cNvPr>
          <p:cNvSpPr>
            <a:spLocks noGrp="1"/>
          </p:cNvSpPr>
          <p:nvPr/>
        </p:nvSpPr>
        <p:spPr>
          <a:xfrm>
            <a:off x="777240" y="57424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same final verdict can hide very different processes: productive repair, search loops, statement drift, or critic masking.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5C8C86A-6A11-47B5-AAF6-6C1D29D24486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EB06E6A-9D5F-4FAD-9447-E81017340357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602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EB431C-E92A-4D04-9960-B9A068D26EEA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Part 2 · What happened in 100 Lean runs?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FF485C-C7FB-4A34-9873-67AAB4EBA669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Canonical easy cohort · Qwen3.5-27B · four-role multi-agent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CDB387-90A6-455B-B89A-3FE352177A2A}"/>
              </a:ext>
            </a:extLst>
          </p:cNvPr>
          <p:cNvSpPr>
            <a:spLocks noGrp="1"/>
          </p:cNvSpPr>
          <p:nvPr/>
        </p:nvSpPr>
        <p:spPr>
          <a:xfrm>
            <a:off x="548640" y="155448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78E72C-6465-4861-BF67-02278B26FBEF}"/>
              </a:ext>
            </a:extLst>
          </p:cNvPr>
          <p:cNvSpPr>
            <a:spLocks noGrp="1"/>
          </p:cNvSpPr>
          <p:nvPr/>
        </p:nvSpPr>
        <p:spPr>
          <a:xfrm>
            <a:off x="822960" y="1719072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Independent outcomes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2FD5B4-C978-41FF-B7FA-6870D48E627D}"/>
              </a:ext>
            </a:extLst>
          </p:cNvPr>
          <p:cNvSpPr>
            <a:spLocks noGrp="1"/>
          </p:cNvSpPr>
          <p:nvPr/>
        </p:nvSpPr>
        <p:spPr>
          <a:xfrm>
            <a:off x="822960" y="201168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i="1">
                <a:solidFill>
                  <a:srgbClr val="B7C5D8"/>
                </a:solidFill>
              </a:defRPr>
            </a:pPr>
            <a:r>
              <a:rPr sz="90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100 runs · 10 tasks · 10 trials each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465BEB-68F4-4EDC-98E0-EF4D5DC96ECB}"/>
              </a:ext>
            </a:extLst>
          </p:cNvPr>
          <p:cNvSpPr>
            <a:spLocks noGrp="1"/>
          </p:cNvSpPr>
          <p:nvPr/>
        </p:nvSpPr>
        <p:spPr>
          <a:xfrm>
            <a:off x="822960" y="2322576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850" b="1">
                <a:solidFill>
                  <a:srgbClr val="0A789F"/>
                </a:solidFill>
              </a:defRPr>
            </a:pPr>
            <a:r>
              <a:rPr sz="2850" b="1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56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20A0F3-7ADA-4C56-8630-43CA6BBDDFE4}"/>
              </a:ext>
            </a:extLst>
          </p:cNvPr>
          <p:cNvSpPr>
            <a:spLocks noGrp="1"/>
          </p:cNvSpPr>
          <p:nvPr/>
        </p:nvSpPr>
        <p:spPr>
          <a:xfrm>
            <a:off x="822960" y="2779776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38">
                <a:solidFill>
                  <a:srgbClr val="D6E0EE"/>
                </a:solidFill>
              </a:defRPr>
            </a:pPr>
            <a:r>
              <a:rPr sz="938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solved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5483FB-BD19-49AD-973E-9D0C80E65380}"/>
              </a:ext>
            </a:extLst>
          </p:cNvPr>
          <p:cNvSpPr>
            <a:spLocks noGrp="1"/>
          </p:cNvSpPr>
          <p:nvPr/>
        </p:nvSpPr>
        <p:spPr>
          <a:xfrm>
            <a:off x="2496312" y="2322576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850" b="1">
                <a:solidFill>
                  <a:srgbClr val="0A789F"/>
                </a:solidFill>
              </a:defRPr>
            </a:pPr>
            <a:r>
              <a:rPr sz="2850" b="1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40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C9E8FB-E4C8-4049-8F72-E017E24E725B}"/>
              </a:ext>
            </a:extLst>
          </p:cNvPr>
          <p:cNvSpPr>
            <a:spLocks noGrp="1"/>
          </p:cNvSpPr>
          <p:nvPr/>
        </p:nvSpPr>
        <p:spPr>
          <a:xfrm>
            <a:off x="2496312" y="2779776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38">
                <a:solidFill>
                  <a:srgbClr val="D6E0EE"/>
                </a:solidFill>
              </a:defRPr>
            </a:pPr>
            <a:r>
              <a:rPr sz="938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unsolved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0766D94-6727-4334-A327-CA2808343121}"/>
              </a:ext>
            </a:extLst>
          </p:cNvPr>
          <p:cNvSpPr>
            <a:spLocks noGrp="1"/>
          </p:cNvSpPr>
          <p:nvPr/>
        </p:nvSpPr>
        <p:spPr>
          <a:xfrm>
            <a:off x="4169664" y="2322576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850" b="1">
                <a:solidFill>
                  <a:srgbClr val="D27B12"/>
                </a:solidFill>
              </a:defRPr>
            </a:pPr>
            <a:r>
              <a:rPr sz="2850" b="1">
                <a:solidFill>
                  <a:srgbClr val="D27B12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7830A10-E821-47AD-9EC0-7C932C3F8177}"/>
              </a:ext>
            </a:extLst>
          </p:cNvPr>
          <p:cNvSpPr>
            <a:spLocks noGrp="1"/>
          </p:cNvSpPr>
          <p:nvPr/>
        </p:nvSpPr>
        <p:spPr>
          <a:xfrm>
            <a:off x="4169664" y="2779776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38">
                <a:solidFill>
                  <a:srgbClr val="D6E0EE"/>
                </a:solidFill>
              </a:defRPr>
            </a:pPr>
            <a:r>
              <a:rPr sz="938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silent failures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1613434-8D52-498C-AE08-35BA7034C056}"/>
              </a:ext>
            </a:extLst>
          </p:cNvPr>
          <p:cNvSpPr>
            <a:spLocks noGrp="1"/>
          </p:cNvSpPr>
          <p:nvPr/>
        </p:nvSpPr>
        <p:spPr>
          <a:xfrm>
            <a:off x="822960" y="310896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88">
                <a:solidFill>
                  <a:srgbClr val="B7C5D8"/>
                </a:solidFill>
              </a:defRPr>
            </a:pPr>
            <a:r>
              <a:rPr sz="788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No matched strong-model Lean arm: these are behavioral findings, not a causal model comparison.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B4CC67A-381E-45FD-B8D2-4A6E3EF60B14}"/>
              </a:ext>
            </a:extLst>
          </p:cNvPr>
          <p:cNvSpPr>
            <a:spLocks noGrp="1"/>
          </p:cNvSpPr>
          <p:nvPr/>
        </p:nvSpPr>
        <p:spPr>
          <a:xfrm>
            <a:off x="548640" y="3703320"/>
            <a:ext cx="54864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57EE51-EAB0-4CDC-9CAF-72E455A55C9B}"/>
              </a:ext>
            </a:extLst>
          </p:cNvPr>
          <p:cNvSpPr>
            <a:spLocks noGrp="1"/>
          </p:cNvSpPr>
          <p:nvPr/>
        </p:nvSpPr>
        <p:spPr>
          <a:xfrm>
            <a:off x="822960" y="38404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Recorded trace topology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03E8B1F-498C-42E2-AEAE-EBC8BEA264B0}"/>
              </a:ext>
            </a:extLst>
          </p:cNvPr>
          <p:cNvSpPr>
            <a:spLocks noGrp="1"/>
          </p:cNvSpPr>
          <p:nvPr/>
        </p:nvSpPr>
        <p:spPr>
          <a:xfrm>
            <a:off x="822960" y="4151376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>
                <a:solidFill>
                  <a:srgbClr val="273446"/>
                </a:solidFill>
              </a:defRPr>
            </a:pPr>
            <a:r>
              <a:rPr sz="1013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97 connected-linear · 3 disconnected · 0 branching</a:t>
            </a:r>
          </a:p>
          <a:p>
            <a:pPr marL="0" indent="0">
              <a:buNone/>
            </a:pPr>
            <a:endParaRPr sz="1013">
              <a:solidFill>
                <a:srgbClr val="273446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 sz="1013">
                <a:solidFill>
                  <a:srgbClr val="273446"/>
                </a:solidFill>
              </a:defRPr>
            </a:pPr>
            <a:r>
              <a:rPr sz="1013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Topology describes stored causal links—not the model's hidden reasoning.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3DA4CF0-F31D-4A42-8B9D-A234EDD6447B}"/>
              </a:ext>
            </a:extLst>
          </p:cNvPr>
          <p:cNvSpPr>
            <a:spLocks noGrp="1"/>
          </p:cNvSpPr>
          <p:nvPr/>
        </p:nvSpPr>
        <p:spPr>
          <a:xfrm>
            <a:off x="6309360" y="1554480"/>
            <a:ext cx="530352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B84B448-7DD7-452C-879D-2A37B639B7E6}"/>
              </a:ext>
            </a:extLst>
          </p:cNvPr>
          <p:cNvSpPr>
            <a:spLocks noGrp="1"/>
          </p:cNvSpPr>
          <p:nvPr/>
        </p:nvSpPr>
        <p:spPr>
          <a:xfrm>
            <a:off x="6537960" y="171907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How every run is classified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F682976-8260-473B-B226-27A7EC1988C3}"/>
              </a:ext>
            </a:extLst>
          </p:cNvPr>
          <p:cNvSpPr>
            <a:spLocks noGrp="1"/>
          </p:cNvSpPr>
          <p:nvPr/>
        </p:nvSpPr>
        <p:spPr>
          <a:xfrm>
            <a:off x="6537960" y="201168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i="1">
                <a:solidFill>
                  <a:srgbClr val="617187"/>
                </a:solidFill>
              </a:defRPr>
            </a:pPr>
            <a:r>
              <a:rPr sz="863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exact target · Lean compile · sorry-free · statement preserved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D69BCE7-CF0E-48A7-A8CC-54E258973A41}"/>
              </a:ext>
            </a:extLst>
          </p:cNvPr>
          <p:cNvSpPr>
            <a:spLocks noGrp="1"/>
          </p:cNvSpPr>
          <p:nvPr/>
        </p:nvSpPr>
        <p:spPr>
          <a:xfrm>
            <a:off x="6537960" y="2404872"/>
            <a:ext cx="164592" cy="164592"/>
          </a:xfrm>
          <a:prstGeom prst="ellipse">
            <a:avLst/>
          </a:prstGeom>
          <a:solidFill>
            <a:srgbClr val="9AA7B2"/>
          </a:solidFill>
          <a:ln w="12700">
            <a:solidFill>
              <a:srgbClr val="9AA7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7FD589-2CC7-441A-8525-B3AFFF548D16}"/>
              </a:ext>
            </a:extLst>
          </p:cNvPr>
          <p:cNvSpPr>
            <a:spLocks noGrp="1"/>
          </p:cNvSpPr>
          <p:nvPr/>
        </p:nvSpPr>
        <p:spPr>
          <a:xfrm>
            <a:off x="6839712" y="2340864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252E63"/>
                </a:solidFill>
              </a:defRPr>
            </a:pPr>
            <a:r>
              <a:rPr sz="1013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0 · Environment fault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86095C0-289C-4C38-AC54-5055F4CE4772}"/>
              </a:ext>
            </a:extLst>
          </p:cNvPr>
          <p:cNvSpPr>
            <a:spLocks noGrp="1"/>
          </p:cNvSpPr>
          <p:nvPr/>
        </p:nvSpPr>
        <p:spPr>
          <a:xfrm>
            <a:off x="6839712" y="257860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10">
                <a:solidFill>
                  <a:srgbClr val="617187"/>
                </a:solidFill>
              </a:defRPr>
            </a:pPr>
            <a:r>
              <a:rPr sz="81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separated from agent behavior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9CE7EFD-EB22-4F23-ADB8-0F24F8489314}"/>
              </a:ext>
            </a:extLst>
          </p:cNvPr>
          <p:cNvSpPr>
            <a:spLocks noGrp="1"/>
          </p:cNvSpPr>
          <p:nvPr/>
        </p:nvSpPr>
        <p:spPr>
          <a:xfrm>
            <a:off x="6537960" y="3099816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DA01EBE-AB12-4743-8BC5-990F65F559AC}"/>
              </a:ext>
            </a:extLst>
          </p:cNvPr>
          <p:cNvSpPr>
            <a:spLocks noGrp="1"/>
          </p:cNvSpPr>
          <p:nvPr/>
        </p:nvSpPr>
        <p:spPr>
          <a:xfrm>
            <a:off x="6839712" y="3035808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252E63"/>
                </a:solidFill>
              </a:defRPr>
            </a:pPr>
            <a:r>
              <a:rPr sz="1013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56 · Solved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0D70D7E-2419-4DEF-9E37-32BF4380D718}"/>
              </a:ext>
            </a:extLst>
          </p:cNvPr>
          <p:cNvSpPr>
            <a:spLocks noGrp="1"/>
          </p:cNvSpPr>
          <p:nvPr/>
        </p:nvSpPr>
        <p:spPr>
          <a:xfrm>
            <a:off x="6839712" y="327355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10">
                <a:solidFill>
                  <a:srgbClr val="617187"/>
                </a:solidFill>
              </a:defRPr>
            </a:pPr>
            <a:r>
              <a:rPr sz="81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accepted by independent validation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81ACB28-9CA0-406C-A2CB-AE47BBAD72C3}"/>
              </a:ext>
            </a:extLst>
          </p:cNvPr>
          <p:cNvSpPr>
            <a:spLocks noGrp="1"/>
          </p:cNvSpPr>
          <p:nvPr/>
        </p:nvSpPr>
        <p:spPr>
          <a:xfrm>
            <a:off x="6537960" y="3794760"/>
            <a:ext cx="164592" cy="164592"/>
          </a:xfrm>
          <a:prstGeom prst="ellipse">
            <a:avLst/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D2E45F0-CD1B-40C8-B6BB-807510C76A61}"/>
              </a:ext>
            </a:extLst>
          </p:cNvPr>
          <p:cNvSpPr>
            <a:spLocks noGrp="1"/>
          </p:cNvSpPr>
          <p:nvPr/>
        </p:nvSpPr>
        <p:spPr>
          <a:xfrm>
            <a:off x="6839712" y="3730752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252E63"/>
                </a:solidFill>
              </a:defRPr>
            </a:pPr>
            <a:r>
              <a:rPr sz="1013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4 · Silent failure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01CEEE8-1204-44C2-A6ED-D86FD60A347C}"/>
              </a:ext>
            </a:extLst>
          </p:cNvPr>
          <p:cNvSpPr>
            <a:spLocks noGrp="1"/>
          </p:cNvSpPr>
          <p:nvPr/>
        </p:nvSpPr>
        <p:spPr>
          <a:xfrm>
            <a:off x="6839712" y="396849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10">
                <a:solidFill>
                  <a:srgbClr val="617187"/>
                </a:solidFill>
              </a:defRPr>
            </a:pPr>
            <a:r>
              <a:rPr sz="81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team approved; independent check rejected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1C559F8-C02C-4E31-9680-94703A416446}"/>
              </a:ext>
            </a:extLst>
          </p:cNvPr>
          <p:cNvSpPr>
            <a:spLocks noGrp="1"/>
          </p:cNvSpPr>
          <p:nvPr/>
        </p:nvSpPr>
        <p:spPr>
          <a:xfrm>
            <a:off x="6537960" y="4489704"/>
            <a:ext cx="164592" cy="164592"/>
          </a:xfrm>
          <a:prstGeom prst="ellipse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77BEC7C-1A84-4024-8A29-7C2A38F22ED9}"/>
              </a:ext>
            </a:extLst>
          </p:cNvPr>
          <p:cNvSpPr>
            <a:spLocks noGrp="1"/>
          </p:cNvSpPr>
          <p:nvPr/>
        </p:nvSpPr>
        <p:spPr>
          <a:xfrm>
            <a:off x="6839712" y="4425696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252E63"/>
                </a:solidFill>
              </a:defRPr>
            </a:pPr>
            <a:r>
              <a:rPr sz="1013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40 · Unsolved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4091E88-5091-4E02-B14B-59A74EEC3874}"/>
              </a:ext>
            </a:extLst>
          </p:cNvPr>
          <p:cNvSpPr>
            <a:spLocks noGrp="1"/>
          </p:cNvSpPr>
          <p:nvPr/>
        </p:nvSpPr>
        <p:spPr>
          <a:xfrm>
            <a:off x="6839712" y="4663440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10">
                <a:solidFill>
                  <a:srgbClr val="617187"/>
                </a:solidFill>
              </a:defRPr>
            </a:pPr>
            <a:r>
              <a:rPr sz="81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no independently valid final target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C6210D0-89BF-4850-A389-47AA53F720BC}"/>
              </a:ext>
            </a:extLst>
          </p:cNvPr>
          <p:cNvSpPr>
            <a:spLocks noGrp="1"/>
          </p:cNvSpPr>
          <p:nvPr/>
        </p:nvSpPr>
        <p:spPr>
          <a:xfrm>
            <a:off x="548640" y="553212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4E6DE31-BF1E-45E1-B45B-BBAD87C6EF75}"/>
              </a:ext>
            </a:extLst>
          </p:cNvPr>
          <p:cNvSpPr>
            <a:spLocks noGrp="1"/>
          </p:cNvSpPr>
          <p:nvPr/>
        </p:nvSpPr>
        <p:spPr>
          <a:xfrm>
            <a:off x="777240" y="5532120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75" b="1">
                <a:solidFill>
                  <a:srgbClr val="0A789F"/>
                </a:solidFill>
              </a:defRPr>
            </a:pPr>
            <a:r>
              <a:rPr sz="97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Final answers alone would hide the 4 silent failures—and the processes behind the other 40.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00FAD84-3805-474F-A3EF-81CBF2E405B9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C652B21-DBA2-48A7-8EA0-634847694648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500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28913F-CD9E-4663-B55B-DC8D24C4E8B2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Two failures hidden by the final answer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D3FB12-8979-488C-B203-26A9FF6EC648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Hand-reviewed traces separate control-flow failure from validation failure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215DD5-F5DB-4371-8716-334071A3B3C0}"/>
              </a:ext>
            </a:extLst>
          </p:cNvPr>
          <p:cNvSpPr>
            <a:spLocks noGrp="1"/>
          </p:cNvSpPr>
          <p:nvPr/>
        </p:nvSpPr>
        <p:spPr>
          <a:xfrm>
            <a:off x="548640" y="1572768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5F9FB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5866329-0BB1-4826-BE2C-AACEDAEF5165}"/>
              </a:ext>
            </a:extLst>
          </p:cNvPr>
          <p:cNvSpPr>
            <a:spLocks noGrp="1"/>
          </p:cNvSpPr>
          <p:nvPr/>
        </p:nvSpPr>
        <p:spPr>
          <a:xfrm>
            <a:off x="777240" y="170078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b="1">
                <a:solidFill>
                  <a:srgbClr val="0A789F"/>
                </a:solidFill>
              </a:defRPr>
            </a:pPr>
            <a:r>
              <a:rPr sz="863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CASE A · easy_fatem_019_t5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59D2AB-D40F-4664-B5DA-AE01DC342C56}"/>
              </a:ext>
            </a:extLst>
          </p:cNvPr>
          <p:cNvSpPr>
            <a:spLocks noGrp="1"/>
          </p:cNvSpPr>
          <p:nvPr/>
        </p:nvSpPr>
        <p:spPr>
          <a:xfrm>
            <a:off x="777240" y="19202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Retrieval without commitment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BC1293-2A93-4639-BAD0-D00999170B4C}"/>
              </a:ext>
            </a:extLst>
          </p:cNvPr>
          <p:cNvSpPr>
            <a:spLocks noGrp="1"/>
          </p:cNvSpPr>
          <p:nvPr/>
        </p:nvSpPr>
        <p:spPr>
          <a:xfrm>
            <a:off x="777240" y="2231136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75">
                <a:solidFill>
                  <a:srgbClr val="273446"/>
                </a:solidFill>
              </a:defRPr>
            </a:pPr>
            <a:r>
              <a:rPr sz="975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12 lemma searches—including repeated queries—but no plan handoff and no Lean target check.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023AD4-3447-47CD-91A7-6D9D07738AF2}"/>
              </a:ext>
            </a:extLst>
          </p:cNvPr>
          <p:cNvSpPr>
            <a:spLocks noGrp="1"/>
          </p:cNvSpPr>
          <p:nvPr/>
        </p:nvSpPr>
        <p:spPr>
          <a:xfrm>
            <a:off x="3154680" y="3429000"/>
            <a:ext cx="0" cy="32004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48782E9-6783-4B01-91D7-2BB1BF7038BE}"/>
              </a:ext>
            </a:extLst>
          </p:cNvPr>
          <p:cNvSpPr>
            <a:spLocks noGrp="1"/>
          </p:cNvSpPr>
          <p:nvPr/>
        </p:nvSpPr>
        <p:spPr>
          <a:xfrm>
            <a:off x="548640" y="3822192"/>
            <a:ext cx="5257800" cy="224028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3316188-B666-40DE-AAFB-C8B65F47E860}"/>
              </a:ext>
            </a:extLst>
          </p:cNvPr>
          <p:cNvSpPr>
            <a:spLocks noGrp="1"/>
          </p:cNvSpPr>
          <p:nvPr/>
        </p:nvSpPr>
        <p:spPr>
          <a:xfrm>
            <a:off x="777240" y="393192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b="1">
                <a:solidFill>
                  <a:srgbClr val="0A789F"/>
                </a:solidFill>
              </a:defRPr>
            </a:pPr>
            <a:r>
              <a:rPr sz="863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OBSERVED END STATE · seq 25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5EEA48F-8017-429E-9005-1F7DCF84508C}"/>
              </a:ext>
            </a:extLst>
          </p:cNvPr>
          <p:cNvSpPr>
            <a:spLocks noGrp="1"/>
          </p:cNvSpPr>
          <p:nvPr/>
        </p:nvSpPr>
        <p:spPr>
          <a:xfrm>
            <a:off x="777240" y="41696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target was never attempted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D71BA2A-6FDA-4B7F-AF91-60227472E1C7}"/>
              </a:ext>
            </a:extLst>
          </p:cNvPr>
          <p:cNvSpPr>
            <a:spLocks noGrp="1"/>
          </p:cNvSpPr>
          <p:nvPr/>
        </p:nvSpPr>
        <p:spPr>
          <a:xfrm>
            <a:off x="777240" y="4480560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>
                <a:solidFill>
                  <a:srgbClr val="B7C5D8"/>
                </a:solidFill>
              </a:defRPr>
            </a:pPr>
            <a:r>
              <a:rPr sz="863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The trace ends with an empty Reasoner message: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9B53A7B-B668-45A5-86AC-A82208323C45}"/>
              </a:ext>
            </a:extLst>
          </p:cNvPr>
          <p:cNvSpPr>
            <a:spLocks noGrp="1"/>
          </p:cNvSpPr>
          <p:nvPr/>
        </p:nvSpPr>
        <p:spPr>
          <a:xfrm>
            <a:off x="822960" y="483717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CC73E9-D4F0-4318-9830-85D569ACAC3D}"/>
              </a:ext>
            </a:extLst>
          </p:cNvPr>
          <p:cNvSpPr>
            <a:spLocks noGrp="1"/>
          </p:cNvSpPr>
          <p:nvPr/>
        </p:nvSpPr>
        <p:spPr>
          <a:xfrm>
            <a:off x="1051560" y="477316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15">
                <a:solidFill>
                  <a:srgbClr val="FFFFFF"/>
                </a:solidFill>
              </a:defRPr>
            </a:pPr>
            <a:r>
              <a:rPr sz="91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 </a:t>
            </a:r>
            <a:r>
              <a:rPr sz="915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search_lemmas</a:t>
            </a:r>
            <a:r>
              <a:rPr sz="91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calls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FBC08B5-6D85-4FC0-9981-00D2CD5E1EDC}"/>
              </a:ext>
            </a:extLst>
          </p:cNvPr>
          <p:cNvSpPr>
            <a:spLocks noGrp="1"/>
          </p:cNvSpPr>
          <p:nvPr/>
        </p:nvSpPr>
        <p:spPr>
          <a:xfrm>
            <a:off x="822960" y="5138928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4D6A37D-FDD3-44C0-9BF9-CD1BE9B525D1}"/>
              </a:ext>
            </a:extLst>
          </p:cNvPr>
          <p:cNvSpPr>
            <a:spLocks noGrp="1"/>
          </p:cNvSpPr>
          <p:nvPr/>
        </p:nvSpPr>
        <p:spPr>
          <a:xfrm>
            <a:off x="1051560" y="50749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15">
                <a:solidFill>
                  <a:srgbClr val="FFFFFF"/>
                </a:solidFill>
              </a:defRPr>
            </a:pPr>
            <a:r>
              <a:rPr sz="91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Engineer handoffs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175D142-30B1-4EFB-8BDB-1E129F149B4D}"/>
              </a:ext>
            </a:extLst>
          </p:cNvPr>
          <p:cNvSpPr>
            <a:spLocks noGrp="1"/>
          </p:cNvSpPr>
          <p:nvPr/>
        </p:nvSpPr>
        <p:spPr>
          <a:xfrm>
            <a:off x="822960" y="544068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27C7B16-2BC3-492C-AB64-C4B5E2E5DD22}"/>
              </a:ext>
            </a:extLst>
          </p:cNvPr>
          <p:cNvSpPr>
            <a:spLocks noGrp="1"/>
          </p:cNvSpPr>
          <p:nvPr/>
        </p:nvSpPr>
        <p:spPr>
          <a:xfrm>
            <a:off x="1051560" y="537667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15">
                <a:solidFill>
                  <a:srgbClr val="FFFFFF"/>
                </a:solidFill>
              </a:defRPr>
            </a:pPr>
            <a:r>
              <a:rPr sz="91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check_lean calls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AA92E18-09CF-4D36-BE61-B36B18B7D977}"/>
              </a:ext>
            </a:extLst>
          </p:cNvPr>
          <p:cNvSpPr>
            <a:spLocks noGrp="1"/>
          </p:cNvSpPr>
          <p:nvPr/>
        </p:nvSpPr>
        <p:spPr>
          <a:xfrm>
            <a:off x="822960" y="5742432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0A8DE7D-2BBE-400E-8103-B98F6155EA83}"/>
              </a:ext>
            </a:extLst>
          </p:cNvPr>
          <p:cNvSpPr>
            <a:spLocks noGrp="1"/>
          </p:cNvSpPr>
          <p:nvPr/>
        </p:nvSpPr>
        <p:spPr>
          <a:xfrm>
            <a:off x="1051560" y="567842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15">
                <a:solidFill>
                  <a:srgbClr val="FFFFFF"/>
                </a:solidFill>
              </a:defRPr>
            </a:pPr>
            <a:r>
              <a:rPr sz="91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Critic events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9A00BBE-921C-436E-80F3-04A6CC72720C}"/>
              </a:ext>
            </a:extLst>
          </p:cNvPr>
          <p:cNvSpPr>
            <a:spLocks noGrp="1"/>
          </p:cNvSpPr>
          <p:nvPr/>
        </p:nvSpPr>
        <p:spPr>
          <a:xfrm>
            <a:off x="6217920" y="1572768"/>
            <a:ext cx="53949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22225">
            <a:solidFill>
              <a:srgbClr val="C97B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E512B57-A391-4457-A963-2F0391F27B9F}"/>
              </a:ext>
            </a:extLst>
          </p:cNvPr>
          <p:cNvSpPr>
            <a:spLocks noGrp="1"/>
          </p:cNvSpPr>
          <p:nvPr/>
        </p:nvSpPr>
        <p:spPr>
          <a:xfrm>
            <a:off x="6492240" y="175564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 b="1">
                <a:solidFill>
                  <a:srgbClr val="D27B12"/>
                </a:solidFill>
              </a:defRPr>
            </a:pPr>
            <a:r>
              <a:rPr sz="1500" b="1">
                <a:solidFill>
                  <a:srgbClr val="D27B12"/>
                </a:solidFill>
                <a:latin typeface="Cambria"/>
                <a:ea typeface="Cambria"/>
                <a:cs typeface="Cambria"/>
              </a:rPr>
              <a:t>CASE B · easy_fatem_115_t2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63F8226-042D-45F1-9C07-3E48FC9AC064}"/>
              </a:ext>
            </a:extLst>
          </p:cNvPr>
          <p:cNvSpPr>
            <a:spLocks noGrp="1"/>
          </p:cNvSpPr>
          <p:nvPr/>
        </p:nvSpPr>
        <p:spPr>
          <a:xfrm>
            <a:off x="6492240" y="2084832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i="1">
                <a:solidFill>
                  <a:srgbClr val="617187"/>
                </a:solidFill>
              </a:defRPr>
            </a:pPr>
            <a:r>
              <a:rPr sz="863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Critic masking after statement drift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6ED2F48-CFBC-4EDC-BC0A-F407C1EA1A3E}"/>
              </a:ext>
            </a:extLst>
          </p:cNvPr>
          <p:cNvSpPr>
            <a:spLocks noGrp="1"/>
          </p:cNvSpPr>
          <p:nvPr/>
        </p:nvSpPr>
        <p:spPr>
          <a:xfrm>
            <a:off x="6492240" y="2487168"/>
            <a:ext cx="128016" cy="128016"/>
          </a:xfrm>
          <a:prstGeom prst="ellipse">
            <a:avLst/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B48353F-08E4-4C3F-A4BB-D7465E188582}"/>
              </a:ext>
            </a:extLst>
          </p:cNvPr>
          <p:cNvSpPr>
            <a:spLocks noGrp="1"/>
          </p:cNvSpPr>
          <p:nvPr/>
        </p:nvSpPr>
        <p:spPr>
          <a:xfrm>
            <a:off x="6748272" y="24323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273446"/>
                </a:solidFill>
              </a:defRPr>
            </a:pPr>
            <a:r>
              <a:rPr sz="1013" b="1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seq 22 · changed IsTrans target  ✓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0BBF2FE-FEC0-45F9-8819-7B8A5A076B45}"/>
              </a:ext>
            </a:extLst>
          </p:cNvPr>
          <p:cNvSpPr>
            <a:spLocks noGrp="1"/>
          </p:cNvSpPr>
          <p:nvPr/>
        </p:nvSpPr>
        <p:spPr>
          <a:xfrm>
            <a:off x="6492240" y="2852928"/>
            <a:ext cx="128016" cy="128016"/>
          </a:xfrm>
          <a:prstGeom prst="ellipse">
            <a:avLst/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73E256E-F98C-4F5B-92F6-41408ED29079}"/>
              </a:ext>
            </a:extLst>
          </p:cNvPr>
          <p:cNvSpPr>
            <a:spLocks noGrp="1"/>
          </p:cNvSpPr>
          <p:nvPr/>
        </p:nvSpPr>
        <p:spPr>
          <a:xfrm>
            <a:off x="6748272" y="27980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273446"/>
                </a:solidFill>
              </a:defRPr>
            </a:pPr>
            <a:r>
              <a:rPr sz="1013" b="1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seq 24 · exact Transitive target  ✕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53D36B1-CBC9-43F4-A12C-DFBC942B8DCD}"/>
              </a:ext>
            </a:extLst>
          </p:cNvPr>
          <p:cNvSpPr>
            <a:spLocks noGrp="1"/>
          </p:cNvSpPr>
          <p:nvPr/>
        </p:nvSpPr>
        <p:spPr>
          <a:xfrm>
            <a:off x="6492240" y="3218688"/>
            <a:ext cx="128016" cy="128016"/>
          </a:xfrm>
          <a:prstGeom prst="ellipse">
            <a:avLst/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13AF471-F207-45D3-ACE9-A0DDBB935F05}"/>
              </a:ext>
            </a:extLst>
          </p:cNvPr>
          <p:cNvSpPr>
            <a:spLocks noGrp="1"/>
          </p:cNvSpPr>
          <p:nvPr/>
        </p:nvSpPr>
        <p:spPr>
          <a:xfrm>
            <a:off x="6748272" y="3163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273446"/>
                </a:solidFill>
              </a:defRPr>
            </a:pPr>
            <a:r>
              <a:rPr sz="1013" b="1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seq 25 · VERDICT: APPROVE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C13FFFC-26D0-4003-A6FB-F71B3E679C83}"/>
              </a:ext>
            </a:extLst>
          </p:cNvPr>
          <p:cNvSpPr>
            <a:spLocks noGrp="1"/>
          </p:cNvSpPr>
          <p:nvPr/>
        </p:nvSpPr>
        <p:spPr>
          <a:xfrm>
            <a:off x="6492240" y="349300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b="1" i="1">
                <a:solidFill>
                  <a:srgbClr val="D27B12"/>
                </a:solidFill>
              </a:defRPr>
            </a:pPr>
            <a:r>
              <a:rPr sz="863" b="1" i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Structured Lean evidence and Critic prose disagree.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3EE08FC-A011-4833-AFA0-516A8DA31885}"/>
              </a:ext>
            </a:extLst>
          </p:cNvPr>
          <p:cNvSpPr>
            <a:spLocks noGrp="1"/>
          </p:cNvSpPr>
          <p:nvPr/>
        </p:nvSpPr>
        <p:spPr>
          <a:xfrm>
            <a:off x="6217920" y="4023360"/>
            <a:ext cx="5394960" cy="2039112"/>
          </a:xfrm>
          <a:prstGeom prst="roundRect">
            <a:avLst>
              <a:gd name="adj" fmla="val 2691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5F96016-8362-472F-9E70-8F74A7653F9F}"/>
              </a:ext>
            </a:extLst>
          </p:cNvPr>
          <p:cNvSpPr>
            <a:spLocks noGrp="1"/>
          </p:cNvSpPr>
          <p:nvPr/>
        </p:nvSpPr>
        <p:spPr>
          <a:xfrm>
            <a:off x="6492240" y="4151376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63" b="1">
                <a:solidFill>
                  <a:srgbClr val="0A789F"/>
                </a:solidFill>
              </a:defRPr>
            </a:pPr>
            <a:r>
              <a:rPr sz="1163" b="1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What failed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1337558-CEBB-41CA-83D6-8F5A82D2026C}"/>
              </a:ext>
            </a:extLst>
          </p:cNvPr>
          <p:cNvSpPr>
            <a:spLocks noGrp="1"/>
          </p:cNvSpPr>
          <p:nvPr/>
        </p:nvSpPr>
        <p:spPr>
          <a:xfrm>
            <a:off x="6492240" y="4462272"/>
            <a:ext cx="484632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75">
                <a:solidFill>
                  <a:srgbClr val="273446"/>
                </a:solidFill>
              </a:defRPr>
            </a:pPr>
            <a:r>
              <a:rPr sz="975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The Critic validated a changed contract, failed to validate the requested contract, then approved anyway.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E270D0F-4F72-4E7F-B470-EAA2881FA965}"/>
              </a:ext>
            </a:extLst>
          </p:cNvPr>
          <p:cNvSpPr>
            <a:spLocks noGrp="1"/>
          </p:cNvSpPr>
          <p:nvPr/>
        </p:nvSpPr>
        <p:spPr>
          <a:xfrm>
            <a:off x="6492240" y="566928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i="1">
                <a:solidFill>
                  <a:srgbClr val="617187"/>
                </a:solidFill>
              </a:defRPr>
            </a:pPr>
            <a:r>
              <a:rPr sz="863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No successful exact-target validation preceded approval.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B6B0A47-D97A-47B4-A8BD-1132131EE1E8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F185BAC-14F5-4D33-9F3E-75EDE39DD27F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9907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28064D-3EF2-4684-B58C-067E0683977E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Healthy control: evidence drives revision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08D3F0-5D4D-48B1-A85B-C854FCAE5882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Hand-reviewed easy_fatem_012_t3 · exact theorem statement preserved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3EF153-A298-4B34-8824-24676726EF5B}"/>
              </a:ext>
            </a:extLst>
          </p:cNvPr>
          <p:cNvSpPr>
            <a:spLocks noGrp="1"/>
          </p:cNvSpPr>
          <p:nvPr/>
        </p:nvSpPr>
        <p:spPr>
          <a:xfrm>
            <a:off x="548640" y="157276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219708-DE4B-4F12-B8D4-5AF4AB7DDC34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40D5B2-4AAF-4EE0-B493-7DB42852FB91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801E0E-C247-486F-85E2-65E09008E71F}"/>
              </a:ext>
            </a:extLst>
          </p:cNvPr>
          <p:cNvSpPr>
            <a:spLocks noGrp="1"/>
          </p:cNvSpPr>
          <p:nvPr/>
        </p:nvSpPr>
        <p:spPr>
          <a:xfrm>
            <a:off x="1298448" y="1700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00" b="1">
                <a:solidFill>
                  <a:srgbClr val="252E63"/>
                </a:solidFill>
              </a:defRPr>
            </a:pPr>
            <a:r>
              <a:rPr sz="1200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Check #1 · API misuse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AC392C-618B-4DC3-BF58-121D7218C400}"/>
              </a:ext>
            </a:extLst>
          </p:cNvPr>
          <p:cNvSpPr>
            <a:spLocks noGrp="1"/>
          </p:cNvSpPr>
          <p:nvPr/>
        </p:nvSpPr>
        <p:spPr>
          <a:xfrm>
            <a:off x="1298448" y="1993392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`subsingleton_ringHom` was applied as if it were a function.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10ED157-04B3-4E7B-9DBE-38D277A65CDB}"/>
              </a:ext>
            </a:extLst>
          </p:cNvPr>
          <p:cNvSpPr>
            <a:spLocks noGrp="1"/>
          </p:cNvSpPr>
          <p:nvPr/>
        </p:nvSpPr>
        <p:spPr>
          <a:xfrm>
            <a:off x="7269480" y="1737360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75" b="1">
                <a:solidFill>
                  <a:srgbClr val="617187"/>
                </a:solidFill>
              </a:defRPr>
            </a:pPr>
            <a:r>
              <a:rPr sz="975" b="1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seq 6–7</a:t>
            </a:r>
          </a:p>
          <a:p>
            <a:pPr marL="0" indent="0">
              <a:buNone/>
              <a:defRPr sz="975" b="1">
                <a:solidFill>
                  <a:srgbClr val="617187"/>
                </a:solidFill>
              </a:defRPr>
            </a:pPr>
            <a:r>
              <a:rPr sz="975" b="1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compiled = false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7EF6E6-28AA-43C4-971A-059732D3B972}"/>
              </a:ext>
            </a:extLst>
          </p:cNvPr>
          <p:cNvSpPr>
            <a:spLocks noGrp="1"/>
          </p:cNvSpPr>
          <p:nvPr/>
        </p:nvSpPr>
        <p:spPr>
          <a:xfrm>
            <a:off x="548640" y="26974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9FB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D7C0D18-9BD6-46E0-BC6E-C16F04217E4D}"/>
              </a:ext>
            </a:extLst>
          </p:cNvPr>
          <p:cNvSpPr>
            <a:spLocks noGrp="1"/>
          </p:cNvSpPr>
          <p:nvPr/>
        </p:nvSpPr>
        <p:spPr>
          <a:xfrm>
            <a:off x="777240" y="300837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997108A-F7D4-41DF-B3D5-3DE10CED5EB0}"/>
              </a:ext>
            </a:extLst>
          </p:cNvPr>
          <p:cNvSpPr>
            <a:spLocks noGrp="1"/>
          </p:cNvSpPr>
          <p:nvPr/>
        </p:nvSpPr>
        <p:spPr>
          <a:xfrm>
            <a:off x="777240" y="30083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6A86AE5-C2F4-43CE-B187-A236DDF711DB}"/>
              </a:ext>
            </a:extLst>
          </p:cNvPr>
          <p:cNvSpPr>
            <a:spLocks noGrp="1"/>
          </p:cNvSpPr>
          <p:nvPr/>
        </p:nvSpPr>
        <p:spPr>
          <a:xfrm>
            <a:off x="1298448" y="28254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00" b="1">
                <a:solidFill>
                  <a:srgbClr val="252E63"/>
                </a:solidFill>
              </a:defRPr>
            </a:pPr>
            <a:r>
              <a:rPr sz="1200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Checks #2–3 · type mismatch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2911A9-E7F7-4027-85B9-A25540A5863B}"/>
              </a:ext>
            </a:extLst>
          </p:cNvPr>
          <p:cNvSpPr>
            <a:spLocks noGrp="1"/>
          </p:cNvSpPr>
          <p:nvPr/>
        </p:nvSpPr>
        <p:spPr>
          <a:xfrm>
            <a:off x="1298448" y="3118104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Wrong argument type, then the final equality faced the wrong direction.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D8D3E0-7FA9-449C-A0F3-E9E9B2CD9147}"/>
              </a:ext>
            </a:extLst>
          </p:cNvPr>
          <p:cNvSpPr>
            <a:spLocks noGrp="1"/>
          </p:cNvSpPr>
          <p:nvPr/>
        </p:nvSpPr>
        <p:spPr>
          <a:xfrm>
            <a:off x="7269480" y="2862072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75" b="1">
                <a:solidFill>
                  <a:srgbClr val="617187"/>
                </a:solidFill>
              </a:defRPr>
            </a:pPr>
            <a:r>
              <a:rPr sz="975" b="1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seq 8–11</a:t>
            </a:r>
          </a:p>
          <a:p>
            <a:pPr marL="0" indent="0">
              <a:buNone/>
              <a:defRPr sz="975" b="1">
                <a:solidFill>
                  <a:srgbClr val="617187"/>
                </a:solidFill>
              </a:defRPr>
            </a:pPr>
            <a:r>
              <a:rPr sz="975" b="1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compiled = false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216668-0F0F-4E7B-B556-AE47C27C7E2C}"/>
              </a:ext>
            </a:extLst>
          </p:cNvPr>
          <p:cNvSpPr>
            <a:spLocks noGrp="1"/>
          </p:cNvSpPr>
          <p:nvPr/>
        </p:nvSpPr>
        <p:spPr>
          <a:xfrm>
            <a:off x="548640" y="3822192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DD1B25-EDD5-4E21-B419-B3C4E25820E8}"/>
              </a:ext>
            </a:extLst>
          </p:cNvPr>
          <p:cNvSpPr>
            <a:spLocks noGrp="1"/>
          </p:cNvSpPr>
          <p:nvPr/>
        </p:nvSpPr>
        <p:spPr>
          <a:xfrm>
            <a:off x="777240" y="4133088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19C2A7-44BE-4B2E-9D59-250A4A2FC157}"/>
              </a:ext>
            </a:extLst>
          </p:cNvPr>
          <p:cNvSpPr>
            <a:spLocks noGrp="1"/>
          </p:cNvSpPr>
          <p:nvPr/>
        </p:nvSpPr>
        <p:spPr>
          <a:xfrm>
            <a:off x="777240" y="4133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71D6191-9C58-4B21-87C8-B1F22DA27424}"/>
              </a:ext>
            </a:extLst>
          </p:cNvPr>
          <p:cNvSpPr>
            <a:spLocks noGrp="1"/>
          </p:cNvSpPr>
          <p:nvPr/>
        </p:nvSpPr>
        <p:spPr>
          <a:xfrm>
            <a:off x="1298448" y="3950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00" b="1">
                <a:solidFill>
                  <a:srgbClr val="252E63"/>
                </a:solidFill>
              </a:defRPr>
            </a:pPr>
            <a:r>
              <a:rPr sz="1200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Engineer revises the exact proof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D09EE05-D933-4558-BB4B-293CF83DB4D6}"/>
              </a:ext>
            </a:extLst>
          </p:cNvPr>
          <p:cNvSpPr>
            <a:spLocks noGrp="1"/>
          </p:cNvSpPr>
          <p:nvPr/>
        </p:nvSpPr>
        <p:spPr>
          <a:xfrm>
            <a:off x="1298448" y="4242816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Adds equality symmetry; the theorem header remains unchanged.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7BE46C9-F40D-4845-941F-E5C8C31557CE}"/>
              </a:ext>
            </a:extLst>
          </p:cNvPr>
          <p:cNvSpPr>
            <a:spLocks noGrp="1"/>
          </p:cNvSpPr>
          <p:nvPr/>
        </p:nvSpPr>
        <p:spPr>
          <a:xfrm>
            <a:off x="7269480" y="3986784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75" b="1">
                <a:solidFill>
                  <a:srgbClr val="0A789F"/>
                </a:solidFill>
              </a:defRPr>
            </a:pPr>
            <a:r>
              <a:rPr sz="975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seq 12–15</a:t>
            </a:r>
          </a:p>
          <a:p>
            <a:pPr marL="0" indent="0">
              <a:buNone/>
              <a:defRPr sz="975" b="1">
                <a:solidFill>
                  <a:srgbClr val="0A789F"/>
                </a:solidFill>
              </a:defRPr>
            </a:pPr>
            <a:r>
              <a:rPr sz="975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compiled = true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D9452EC-E940-40BD-8690-8B5E46109A9C}"/>
              </a:ext>
            </a:extLst>
          </p:cNvPr>
          <p:cNvSpPr>
            <a:spLocks noGrp="1"/>
          </p:cNvSpPr>
          <p:nvPr/>
        </p:nvSpPr>
        <p:spPr>
          <a:xfrm>
            <a:off x="548640" y="4946904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9FB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F6A628C-63D1-447D-926A-62C82FE7A7E0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9255C4-CBA6-45C5-A407-151BBA3E725C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DFF75D3-7109-42CB-AAF8-05C315165212}"/>
              </a:ext>
            </a:extLst>
          </p:cNvPr>
          <p:cNvSpPr>
            <a:spLocks noGrp="1"/>
          </p:cNvSpPr>
          <p:nvPr/>
        </p:nvSpPr>
        <p:spPr>
          <a:xfrm>
            <a:off x="1298448" y="50749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00" b="1">
                <a:solidFill>
                  <a:srgbClr val="252E63"/>
                </a:solidFill>
              </a:defRPr>
            </a:pPr>
            <a:r>
              <a:rPr sz="1200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Critic independently rechecks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8FA2C6-755D-4F8C-86D4-A1AF526E143B}"/>
              </a:ext>
            </a:extLst>
          </p:cNvPr>
          <p:cNvSpPr>
            <a:spLocks noGrp="1"/>
          </p:cNvSpPr>
          <p:nvPr/>
        </p:nvSpPr>
        <p:spPr>
          <a:xfrm>
            <a:off x="1298448" y="5367528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The same exact-target candidate passes again; approval then follows.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9EF7C47-6B31-4DC0-A9DA-7E8D50AA372F}"/>
              </a:ext>
            </a:extLst>
          </p:cNvPr>
          <p:cNvSpPr>
            <a:spLocks noGrp="1"/>
          </p:cNvSpPr>
          <p:nvPr/>
        </p:nvSpPr>
        <p:spPr>
          <a:xfrm>
            <a:off x="7269480" y="5111496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75" b="1">
                <a:solidFill>
                  <a:srgbClr val="0A789F"/>
                </a:solidFill>
              </a:defRPr>
            </a:pPr>
            <a:r>
              <a:rPr sz="975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seq 17–19</a:t>
            </a:r>
          </a:p>
          <a:p>
            <a:pPr marL="0" indent="0">
              <a:buNone/>
              <a:defRPr sz="975" b="1">
                <a:solidFill>
                  <a:srgbClr val="0A789F"/>
                </a:solidFill>
              </a:defRPr>
            </a:pPr>
            <a:r>
              <a:rPr sz="975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fresh check ✓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28FF805-3709-416D-A7EA-D1F227F3A48A}"/>
              </a:ext>
            </a:extLst>
          </p:cNvPr>
          <p:cNvSpPr>
            <a:spLocks noGrp="1"/>
          </p:cNvSpPr>
          <p:nvPr/>
        </p:nvSpPr>
        <p:spPr>
          <a:xfrm>
            <a:off x="7269480" y="131673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863" b="1">
                <a:solidFill>
                  <a:srgbClr val="0A789F"/>
                </a:solidFill>
              </a:defRPr>
            </a:pPr>
            <a:r>
              <a:rPr sz="863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Lean evidence →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FA05EA5-E82B-4D17-B94D-AC40E5F3701D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6E5138B-342B-424B-AF29-D088FB9AA6E4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5859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3E944E-AC28-491A-AAC6-BA3D4F83ED98}"/>
              </a:ext>
            </a:extLst>
          </p:cNvPr>
          <p:cNvSpPr>
            <a:spLocks noGrp="1"/>
          </p:cNvSpPr>
          <p:nvPr/>
        </p:nvSpPr>
        <p:spPr>
          <a:xfrm>
            <a:off x="548640" y="310896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Small changes with the largest payoff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C9795F-487B-445C-B397-024F669B6D39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38" i="1">
                <a:solidFill>
                  <a:srgbClr val="B7C5D8"/>
                </a:solidFill>
              </a:defRPr>
            </a:pPr>
            <a:r>
              <a:rPr sz="1238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Bind progress and approval to evidence—not agent confidence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1EADDFB-DEAD-4295-B196-141874ACD827}"/>
              </a:ext>
            </a:extLst>
          </p:cNvPr>
          <p:cNvSpPr>
            <a:spLocks noGrp="1"/>
          </p:cNvSpPr>
          <p:nvPr/>
        </p:nvSpPr>
        <p:spPr>
          <a:xfrm>
            <a:off x="548640" y="120700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A2350"/>
          </a:solidFill>
          <a:ln w="12700">
            <a:solidFill>
              <a:srgbClr val="1A2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2B73E0-CDA7-4489-AB6F-BFECF4792D12}"/>
              </a:ext>
            </a:extLst>
          </p:cNvPr>
          <p:cNvSpPr>
            <a:spLocks noGrp="1"/>
          </p:cNvSpPr>
          <p:nvPr/>
        </p:nvSpPr>
        <p:spPr>
          <a:xfrm>
            <a:off x="804672" y="13167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0A789F"/>
                </a:solidFill>
              </a:defRPr>
            </a:pPr>
            <a:r>
              <a:rPr sz="900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Build first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D42F05-A5D6-4D00-9932-E7E3DFD1D74C}"/>
              </a:ext>
            </a:extLst>
          </p:cNvPr>
          <p:cNvSpPr>
            <a:spLocks noGrp="1"/>
          </p:cNvSpPr>
          <p:nvPr/>
        </p:nvSpPr>
        <p:spPr>
          <a:xfrm>
            <a:off x="804672" y="1636776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4A2672-DD64-4F30-9480-F3382BB70F4F}"/>
              </a:ext>
            </a:extLst>
          </p:cNvPr>
          <p:cNvSpPr>
            <a:spLocks noGrp="1"/>
          </p:cNvSpPr>
          <p:nvPr/>
        </p:nvSpPr>
        <p:spPr>
          <a:xfrm>
            <a:off x="1060704" y="15544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Return route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FC9A39-B549-4797-B6F8-9030896A679C}"/>
              </a:ext>
            </a:extLst>
          </p:cNvPr>
          <p:cNvSpPr>
            <a:spLocks noGrp="1"/>
          </p:cNvSpPr>
          <p:nvPr/>
        </p:nvSpPr>
        <p:spPr>
          <a:xfrm>
            <a:off x="1060704" y="17830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B7C5D8"/>
                </a:solidFill>
              </a:defRPr>
            </a:pPr>
            <a:r>
              <a:rPr sz="788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failed check → owner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832F7F5-4177-4852-9B3F-12403F84CF97}"/>
              </a:ext>
            </a:extLst>
          </p:cNvPr>
          <p:cNvSpPr>
            <a:spLocks noGrp="1"/>
          </p:cNvSpPr>
          <p:nvPr/>
        </p:nvSpPr>
        <p:spPr>
          <a:xfrm>
            <a:off x="4416552" y="1636776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1ABC7F-92D9-433D-AF76-80FE6E06E891}"/>
              </a:ext>
            </a:extLst>
          </p:cNvPr>
          <p:cNvSpPr>
            <a:spLocks noGrp="1"/>
          </p:cNvSpPr>
          <p:nvPr/>
        </p:nvSpPr>
        <p:spPr>
          <a:xfrm>
            <a:off x="4672584" y="15544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Progress guard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1EDF1F5-24FE-479F-BF43-FDE4247EF8DA}"/>
              </a:ext>
            </a:extLst>
          </p:cNvPr>
          <p:cNvSpPr>
            <a:spLocks noGrp="1"/>
          </p:cNvSpPr>
          <p:nvPr/>
        </p:nvSpPr>
        <p:spPr>
          <a:xfrm>
            <a:off x="4672584" y="17830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B7C5D8"/>
                </a:solidFill>
              </a:defRPr>
            </a:pPr>
            <a:r>
              <a:rPr sz="788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repeated search → commit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3290026-FF79-4113-89E0-460434BE2BE1}"/>
              </a:ext>
            </a:extLst>
          </p:cNvPr>
          <p:cNvSpPr>
            <a:spLocks noGrp="1"/>
          </p:cNvSpPr>
          <p:nvPr/>
        </p:nvSpPr>
        <p:spPr>
          <a:xfrm>
            <a:off x="8028432" y="1636776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8121C2A-619A-450B-8738-816B714C5BAE}"/>
              </a:ext>
            </a:extLst>
          </p:cNvPr>
          <p:cNvSpPr>
            <a:spLocks noGrp="1"/>
          </p:cNvSpPr>
          <p:nvPr/>
        </p:nvSpPr>
        <p:spPr>
          <a:xfrm>
            <a:off x="8284464" y="15544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Approval gate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1983828-7450-44ED-A1B2-9D54BF601B78}"/>
              </a:ext>
            </a:extLst>
          </p:cNvPr>
          <p:cNvSpPr>
            <a:spLocks noGrp="1"/>
          </p:cNvSpPr>
          <p:nvPr/>
        </p:nvSpPr>
        <p:spPr>
          <a:xfrm>
            <a:off x="8284464" y="17830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B7C5D8"/>
                </a:solidFill>
              </a:defRPr>
            </a:pPr>
            <a:r>
              <a:rPr sz="788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latest exact target must pass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3ED05E5-B7E6-4BA9-8B11-F7127EF8B2D9}"/>
              </a:ext>
            </a:extLst>
          </p:cNvPr>
          <p:cNvSpPr>
            <a:spLocks noGrp="1"/>
          </p:cNvSpPr>
          <p:nvPr/>
        </p:nvSpPr>
        <p:spPr>
          <a:xfrm>
            <a:off x="548640" y="2267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0A789F"/>
                </a:solidFill>
              </a:defRPr>
            </a:pPr>
            <a:r>
              <a:rPr sz="1275" b="1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Evidence-bound control loop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8B6FD-0EC1-4E8D-B114-49B82FC26D95}"/>
              </a:ext>
            </a:extLst>
          </p:cNvPr>
          <p:cNvSpPr>
            <a:spLocks noGrp="1"/>
          </p:cNvSpPr>
          <p:nvPr/>
        </p:nvSpPr>
        <p:spPr>
          <a:xfrm>
            <a:off x="3703320" y="2304288"/>
            <a:ext cx="79095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i="1">
                <a:solidFill>
                  <a:srgbClr val="B7C5D8"/>
                </a:solidFill>
              </a:defRPr>
            </a:pPr>
            <a:r>
              <a:rPr sz="863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Small, testable safeguards for the next experiment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CDE5CD4-D437-40D4-AA38-58161A301EDE}"/>
              </a:ext>
            </a:extLst>
          </p:cNvPr>
          <p:cNvSpPr>
            <a:spLocks noGrp="1"/>
          </p:cNvSpPr>
          <p:nvPr/>
        </p:nvSpPr>
        <p:spPr>
          <a:xfrm>
            <a:off x="548640" y="2633472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C9FF2F7-BF9F-40BD-A1DB-2A896B476F03}"/>
              </a:ext>
            </a:extLst>
          </p:cNvPr>
          <p:cNvSpPr>
            <a:spLocks noGrp="1"/>
          </p:cNvSpPr>
          <p:nvPr/>
        </p:nvSpPr>
        <p:spPr>
          <a:xfrm>
            <a:off x="786384" y="281635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C68829-A68B-4DD3-874C-C0DAC41BC2D4}"/>
              </a:ext>
            </a:extLst>
          </p:cNvPr>
          <p:cNvSpPr>
            <a:spLocks noGrp="1"/>
          </p:cNvSpPr>
          <p:nvPr/>
        </p:nvSpPr>
        <p:spPr>
          <a:xfrm>
            <a:off x="786384" y="28163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E22AE2C-3D7A-4F1E-8787-4BC0EEA57BBE}"/>
              </a:ext>
            </a:extLst>
          </p:cNvPr>
          <p:cNvSpPr>
            <a:spLocks noGrp="1"/>
          </p:cNvSpPr>
          <p:nvPr/>
        </p:nvSpPr>
        <p:spPr>
          <a:xfrm>
            <a:off x="1261872" y="2788920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failed check has an owner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0617554-8114-4361-B51B-538886140719}"/>
              </a:ext>
            </a:extLst>
          </p:cNvPr>
          <p:cNvSpPr>
            <a:spLocks noGrp="1"/>
          </p:cNvSpPr>
          <p:nvPr/>
        </p:nvSpPr>
        <p:spPr>
          <a:xfrm>
            <a:off x="1261872" y="303580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b="1" i="1">
                <a:solidFill>
                  <a:srgbClr val="0A789F"/>
                </a:solidFill>
              </a:defRPr>
            </a:pPr>
            <a:r>
              <a:rPr sz="863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Return the exact candidate + diagnostic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5DD6135-ACEF-49BC-AA02-2C9808D20BA8}"/>
              </a:ext>
            </a:extLst>
          </p:cNvPr>
          <p:cNvSpPr>
            <a:spLocks noGrp="1"/>
          </p:cNvSpPr>
          <p:nvPr/>
        </p:nvSpPr>
        <p:spPr>
          <a:xfrm>
            <a:off x="1261872" y="3291840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>
                <a:solidFill>
                  <a:srgbClr val="D6E0EE"/>
                </a:solidFill>
              </a:defRPr>
            </a:pPr>
            <a:r>
              <a:rPr sz="863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Route Critic or validator failures back to the role that can revise the artifact.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8D7969-CAFF-4839-B711-24A0B387BE79}"/>
              </a:ext>
            </a:extLst>
          </p:cNvPr>
          <p:cNvSpPr>
            <a:spLocks noGrp="1"/>
          </p:cNvSpPr>
          <p:nvPr/>
        </p:nvSpPr>
        <p:spPr>
          <a:xfrm>
            <a:off x="6172200" y="2633472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10761FD-B8ED-41D4-8216-8F383BDB11AE}"/>
              </a:ext>
            </a:extLst>
          </p:cNvPr>
          <p:cNvSpPr>
            <a:spLocks noGrp="1"/>
          </p:cNvSpPr>
          <p:nvPr/>
        </p:nvSpPr>
        <p:spPr>
          <a:xfrm>
            <a:off x="6409944" y="281635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E28656-D320-442C-9349-46CEC86F0961}"/>
              </a:ext>
            </a:extLst>
          </p:cNvPr>
          <p:cNvSpPr>
            <a:spLocks noGrp="1"/>
          </p:cNvSpPr>
          <p:nvPr/>
        </p:nvSpPr>
        <p:spPr>
          <a:xfrm>
            <a:off x="6409944" y="28163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F27A3A9-ABDE-45FA-85F8-181BB50C573A}"/>
              </a:ext>
            </a:extLst>
          </p:cNvPr>
          <p:cNvSpPr>
            <a:spLocks noGrp="1"/>
          </p:cNvSpPr>
          <p:nvPr/>
        </p:nvSpPr>
        <p:spPr>
          <a:xfrm>
            <a:off x="6885432" y="2788920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Approval is a predicate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CC486CB-C103-48D3-86A9-53CD5D68FC02}"/>
              </a:ext>
            </a:extLst>
          </p:cNvPr>
          <p:cNvSpPr>
            <a:spLocks noGrp="1"/>
          </p:cNvSpPr>
          <p:nvPr/>
        </p:nvSpPr>
        <p:spPr>
          <a:xfrm>
            <a:off x="6885432" y="303580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b="1" i="1">
                <a:solidFill>
                  <a:srgbClr val="0A789F"/>
                </a:solidFill>
              </a:defRPr>
            </a:pPr>
            <a:r>
              <a:rPr sz="863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not a persuasive paragraph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4908696-97C5-4775-A283-B464A8E19B72}"/>
              </a:ext>
            </a:extLst>
          </p:cNvPr>
          <p:cNvSpPr>
            <a:spLocks noGrp="1"/>
          </p:cNvSpPr>
          <p:nvPr/>
        </p:nvSpPr>
        <p:spPr>
          <a:xfrm>
            <a:off x="6885432" y="3291840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>
                <a:solidFill>
                  <a:srgbClr val="D6E0EE"/>
                </a:solidFill>
              </a:defRPr>
            </a:pPr>
            <a:r>
              <a:rPr sz="863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Require: exact statement ∧ latest candidate compiled ∧ sorry-free ∧ validator accepted.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C457E99-8EA4-4666-BE79-65CF7B1951F2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53079BF-93B1-4E74-ACF5-12CBA6612574}"/>
              </a:ext>
            </a:extLst>
          </p:cNvPr>
          <p:cNvSpPr>
            <a:spLocks noGrp="1"/>
          </p:cNvSpPr>
          <p:nvPr/>
        </p:nvSpPr>
        <p:spPr>
          <a:xfrm>
            <a:off x="786384" y="4389120"/>
            <a:ext cx="347472" cy="347472"/>
          </a:xfrm>
          <a:prstGeom prst="ellipse">
            <a:avLst/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6E5787B-F88F-4A1D-91A7-463F39217ABA}"/>
              </a:ext>
            </a:extLst>
          </p:cNvPr>
          <p:cNvSpPr>
            <a:spLocks noGrp="1"/>
          </p:cNvSpPr>
          <p:nvPr/>
        </p:nvSpPr>
        <p:spPr>
          <a:xfrm>
            <a:off x="786384" y="43891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6ECC57F-E6AB-41AD-8407-E6FE808908AD}"/>
              </a:ext>
            </a:extLst>
          </p:cNvPr>
          <p:cNvSpPr>
            <a:spLocks noGrp="1"/>
          </p:cNvSpPr>
          <p:nvPr/>
        </p:nvSpPr>
        <p:spPr>
          <a:xfrm>
            <a:off x="1261872" y="4361688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Retrieval must commit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4084B66-6CC0-4CAD-8581-FE46F6211410}"/>
              </a:ext>
            </a:extLst>
          </p:cNvPr>
          <p:cNvSpPr>
            <a:spLocks noGrp="1"/>
          </p:cNvSpPr>
          <p:nvPr/>
        </p:nvSpPr>
        <p:spPr>
          <a:xfrm>
            <a:off x="1261872" y="4608576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b="1" i="1">
                <a:solidFill>
                  <a:srgbClr val="D27B12"/>
                </a:solidFill>
              </a:defRPr>
            </a:pPr>
            <a:r>
              <a:rPr sz="863" b="1" i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plan, handoff, or typed stop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A4DE109-E5F1-49F9-8638-C1448AAD1BF7}"/>
              </a:ext>
            </a:extLst>
          </p:cNvPr>
          <p:cNvSpPr>
            <a:spLocks noGrp="1"/>
          </p:cNvSpPr>
          <p:nvPr/>
        </p:nvSpPr>
        <p:spPr>
          <a:xfrm>
            <a:off x="1261872" y="4864608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>
                <a:solidFill>
                  <a:srgbClr val="D6E0EE"/>
                </a:solidFill>
              </a:defRPr>
            </a:pPr>
            <a:r>
              <a:rPr sz="863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After repeated similar searches, force an explicit next action instead of another paraphrase.</a:t>
            </a: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6BAFBCF-7627-4E95-B90F-786A6076E05C}"/>
              </a:ext>
            </a:extLst>
          </p:cNvPr>
          <p:cNvSpPr>
            <a:spLocks noGrp="1"/>
          </p:cNvSpPr>
          <p:nvPr/>
        </p:nvSpPr>
        <p:spPr>
          <a:xfrm>
            <a:off x="6172200" y="4206240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9458F30-6388-4185-87C5-49B5602330CA}"/>
              </a:ext>
            </a:extLst>
          </p:cNvPr>
          <p:cNvSpPr>
            <a:spLocks noGrp="1"/>
          </p:cNvSpPr>
          <p:nvPr/>
        </p:nvSpPr>
        <p:spPr>
          <a:xfrm>
            <a:off x="6409944" y="43891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70DFC88-660C-48EE-9E19-7D9E64550E09}"/>
              </a:ext>
            </a:extLst>
          </p:cNvPr>
          <p:cNvSpPr>
            <a:spLocks noGrp="1"/>
          </p:cNvSpPr>
          <p:nvPr/>
        </p:nvSpPr>
        <p:spPr>
          <a:xfrm>
            <a:off x="6409944" y="43891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84B9FFB-F6F7-49CE-9260-C7C854ACCE72}"/>
              </a:ext>
            </a:extLst>
          </p:cNvPr>
          <p:cNvSpPr>
            <a:spLocks noGrp="1"/>
          </p:cNvSpPr>
          <p:nvPr/>
        </p:nvSpPr>
        <p:spPr>
          <a:xfrm>
            <a:off x="6885432" y="4361688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 stays outside the team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FD34546-326B-40D9-9436-B96D45AA379C}"/>
              </a:ext>
            </a:extLst>
          </p:cNvPr>
          <p:cNvSpPr>
            <a:spLocks noGrp="1"/>
          </p:cNvSpPr>
          <p:nvPr/>
        </p:nvSpPr>
        <p:spPr>
          <a:xfrm>
            <a:off x="6885432" y="4608576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b="1" i="1">
                <a:solidFill>
                  <a:srgbClr val="0A789F"/>
                </a:solidFill>
              </a:defRPr>
            </a:pPr>
            <a:r>
              <a:rPr sz="863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independent evidence, durable claims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BE78693-C114-4E39-AAC4-5F54077343DA}"/>
              </a:ext>
            </a:extLst>
          </p:cNvPr>
          <p:cNvSpPr>
            <a:spLocks noGrp="1"/>
          </p:cNvSpPr>
          <p:nvPr/>
        </p:nvSpPr>
        <p:spPr>
          <a:xfrm>
            <a:off x="6885432" y="4864608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>
                <a:solidFill>
                  <a:srgbClr val="D6E0EE"/>
                </a:solidFill>
              </a:defRPr>
            </a:pPr>
            <a:r>
              <a:rPr sz="863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Keep the final validator separate from the shared model context and agent self-reports.</a:t>
            </a: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E8B7144-551C-4371-B039-DCD885443869}"/>
              </a:ext>
            </a:extLst>
          </p:cNvPr>
          <p:cNvSpPr>
            <a:spLocks noGrp="1"/>
          </p:cNvSpPr>
          <p:nvPr/>
        </p:nvSpPr>
        <p:spPr>
          <a:xfrm>
            <a:off x="548640" y="587044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A2350"/>
          </a:solidFill>
          <a:ln w="12700">
            <a:solidFill>
              <a:srgbClr val="1A2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D1C713B-B149-4ADF-9494-95633859E5EF}"/>
              </a:ext>
            </a:extLst>
          </p:cNvPr>
          <p:cNvSpPr>
            <a:spLocks noGrp="1"/>
          </p:cNvSpPr>
          <p:nvPr/>
        </p:nvSpPr>
        <p:spPr>
          <a:xfrm>
            <a:off x="804672" y="5870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b="1">
                <a:solidFill>
                  <a:srgbClr val="0A789F"/>
                </a:solidFill>
              </a:defRPr>
            </a:pPr>
            <a:r>
              <a:rPr sz="863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Evidence:</a:t>
            </a: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1701C71-0AD3-4D32-BC34-9A42BCD52E60}"/>
              </a:ext>
            </a:extLst>
          </p:cNvPr>
          <p:cNvSpPr>
            <a:spLocks noGrp="1"/>
          </p:cNvSpPr>
          <p:nvPr/>
        </p:nvSpPr>
        <p:spPr>
          <a:xfrm>
            <a:off x="2331720" y="5870448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>
                <a:solidFill>
                  <a:srgbClr val="B7C5D8"/>
                </a:solidFill>
              </a:defRPr>
            </a:pPr>
            <a:r>
              <a:rPr sz="863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5 drift traces · 4 silent failures · 30/56 solved approvals without a fresh Critic compile</a:t>
            </a:r>
          </a:p>
        </p:txBody>
      </p:sp>
    </p:spTree>
    <p:extLst>
      <p:ext uri="{BB962C8B-B14F-4D97-AF65-F5344CB8AC3E}">
        <p14:creationId xmlns:p14="http://schemas.microsoft.com/office/powerpoint/2010/main" val="163082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1332</Words>
  <Application>Microsoft Office PowerPoint</Application>
  <DocSecurity>0</DocSecurity>
  <PresentationFormat>Breitbild</PresentationFormat>
  <Paragraphs>199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jiadong han</cp:lastModifiedBy>
  <cp:revision>1</cp:revision>
  <dcterms:created xsi:type="dcterms:W3CDTF">2026-07-20T23:35:53Z</dcterms:created>
  <dcterms:modified xsi:type="dcterms:W3CDTF">2026-07-21T05:27:15Z</dcterms:modified>
</cp:coreProperties>
</file>