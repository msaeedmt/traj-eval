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0:00–0:45 · Speaker 1</a:t>
            </a:r>
          </a:p>
          <a:p>
            <a:r>
              <a:t>Opening claim: a correct-looking final answer is not enough to evaluate a scientific agent.</a:t>
            </a:r>
          </a:p>
          <a:p>
            <a:r>
              <a:t>Preview the split: five minutes on the architecture and evidence model, five minutes on hand-reviewed Lean traces.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0:45–3:00 · Speaker 1</a:t>
            </a:r>
          </a:p>
          <a:p>
            <a:r>
              <a:t>Explain the three roles and separate agent proposals from executor/tool evidence.</a:t>
            </a:r>
          </a:p>
          <a:p>
            <a:r>
              <a:t>Important wording: the canonical Critic made zero return handoffs to the Engineer; Engineers did revise their own code.</a:t>
            </a:r>
          </a:p>
          <a:p>
            <a:r>
              <a:t>The 97/100 number describes recorded causal-graph topology, not hidden 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3:00–5:00 · Speaker 1</a:t>
            </a:r>
          </a:p>
          <a:p>
            <a:r>
              <a:t>Use the four JSON fields to explain why this is more than a final-answer benchmark.</a:t>
            </a:r>
          </a:p>
          <a:p>
            <a:r>
              <a:t>Stress the concept rule: observed facts and inferred causes are separate layers.</a:t>
            </a:r>
          </a:p>
          <a:p>
            <a:r>
              <a:t>Handoff to Speaker 2: now use the same evidence model on the canonical Lean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5:00–5:45 · Experiment overview</a:t>
            </a:r>
          </a:p>
          <a:p>
            <a:r>
              <a:t>Both cohorts use the Qwen 3.5 backbone, Reasoner/Engineer/Critic roles, Lean checking and lemma search, with every turn stored as JSON.</a:t>
            </a:r>
          </a:p>
          <a:p>
            <a:r>
              <a:t>Easy asks the team to solve one complete theorem directly: 100 runs across 10 tasks, with 56 independently verified final proofs.</a:t>
            </a:r>
          </a:p>
          <a:p>
            <a:r>
              <a:t>Medium introduces 4–6 connected subgoals and explicit return routes: 20 runs across two tasks, up to 200 agent steps, with no verified final proof.</a:t>
            </a:r>
          </a:p>
          <a:p>
            <a:r>
              <a:t>Caveat: difficulty and orchestration changed together, so this is not a controlled architecture comparison.</a:t>
            </a:r>
          </a:p>
          <a:p>
            <a:r>
              <a:t>Sources: dataset/Lean/metadata.json; docs/lean_easy_failure_report/public/data/report_snapshot.json; data/experiments/qwen_medium_subgoals_v1/summary.json.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5:45–7:00 · Easy-run behaviors</a:t>
            </a:r>
          </a:p>
          <a:p>
            <a:r>
              <a:t>The stored topology is overwhelmingly forward-only: 97/100 connected-linear traces and no Engineer→Reasoner or Critic→Engineer repair returns.</a:t>
            </a:r>
          </a:p>
          <a:p>
            <a:r>
              <a:t>This does not mean no repair occurred. In 17/56 solved runs, the Engineer repaired its own candidate after a failed Lean check; earlier agents did not revise their work.</a:t>
            </a:r>
          </a:p>
          <a:p>
            <a:r>
              <a:t>Repeated search: deterministic post-hoc Reasoner-query similarity audit. Normalize NFKC/case/punctuation, split camelCase, map iff variants, then character-trigram Dice ≥0.80 against an earlier same-trial query; sustained means at least three recurrent follow-ups. Result: 12/100, 11 unsolved. This is not the CSV perseverated field.</a:t>
            </a:r>
          </a:p>
          <a:p>
            <a:r>
              <a:t>Statement drift: five Engineers changed the requested theorem; four became silent failures.</a:t>
            </a:r>
          </a:p>
          <a:p>
            <a:r>
              <a:t>Approval by trust: 30/59 accepted submissions had zero Critic check_lean calls.</a:t>
            </a:r>
          </a:p>
          <a:p>
            <a:r>
              <a:t>Hand-audited trace: easy_fatem_115_t2 — changed target passes, requested target fails, Critic approves. Repeated-search example: easy_fatem_019_t5. Positive local-repair control: easy_fatem_012_t3.</a:t>
            </a:r>
          </a:p>
          <a:p>
            <a:r>
              <a:t>Sources: docs/lean_easy_failure_report/public/data/report_snapshot.json; data/analysis/lean_easy_failure_patterns.csv; data/analysis/lean_easy_failure_reviews.jsonl; docs/lean_easy_failure_report/public/data/lean_easy_failure_traces.json; raw traces under data/batch.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7:00–8:10 · Medium-run result</a:t>
            </a:r>
          </a:p>
          <a:p>
            <a:r>
              <a:t>15 / 89 subgoals finished (17%) → 0 final proofs verified.</a:t>
            </a:r>
          </a:p>
          <a:p>
            <a:r>
              <a:t>Definition: finished means the controller ledger recorded the local subgoal as accepted. It does not mean the complete theorem was independently proved.</a:t>
            </a:r>
          </a:p>
          <a:p>
            <a:r>
              <a:t>Thirteen runs reached their configured run limit. Configurations allowed up to 200 agent steps; the individual limits were not identical.</a:t>
            </a:r>
          </a:p>
          <a:p>
            <a:r>
              <a:t>Five of twenty runs were hand-reviewed as search/recovery loops; four of those five reached their run limit.</a:t>
            </a:r>
          </a:p>
          <a:p>
            <a:r>
              <a:t>Four of twenty were hand-reviewed as subgoal-scope mismatches: work progressed on a local objective that did not align with the needed proof step.</a:t>
            </a:r>
          </a:p>
          <a:p>
            <a:r>
              <a:t>Sources: data/experiments/qwen_medium_subgoals_v1/summary.json; docs/lean_easy_failure_report/lean_failure_modes_meeting.md; docs/lean_easy_failure_report/config/meeting-experiments.mjs.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8:10–8:50 · Next experiments</a:t>
            </a:r>
          </a:p>
          <a:p>
            <a:r>
              <a:t>First, run matched comparisons: roles, models, tools, frameworks and parallel subagents on the same tasks and budgets.</a:t>
            </a:r>
          </a:p>
          <a:p>
            <a:r>
              <a:t>Second, scale the evidence pipeline from deterministic JSON metrics to human audit, an optional advanced-model second opinion, and a cross-cohort dashboard.</a:t>
            </a:r>
          </a:p>
          <a:p>
            <a:r>
              <a:t>Third, transfer the trace schema to STARGAZER: 100 synthetic and 20 archival astrophysics systems with physical validation anchors.</a:t>
            </a:r>
          </a:p>
          <a:p>
            <a:r>
              <a:t>Close: these results identify workflow mechanisms. They do not yet establish that one architecture is superior.</a:t>
            </a:r>
          </a:p>
          <a:p>
            <a:r>
              <a:t>Concept source: internal concept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2A8EBA-6379-4EEB-8A65-F8B2C62AF046}"/>
              </a:ext>
            </a:extLst>
          </p:cNvPr>
          <p:cNvSpPr>
            <a:spLocks noGrp="1"/>
          </p:cNvSpPr>
          <p:nvPr/>
        </p:nvSpPr>
        <p:spPr>
          <a:xfrm>
            <a:off x="822960" y="1417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4AB4E6-3050-4CBB-BF60-4CE8A998F752}"/>
              </a:ext>
            </a:extLst>
          </p:cNvPr>
          <p:cNvSpPr>
            <a:spLocks noGrp="1"/>
          </p:cNvSpPr>
          <p:nvPr/>
        </p:nvSpPr>
        <p:spPr>
          <a:xfrm>
            <a:off x="822960" y="14173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λ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97472E-9F43-48D6-B99A-8DE126D82573}"/>
              </a:ext>
            </a:extLst>
          </p:cNvPr>
          <p:cNvSpPr>
            <a:spLocks noGrp="1"/>
          </p:cNvSpPr>
          <p:nvPr/>
        </p:nvSpPr>
        <p:spPr>
          <a:xfrm>
            <a:off x="1508760" y="137160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traj-eval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08D1397-229A-4D5A-B955-C32101CFCD8D}"/>
              </a:ext>
            </a:extLst>
          </p:cNvPr>
          <p:cNvSpPr>
            <a:spLocks noGrp="1"/>
          </p:cNvSpPr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Scientific agents can pass—and still fail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62F73A5-138D-43B3-82E2-719B5ED23382}"/>
              </a:ext>
            </a:extLst>
          </p:cNvPr>
          <p:cNvSpPr>
            <a:spLocks noGrp="1"/>
          </p:cNvSpPr>
          <p:nvPr/>
        </p:nvSpPr>
        <p:spPr>
          <a:xfrm>
            <a:off x="822960" y="26517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350" i="1">
                <a:solidFill>
                  <a:srgbClr val="0A789F"/>
                </a:solidFill>
              </a:defRPr>
            </a:pPr>
            <a:r>
              <a:rPr sz="1350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Architecture + hand-reviewed Lean evidence · 5 + 5 minutes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4B2AE3B-526A-451F-96D1-43C0B81A3B36}"/>
              </a:ext>
            </a:extLst>
          </p:cNvPr>
          <p:cNvSpPr>
            <a:spLocks noGrp="1"/>
          </p:cNvSpPr>
          <p:nvPr/>
        </p:nvSpPr>
        <p:spPr>
          <a:xfrm>
            <a:off x="822960" y="36576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2C3568"/>
          </a:solidFill>
          <a:ln w="12700">
            <a:solidFill>
              <a:srgbClr val="2C3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4EFAD13-0726-4755-AFFA-C990B62200F0}"/>
              </a:ext>
            </a:extLst>
          </p:cNvPr>
          <p:cNvSpPr>
            <a:spLocks noGrp="1"/>
          </p:cNvSpPr>
          <p:nvPr/>
        </p:nvSpPr>
        <p:spPr>
          <a:xfrm>
            <a:off x="1024128" y="38221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Sci-Agent architecture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AB3ED24-D8A9-48F9-8D6A-961B47CC48B6}"/>
              </a:ext>
            </a:extLst>
          </p:cNvPr>
          <p:cNvSpPr>
            <a:spLocks noGrp="1"/>
          </p:cNvSpPr>
          <p:nvPr/>
        </p:nvSpPr>
        <p:spPr>
          <a:xfrm>
            <a:off x="1024128" y="41330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00" b="1">
                <a:solidFill>
                  <a:srgbClr val="0A789F"/>
                </a:solidFill>
              </a:defRPr>
            </a:pPr>
            <a:r>
              <a:rPr sz="900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PART 1 · 5 MIN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FC474EE-27DF-4C73-A4B8-558E68105EB3}"/>
              </a:ext>
            </a:extLst>
          </p:cNvPr>
          <p:cNvSpPr>
            <a:spLocks noGrp="1"/>
          </p:cNvSpPr>
          <p:nvPr/>
        </p:nvSpPr>
        <p:spPr>
          <a:xfrm>
            <a:off x="4389120" y="36576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2C3568"/>
          </a:solidFill>
          <a:ln w="12700">
            <a:solidFill>
              <a:srgbClr val="2C3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BF03BB4-5E24-401F-AB1A-992B0785E534}"/>
              </a:ext>
            </a:extLst>
          </p:cNvPr>
          <p:cNvSpPr>
            <a:spLocks noGrp="1"/>
          </p:cNvSpPr>
          <p:nvPr/>
        </p:nvSpPr>
        <p:spPr>
          <a:xfrm>
            <a:off x="4590288" y="38221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Trace failure analysis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3DC86EF-7FB9-498A-8F7E-FE58F6944135}"/>
              </a:ext>
            </a:extLst>
          </p:cNvPr>
          <p:cNvSpPr>
            <a:spLocks noGrp="1"/>
          </p:cNvSpPr>
          <p:nvPr/>
        </p:nvSpPr>
        <p:spPr>
          <a:xfrm>
            <a:off x="4590288" y="41330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00" b="1">
                <a:solidFill>
                  <a:srgbClr val="D27B12"/>
                </a:solidFill>
              </a:defRPr>
            </a:pPr>
            <a:r>
              <a:rPr sz="900" b="1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PART 2 · 5 MIN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87A5E39-5862-4D7B-9ED8-685D85532993}"/>
              </a:ext>
            </a:extLst>
          </p:cNvPr>
          <p:cNvSpPr>
            <a:spLocks noGrp="1"/>
          </p:cNvSpPr>
          <p:nvPr/>
        </p:nvSpPr>
        <p:spPr>
          <a:xfrm>
            <a:off x="7955280" y="36576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2C3568"/>
          </a:solidFill>
          <a:ln w="12700">
            <a:solidFill>
              <a:srgbClr val="2C3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ECA54D4-DF92-4D88-84E0-66EAC600CBE3}"/>
              </a:ext>
            </a:extLst>
          </p:cNvPr>
          <p:cNvSpPr>
            <a:spLocks noGrp="1"/>
          </p:cNvSpPr>
          <p:nvPr/>
        </p:nvSpPr>
        <p:spPr>
          <a:xfrm>
            <a:off x="8156448" y="382219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base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1B6FBEA-73C2-4134-B5E9-53CBA9B39DD5}"/>
              </a:ext>
            </a:extLst>
          </p:cNvPr>
          <p:cNvSpPr>
            <a:spLocks noGrp="1"/>
          </p:cNvSpPr>
          <p:nvPr/>
        </p:nvSpPr>
        <p:spPr>
          <a:xfrm>
            <a:off x="8156448" y="413308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00" b="1">
                <a:solidFill>
                  <a:srgbClr val="D27B12"/>
                </a:solidFill>
              </a:defRPr>
            </a:pPr>
            <a:r>
              <a:rPr sz="900" b="1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100 LEAN RUNS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10E8D50-EEED-4AAD-9201-D1DC431FCA82}"/>
              </a:ext>
            </a:extLst>
          </p:cNvPr>
          <p:cNvSpPr>
            <a:spLocks noGrp="1"/>
          </p:cNvSpPr>
          <p:nvPr/>
        </p:nvSpPr>
        <p:spPr>
          <a:xfrm>
            <a:off x="822960" y="5212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D6E0EE"/>
                </a:solidFill>
              </a:defRPr>
            </a:pPr>
            <a:r>
              <a:rPr sz="938">
                <a:solidFill>
                  <a:srgbClr val="D6E0EE"/>
                </a:solidFill>
                <a:latin typeface="Calibri"/>
                <a:ea typeface="Calibri"/>
                <a:cs typeface="Calibri"/>
              </a:rPr>
              <a:t>Jiadong Han · Mohammad Saeed Motevali Amin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DCCC4BC-7FA8-4C69-BA21-856BCEB97C50}"/>
              </a:ext>
            </a:extLst>
          </p:cNvPr>
          <p:cNvSpPr>
            <a:spLocks noGrp="1"/>
          </p:cNvSpPr>
          <p:nvPr/>
        </p:nvSpPr>
        <p:spPr>
          <a:xfrm>
            <a:off x="822960" y="55321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>
                <a:solidFill>
                  <a:srgbClr val="B7C5D8"/>
                </a:solidFill>
              </a:defRPr>
            </a:pPr>
            <a:r>
              <a:rPr sz="788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CAISA Lab · University of Bonn · Summer Semester 2026</a:t>
            </a:r>
          </a:p>
        </p:txBody>
      </p:sp>
    </p:spTree>
    <p:extLst>
      <p:ext uri="{BB962C8B-B14F-4D97-AF65-F5344CB8AC3E}">
        <p14:creationId xmlns:p14="http://schemas.microsoft.com/office/powerpoint/2010/main" val="580971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6B94CC-8780-4EFF-91F8-44143F250906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2400" b="1">
                <a:solidFill>
                  <a:srgbClr val="252E63"/>
                </a:solidFill>
              </a:defRPr>
            </a:pPr>
            <a:r>
              <a:rPr sz="24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Part 1 · Scientific-agent architecture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94D43E-977A-4D1E-BAB3-52C8D8245EB4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i="1">
                <a:solidFill>
                  <a:srgbClr val="617187"/>
                </a:solidFill>
              </a:defRPr>
            </a:pPr>
            <a:r>
              <a:rPr sz="1275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Roles generate proposals; tools and validators supply evidence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888E99E-F85D-4942-820F-11F632C2A3F4}"/>
              </a:ext>
            </a:extLst>
          </p:cNvPr>
          <p:cNvSpPr>
            <a:spLocks noGrp="1"/>
          </p:cNvSpPr>
          <p:nvPr/>
        </p:nvSpPr>
        <p:spPr>
          <a:xfrm>
            <a:off x="548640" y="1481328"/>
            <a:ext cx="7589520" cy="4160520"/>
          </a:xfrm>
          <a:prstGeom prst="roundRect">
            <a:avLst>
              <a:gd name="adj" fmla="val 1319"/>
            </a:avLst>
          </a:prstGeom>
          <a:solidFill>
            <a:srgbClr val="F5F9FB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6BDE5B7-1CDD-409A-9CC2-FBD7817CE330}"/>
              </a:ext>
            </a:extLst>
          </p:cNvPr>
          <p:cNvSpPr>
            <a:spLocks noGrp="1"/>
          </p:cNvSpPr>
          <p:nvPr/>
        </p:nvSpPr>
        <p:spPr>
          <a:xfrm>
            <a:off x="914400" y="214884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BB33F0-7A87-48EC-8DD8-CEF9D7D9052F}"/>
              </a:ext>
            </a:extLst>
          </p:cNvPr>
          <p:cNvSpPr>
            <a:spLocks noGrp="1"/>
          </p:cNvSpPr>
          <p:nvPr/>
        </p:nvSpPr>
        <p:spPr>
          <a:xfrm>
            <a:off x="914400" y="2148840"/>
            <a:ext cx="1691640" cy="566928"/>
          </a:xfrm>
          <a:prstGeom prst="rect">
            <a:avLst/>
          </a:prstGeom>
          <a:noFill/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Reasoner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03FF866-333E-4FD8-B53E-27E223AEC0E9}"/>
              </a:ext>
            </a:extLst>
          </p:cNvPr>
          <p:cNvSpPr>
            <a:spLocks noGrp="1"/>
          </p:cNvSpPr>
          <p:nvPr/>
        </p:nvSpPr>
        <p:spPr>
          <a:xfrm>
            <a:off x="3246120" y="214884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F413A2F-790E-4406-A721-0E7BB1322970}"/>
              </a:ext>
            </a:extLst>
          </p:cNvPr>
          <p:cNvSpPr>
            <a:spLocks noGrp="1"/>
          </p:cNvSpPr>
          <p:nvPr/>
        </p:nvSpPr>
        <p:spPr>
          <a:xfrm>
            <a:off x="3246120" y="2148840"/>
            <a:ext cx="1691640" cy="566928"/>
          </a:xfrm>
          <a:prstGeom prst="rect">
            <a:avLst/>
          </a:prstGeom>
          <a:noFill/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Engineer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9813A80-A4A5-45EB-BA1E-96EE089FFFA2}"/>
              </a:ext>
            </a:extLst>
          </p:cNvPr>
          <p:cNvSpPr>
            <a:spLocks noGrp="1"/>
          </p:cNvSpPr>
          <p:nvPr/>
        </p:nvSpPr>
        <p:spPr>
          <a:xfrm>
            <a:off x="5577840" y="2148840"/>
            <a:ext cx="169164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587EF55-D0A7-49EE-AE57-33CCCA27FC65}"/>
              </a:ext>
            </a:extLst>
          </p:cNvPr>
          <p:cNvSpPr>
            <a:spLocks noGrp="1"/>
          </p:cNvSpPr>
          <p:nvPr/>
        </p:nvSpPr>
        <p:spPr>
          <a:xfrm>
            <a:off x="5577840" y="2148840"/>
            <a:ext cx="1691640" cy="566928"/>
          </a:xfrm>
          <a:prstGeom prst="rect">
            <a:avLst/>
          </a:prstGeom>
          <a:noFill/>
        </p:spPr>
        <p:txBody>
          <a:bodyPr wrap="square" lIns="254" tIns="254" rIns="254" bIns="254" anchor="ctr"/>
          <a:lstStyle/>
          <a:p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Critic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8323070-8CCC-49DA-9A95-4B693452F383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900">
                <a:solidFill>
                  <a:srgbClr val="617187"/>
                </a:solidFill>
              </a:defRPr>
            </a:pPr>
            <a:r>
              <a:rPr sz="90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retrieves + plans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E442A1A-9C2A-4739-A6E5-56C8821479F5}"/>
              </a:ext>
            </a:extLst>
          </p:cNvPr>
          <p:cNvSpPr>
            <a:spLocks noGrp="1"/>
          </p:cNvSpPr>
          <p:nvPr/>
        </p:nvSpPr>
        <p:spPr>
          <a:xfrm>
            <a:off x="3246120" y="274320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900">
                <a:solidFill>
                  <a:srgbClr val="617187"/>
                </a:solidFill>
              </a:defRPr>
            </a:pPr>
            <a:r>
              <a:rPr sz="90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formalizes + checks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341FDBF-2AB7-4C8F-A0A2-2C666715F0C4}"/>
              </a:ext>
            </a:extLst>
          </p:cNvPr>
          <p:cNvSpPr>
            <a:spLocks noGrp="1"/>
          </p:cNvSpPr>
          <p:nvPr/>
        </p:nvSpPr>
        <p:spPr>
          <a:xfrm>
            <a:off x="5577840" y="2743200"/>
            <a:ext cx="169164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900">
                <a:solidFill>
                  <a:srgbClr val="617187"/>
                </a:solidFill>
              </a:defRPr>
            </a:pPr>
            <a:r>
              <a:rPr sz="90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checks the contract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3A69153-A1E9-4CFB-BC35-7D73C2EC2302}"/>
              </a:ext>
            </a:extLst>
          </p:cNvPr>
          <p:cNvSpPr>
            <a:spLocks noGrp="1"/>
          </p:cNvSpPr>
          <p:nvPr/>
        </p:nvSpPr>
        <p:spPr>
          <a:xfrm>
            <a:off x="2638843" y="2359733"/>
            <a:ext cx="56692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33A6697-C111-4E68-B76E-8E8A54856B96}"/>
              </a:ext>
            </a:extLst>
          </p:cNvPr>
          <p:cNvSpPr>
            <a:spLocks noGrp="1"/>
          </p:cNvSpPr>
          <p:nvPr/>
        </p:nvSpPr>
        <p:spPr>
          <a:xfrm>
            <a:off x="4970562" y="2359733"/>
            <a:ext cx="56692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B89F624-AE05-47C5-B076-1D46E58CD0FC}"/>
              </a:ext>
            </a:extLst>
          </p:cNvPr>
          <p:cNvSpPr>
            <a:spLocks noGrp="1"/>
          </p:cNvSpPr>
          <p:nvPr/>
        </p:nvSpPr>
        <p:spPr>
          <a:xfrm>
            <a:off x="2487168" y="1901952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713">
                <a:solidFill>
                  <a:srgbClr val="617187"/>
                </a:solidFill>
              </a:defRPr>
            </a:pPr>
            <a:r>
              <a:rPr sz="713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handoff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9407FD1-8C79-414A-83DB-32017DF4A0CF}"/>
              </a:ext>
            </a:extLst>
          </p:cNvPr>
          <p:cNvSpPr>
            <a:spLocks noGrp="1"/>
          </p:cNvSpPr>
          <p:nvPr/>
        </p:nvSpPr>
        <p:spPr>
          <a:xfrm>
            <a:off x="4846320" y="190195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713">
                <a:solidFill>
                  <a:srgbClr val="617187"/>
                </a:solidFill>
              </a:defRPr>
            </a:pPr>
            <a:r>
              <a:rPr sz="713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candidate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A644A53-1213-4911-B787-6FE7CC6283FC}"/>
              </a:ext>
            </a:extLst>
          </p:cNvPr>
          <p:cNvSpPr>
            <a:spLocks noGrp="1"/>
          </p:cNvSpPr>
          <p:nvPr/>
        </p:nvSpPr>
        <p:spPr>
          <a:xfrm>
            <a:off x="4727303" y="2566707"/>
            <a:ext cx="1119049" cy="83602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750">
                <a:solidFill>
                  <a:srgbClr val="D27B12"/>
                </a:solidFill>
              </a:defRPr>
            </a:pPr>
            <a:r>
              <a:rPr sz="750" b="1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return with failing evidence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631E386-5E6B-4364-AD75-831366251BFF}"/>
              </a:ext>
            </a:extLst>
          </p:cNvPr>
          <p:cNvSpPr>
            <a:spLocks noGrp="1"/>
          </p:cNvSpPr>
          <p:nvPr/>
        </p:nvSpPr>
        <p:spPr>
          <a:xfrm>
            <a:off x="2366554" y="2763810"/>
            <a:ext cx="1104538" cy="451393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750">
                <a:solidFill>
                  <a:srgbClr val="0A789F"/>
                </a:solidFill>
              </a:defRPr>
            </a:pPr>
            <a:r>
              <a:rPr sz="75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request a new plan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D1F976B-51E2-406D-8CFA-C6AA1C713341}"/>
              </a:ext>
            </a:extLst>
          </p:cNvPr>
          <p:cNvSpPr>
            <a:spLocks noGrp="1"/>
          </p:cNvSpPr>
          <p:nvPr/>
        </p:nvSpPr>
        <p:spPr>
          <a:xfrm>
            <a:off x="5577840" y="329184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5652C0B-06B7-484A-959E-04A2E47085D3}"/>
              </a:ext>
            </a:extLst>
          </p:cNvPr>
          <p:cNvSpPr>
            <a:spLocks noGrp="1"/>
          </p:cNvSpPr>
          <p:nvPr/>
        </p:nvSpPr>
        <p:spPr>
          <a:xfrm>
            <a:off x="5577840" y="3291840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863" b="1">
                <a:solidFill>
                  <a:srgbClr val="FFFFFF"/>
                </a:solidFill>
              </a:defRPr>
            </a:pPr>
            <a:r>
              <a:rPr sz="8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approve latest checked target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1890A8C-2612-4BF7-8F27-ACD2985B2A07}"/>
              </a:ext>
            </a:extLst>
          </p:cNvPr>
          <p:cNvSpPr>
            <a:spLocks noGrp="1"/>
          </p:cNvSpPr>
          <p:nvPr/>
        </p:nvSpPr>
        <p:spPr>
          <a:xfrm>
            <a:off x="6419088" y="2761488"/>
            <a:ext cx="0" cy="47548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0F66F4F-5C3B-46CB-A92D-0FA706661140}"/>
              </a:ext>
            </a:extLst>
          </p:cNvPr>
          <p:cNvSpPr>
            <a:spLocks noGrp="1"/>
          </p:cNvSpPr>
          <p:nvPr/>
        </p:nvSpPr>
        <p:spPr>
          <a:xfrm>
            <a:off x="914400" y="3977640"/>
            <a:ext cx="63550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9AA7B2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D2FBB57-091D-4B8E-801F-0CE2D0E6857E}"/>
              </a:ext>
            </a:extLst>
          </p:cNvPr>
          <p:cNvSpPr>
            <a:spLocks noGrp="1"/>
          </p:cNvSpPr>
          <p:nvPr/>
        </p:nvSpPr>
        <p:spPr>
          <a:xfrm>
            <a:off x="1051560" y="4059936"/>
            <a:ext cx="60350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 b="1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Tools, run on request by a mechanical executor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0B354DB-78D7-4D03-AF8F-79AD62C07608}"/>
              </a:ext>
            </a:extLst>
          </p:cNvPr>
          <p:cNvSpPr>
            <a:spLocks noGrp="1"/>
          </p:cNvSpPr>
          <p:nvPr/>
        </p:nvSpPr>
        <p:spPr>
          <a:xfrm>
            <a:off x="1051560" y="4297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5051C69-354E-4E2F-BAE3-E521DF3F671E}"/>
              </a:ext>
            </a:extLst>
          </p:cNvPr>
          <p:cNvSpPr>
            <a:spLocks noGrp="1"/>
          </p:cNvSpPr>
          <p:nvPr/>
        </p:nvSpPr>
        <p:spPr>
          <a:xfrm>
            <a:off x="1051560" y="43525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proof checker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E0B8546-6DFC-48CB-9A15-5902BEAC48D9}"/>
              </a:ext>
            </a:extLst>
          </p:cNvPr>
          <p:cNvSpPr>
            <a:spLocks noGrp="1"/>
          </p:cNvSpPr>
          <p:nvPr/>
        </p:nvSpPr>
        <p:spPr>
          <a:xfrm>
            <a:off x="1051560" y="45628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  C</a:t>
            </a: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6840AD9-ECBD-4BD9-AD12-2BE7ED432306}"/>
              </a:ext>
            </a:extLst>
          </p:cNvPr>
          <p:cNvSpPr>
            <a:spLocks noGrp="1"/>
          </p:cNvSpPr>
          <p:nvPr/>
        </p:nvSpPr>
        <p:spPr>
          <a:xfrm>
            <a:off x="2606040" y="4297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555745E-A98F-4CD3-81DE-54AC02122A18}"/>
              </a:ext>
            </a:extLst>
          </p:cNvPr>
          <p:cNvSpPr>
            <a:spLocks noGrp="1"/>
          </p:cNvSpPr>
          <p:nvPr/>
        </p:nvSpPr>
        <p:spPr>
          <a:xfrm>
            <a:off x="2606040" y="43525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lemma search</a:t>
            </a: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2F32EF0-E8AB-4A51-B868-9FD23B2FA8A0}"/>
              </a:ext>
            </a:extLst>
          </p:cNvPr>
          <p:cNvSpPr>
            <a:spLocks noGrp="1"/>
          </p:cNvSpPr>
          <p:nvPr/>
        </p:nvSpPr>
        <p:spPr>
          <a:xfrm>
            <a:off x="2606040" y="45628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R  E</a:t>
            </a:r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1D0F0F2-A7F5-47E7-B78C-829B5F98439A}"/>
              </a:ext>
            </a:extLst>
          </p:cNvPr>
          <p:cNvSpPr>
            <a:spLocks noGrp="1"/>
          </p:cNvSpPr>
          <p:nvPr/>
        </p:nvSpPr>
        <p:spPr>
          <a:xfrm>
            <a:off x="4160520" y="4297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EA35C39-39C4-448C-B65B-E8DEBD4CA9DF}"/>
              </a:ext>
            </a:extLst>
          </p:cNvPr>
          <p:cNvSpPr>
            <a:spLocks noGrp="1"/>
          </p:cNvSpPr>
          <p:nvPr/>
        </p:nvSpPr>
        <p:spPr>
          <a:xfrm>
            <a:off x="4160520" y="43525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tactic finder</a:t>
            </a: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3F84E72-F88B-4709-94CA-0907F80074E6}"/>
              </a:ext>
            </a:extLst>
          </p:cNvPr>
          <p:cNvSpPr>
            <a:spLocks noGrp="1"/>
          </p:cNvSpPr>
          <p:nvPr/>
        </p:nvSpPr>
        <p:spPr>
          <a:xfrm>
            <a:off x="4160520" y="45628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</a:t>
            </a: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FF8306A0-38B6-4E56-92A1-0F0C95B61D1B}"/>
              </a:ext>
            </a:extLst>
          </p:cNvPr>
          <p:cNvSpPr>
            <a:spLocks noGrp="1"/>
          </p:cNvSpPr>
          <p:nvPr/>
        </p:nvSpPr>
        <p:spPr>
          <a:xfrm>
            <a:off x="5715000" y="4297680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6630C80-56A9-4360-A14E-2A03A7A08A50}"/>
              </a:ext>
            </a:extLst>
          </p:cNvPr>
          <p:cNvSpPr>
            <a:spLocks noGrp="1"/>
          </p:cNvSpPr>
          <p:nvPr/>
        </p:nvSpPr>
        <p:spPr>
          <a:xfrm>
            <a:off x="5715000" y="43525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825" b="1">
                <a:solidFill>
                  <a:srgbClr val="252E63"/>
                </a:solidFill>
              </a:defRPr>
            </a:pPr>
            <a:r>
              <a:rPr sz="825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goal viewer</a:t>
            </a: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A0BD503-6B38-4A66-8616-FE26E04AA1EC}"/>
              </a:ext>
            </a:extLst>
          </p:cNvPr>
          <p:cNvSpPr>
            <a:spLocks noGrp="1"/>
          </p:cNvSpPr>
          <p:nvPr/>
        </p:nvSpPr>
        <p:spPr>
          <a:xfrm>
            <a:off x="5715000" y="4562856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  <a:defRPr sz="638">
                <a:solidFill>
                  <a:srgbClr val="0A789F"/>
                </a:solidFill>
              </a:defRPr>
            </a:pPr>
            <a:r>
              <a:rPr sz="638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</a:t>
            </a: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CB434BD-FC1F-4375-88B7-7C04BA3E61E7}"/>
              </a:ext>
            </a:extLst>
          </p:cNvPr>
          <p:cNvSpPr>
            <a:spLocks noGrp="1"/>
          </p:cNvSpPr>
          <p:nvPr/>
        </p:nvSpPr>
        <p:spPr>
          <a:xfrm>
            <a:off x="1051560" y="4983480"/>
            <a:ext cx="603504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638" i="1">
                <a:solidFill>
                  <a:srgbClr val="617187"/>
                </a:solidFill>
              </a:defRPr>
            </a:pPr>
            <a:r>
              <a:rPr sz="638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 = Reasoner   E = Engineer   C = Critic</a:t>
            </a: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3D7B33F6-778D-4571-B304-008CB1783294}"/>
              </a:ext>
            </a:extLst>
          </p:cNvPr>
          <p:cNvSpPr>
            <a:spLocks noGrp="1"/>
          </p:cNvSpPr>
          <p:nvPr/>
        </p:nvSpPr>
        <p:spPr>
          <a:xfrm>
            <a:off x="1755648" y="3749040"/>
            <a:ext cx="0" cy="219456"/>
          </a:xfrm>
          <a:prstGeom prst="line">
            <a:avLst/>
          </a:prstGeom>
          <a:noFill/>
          <a:ln w="12700">
            <a:solidFill>
              <a:srgbClr val="9AA7B2"/>
            </a:solidFill>
            <a:prstDash val="sysDot"/>
          </a:ln>
        </p:spPr>
        <p:txBody>
          <a:bodyPr/>
          <a:lstStyle/>
          <a:p>
            <a:endParaRPr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770FE46D-C547-4299-88EE-D5FD8EB4C43C}"/>
              </a:ext>
            </a:extLst>
          </p:cNvPr>
          <p:cNvSpPr>
            <a:spLocks noGrp="1"/>
          </p:cNvSpPr>
          <p:nvPr/>
        </p:nvSpPr>
        <p:spPr>
          <a:xfrm>
            <a:off x="4087368" y="2761488"/>
            <a:ext cx="0" cy="1207008"/>
          </a:xfrm>
          <a:prstGeom prst="line">
            <a:avLst/>
          </a:prstGeom>
          <a:noFill/>
          <a:ln w="12700">
            <a:solidFill>
              <a:srgbClr val="9AA7B2"/>
            </a:solidFill>
            <a:prstDash val="sysDot"/>
          </a:ln>
        </p:spPr>
        <p:txBody>
          <a:bodyPr/>
          <a:lstStyle/>
          <a:p>
            <a:endParaRPr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64CDABE3-9B15-4F4D-A15F-E9CCD6A46693}"/>
              </a:ext>
            </a:extLst>
          </p:cNvPr>
          <p:cNvSpPr>
            <a:spLocks noGrp="1"/>
          </p:cNvSpPr>
          <p:nvPr/>
        </p:nvSpPr>
        <p:spPr>
          <a:xfrm>
            <a:off x="6419088" y="3822192"/>
            <a:ext cx="0" cy="146304"/>
          </a:xfrm>
          <a:prstGeom prst="line">
            <a:avLst/>
          </a:prstGeom>
          <a:noFill/>
          <a:ln w="12700">
            <a:solidFill>
              <a:srgbClr val="9AA7B2"/>
            </a:solidFill>
            <a:prstDash val="sysDot"/>
          </a:ln>
        </p:spPr>
        <p:txBody>
          <a:bodyPr/>
          <a:lstStyle/>
          <a:p>
            <a:endParaRPr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A9A209CA-C304-4880-9DBF-E713DE8F4147}"/>
              </a:ext>
            </a:extLst>
          </p:cNvPr>
          <p:cNvSpPr>
            <a:spLocks noGrp="1"/>
          </p:cNvSpPr>
          <p:nvPr/>
        </p:nvSpPr>
        <p:spPr>
          <a:xfrm>
            <a:off x="914400" y="52120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>
                <a:solidFill>
                  <a:srgbClr val="617187"/>
                </a:solidFill>
              </a:defRPr>
            </a:pPr>
            <a:r>
              <a:rPr sz="863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Design rule: a failed check must change who acts next—or why the run ends.</a:t>
            </a:r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3F9B5D2-79A3-47E6-AB1E-1CD5BEBACF4A}"/>
              </a:ext>
            </a:extLst>
          </p:cNvPr>
          <p:cNvSpPr>
            <a:spLocks noGrp="1"/>
          </p:cNvSpPr>
          <p:nvPr/>
        </p:nvSpPr>
        <p:spPr>
          <a:xfrm>
            <a:off x="8412480" y="1481328"/>
            <a:ext cx="32004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05B0B43-CF72-4083-A698-F4357D0BA366}"/>
              </a:ext>
            </a:extLst>
          </p:cNvPr>
          <p:cNvSpPr>
            <a:spLocks noGrp="1"/>
          </p:cNvSpPr>
          <p:nvPr/>
        </p:nvSpPr>
        <p:spPr>
          <a:xfrm>
            <a:off x="8613648" y="1609344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00" b="1">
                <a:solidFill>
                  <a:srgbClr val="252E63"/>
                </a:solidFill>
              </a:defRPr>
            </a:pPr>
            <a:r>
              <a:rPr sz="12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Control contract</a:t>
            </a: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7A46E12-CF8A-4F52-A657-DE384F84C10D}"/>
              </a:ext>
            </a:extLst>
          </p:cNvPr>
          <p:cNvSpPr>
            <a:spLocks noGrp="1"/>
          </p:cNvSpPr>
          <p:nvPr/>
        </p:nvSpPr>
        <p:spPr>
          <a:xfrm>
            <a:off x="8613648" y="192024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273446"/>
                </a:solidFill>
              </a:defRPr>
            </a:pPr>
            <a:r>
              <a:rPr sz="938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Agents choose a tool or next role. The executor runs tools; the recorder preserves every returned result.</a:t>
            </a:r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DF885E4-1FAF-4B3D-B3CA-EFBFA9FBECFB}"/>
              </a:ext>
            </a:extLst>
          </p:cNvPr>
          <p:cNvSpPr>
            <a:spLocks noGrp="1"/>
          </p:cNvSpPr>
          <p:nvPr/>
        </p:nvSpPr>
        <p:spPr>
          <a:xfrm>
            <a:off x="8412480" y="3520440"/>
            <a:ext cx="3200400" cy="2121408"/>
          </a:xfrm>
          <a:prstGeom prst="roundRect">
            <a:avLst>
              <a:gd name="adj" fmla="val 2586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A9E29F78-A755-4AB2-902F-74A41401B11E}"/>
              </a:ext>
            </a:extLst>
          </p:cNvPr>
          <p:cNvSpPr>
            <a:spLocks noGrp="1"/>
          </p:cNvSpPr>
          <p:nvPr/>
        </p:nvSpPr>
        <p:spPr>
          <a:xfrm>
            <a:off x="8613648" y="3648456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63" b="1">
                <a:solidFill>
                  <a:srgbClr val="0A789F"/>
                </a:solidFill>
              </a:defRPr>
            </a:pPr>
            <a:r>
              <a:rPr sz="1163" b="1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Observed canonical routing</a:t>
            </a: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784460D6-A4B9-445F-BDEB-EF898B7BFC46}"/>
              </a:ext>
            </a:extLst>
          </p:cNvPr>
          <p:cNvSpPr>
            <a:spLocks noGrp="1"/>
          </p:cNvSpPr>
          <p:nvPr/>
        </p:nvSpPr>
        <p:spPr>
          <a:xfrm>
            <a:off x="8613648" y="4032504"/>
            <a:ext cx="137160" cy="1371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C647E186-E85B-4E99-A00C-4773FE0D7397}"/>
              </a:ext>
            </a:extLst>
          </p:cNvPr>
          <p:cNvSpPr>
            <a:spLocks noGrp="1"/>
          </p:cNvSpPr>
          <p:nvPr/>
        </p:nvSpPr>
        <p:spPr>
          <a:xfrm>
            <a:off x="8851392" y="396849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 b="1">
                <a:solidFill>
                  <a:srgbClr val="252E63"/>
                </a:solidFill>
              </a:defRPr>
            </a:pPr>
            <a:r>
              <a:rPr sz="938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59 forward handoffs</a:t>
            </a:r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8E236EE1-27EB-448C-9959-85AEA563230B}"/>
              </a:ext>
            </a:extLst>
          </p:cNvPr>
          <p:cNvSpPr>
            <a:spLocks noGrp="1"/>
          </p:cNvSpPr>
          <p:nvPr/>
        </p:nvSpPr>
        <p:spPr>
          <a:xfrm>
            <a:off x="8851392" y="416966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>
                <a:solidFill>
                  <a:srgbClr val="617187"/>
                </a:solidFill>
              </a:defRPr>
            </a:pPr>
            <a:r>
              <a:rPr sz="78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Engineer → Critic</a:t>
            </a: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ADA9CCF6-B348-4F40-A881-C72E5C68FCEA}"/>
              </a:ext>
            </a:extLst>
          </p:cNvPr>
          <p:cNvSpPr>
            <a:spLocks noGrp="1"/>
          </p:cNvSpPr>
          <p:nvPr/>
        </p:nvSpPr>
        <p:spPr>
          <a:xfrm>
            <a:off x="8613648" y="4489704"/>
            <a:ext cx="137160" cy="137160"/>
          </a:xfrm>
          <a:prstGeom prst="ellipse">
            <a:avLst/>
          </a:prstGeom>
          <a:solidFill>
            <a:srgbClr val="C97B1E"/>
          </a:solidFill>
          <a:ln w="12700">
            <a:solidFill>
              <a:srgbClr val="C97B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9C3CE227-A08E-42ED-A3DA-B500049E7849}"/>
              </a:ext>
            </a:extLst>
          </p:cNvPr>
          <p:cNvSpPr>
            <a:spLocks noGrp="1"/>
          </p:cNvSpPr>
          <p:nvPr/>
        </p:nvSpPr>
        <p:spPr>
          <a:xfrm>
            <a:off x="8851392" y="442569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 b="1">
                <a:solidFill>
                  <a:srgbClr val="252E63"/>
                </a:solidFill>
              </a:defRPr>
            </a:pPr>
            <a:r>
              <a:rPr sz="938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0 return handoffs</a:t>
            </a: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04494572-4D3D-4A17-B2CD-091AA9DD7201}"/>
              </a:ext>
            </a:extLst>
          </p:cNvPr>
          <p:cNvSpPr>
            <a:spLocks noGrp="1"/>
          </p:cNvSpPr>
          <p:nvPr/>
        </p:nvSpPr>
        <p:spPr>
          <a:xfrm>
            <a:off x="8851392" y="462686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>
                <a:solidFill>
                  <a:srgbClr val="617187"/>
                </a:solidFill>
              </a:defRPr>
            </a:pPr>
            <a:r>
              <a:rPr sz="78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Critic → Engineer</a:t>
            </a: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7181C04-C916-4757-8444-A26D9F44C3B5}"/>
              </a:ext>
            </a:extLst>
          </p:cNvPr>
          <p:cNvSpPr>
            <a:spLocks noGrp="1"/>
          </p:cNvSpPr>
          <p:nvPr/>
        </p:nvSpPr>
        <p:spPr>
          <a:xfrm>
            <a:off x="8613648" y="4946904"/>
            <a:ext cx="137160" cy="137160"/>
          </a:xfrm>
          <a:prstGeom prst="ellipse">
            <a:avLst/>
          </a:prstGeom>
          <a:solidFill>
            <a:srgbClr val="9AA7B2"/>
          </a:solidFill>
          <a:ln w="12700">
            <a:solidFill>
              <a:srgbClr val="9AA7B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938DE614-920A-4F66-B339-9D5D75BEF636}"/>
              </a:ext>
            </a:extLst>
          </p:cNvPr>
          <p:cNvSpPr>
            <a:spLocks noGrp="1"/>
          </p:cNvSpPr>
          <p:nvPr/>
        </p:nvSpPr>
        <p:spPr>
          <a:xfrm>
            <a:off x="8851392" y="4882896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 b="1">
                <a:solidFill>
                  <a:srgbClr val="252E63"/>
                </a:solidFill>
              </a:defRPr>
            </a:pPr>
            <a:r>
              <a:rPr sz="938" b="1">
                <a:solidFill>
                  <a:srgbClr val="252E63"/>
                </a:solidFill>
                <a:latin typeface="Calibri"/>
                <a:ea typeface="Calibri"/>
                <a:cs typeface="Calibri"/>
              </a:rPr>
              <a:t>97 connected-linear</a:t>
            </a:r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3DF76EA8-6331-4039-BF9A-0A9629E9CE8B}"/>
              </a:ext>
            </a:extLst>
          </p:cNvPr>
          <p:cNvSpPr>
            <a:spLocks noGrp="1"/>
          </p:cNvSpPr>
          <p:nvPr/>
        </p:nvSpPr>
        <p:spPr>
          <a:xfrm>
            <a:off x="8851392" y="508406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>
                <a:solidFill>
                  <a:srgbClr val="617187"/>
                </a:solidFill>
              </a:defRPr>
            </a:pPr>
            <a:r>
              <a:rPr sz="78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recorded event graphs</a:t>
            </a:r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47C8201-9DC7-4C8E-B6AD-6CF7A419DE66}"/>
              </a:ext>
            </a:extLst>
          </p:cNvPr>
          <p:cNvSpPr>
            <a:spLocks noGrp="1"/>
          </p:cNvSpPr>
          <p:nvPr/>
        </p:nvSpPr>
        <p:spPr>
          <a:xfrm>
            <a:off x="8613648" y="5349240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788" b="1" i="1">
                <a:solidFill>
                  <a:srgbClr val="0A789F"/>
                </a:solidFill>
              </a:defRPr>
            </a:pPr>
            <a:r>
              <a:rPr sz="788" b="1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The architecture can express a loop; the observed routing realizes a pipeline.</a:t>
            </a: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2AC4ADF1-C50A-4F94-8D7F-06FC36060EF0}"/>
              </a:ext>
            </a:extLst>
          </p:cNvPr>
          <p:cNvSpPr>
            <a:spLocks noGrp="1"/>
          </p:cNvSpPr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3F19560C-E864-42B7-BD10-76D0CE6BAB0E}"/>
              </a:ext>
            </a:extLst>
          </p:cNvPr>
          <p:cNvSpPr>
            <a:spLocks noGrp="1"/>
          </p:cNvSpPr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cxnSp>
        <p:nvCxnSpPr>
          <p:cNvPr id="299" name="Straight Arrow Connector 62"/>
          <p:cNvCxnSpPr/>
          <p:nvPr/>
        </p:nvCxnSpPr>
        <p:spPr>
          <a:xfrm flipH="1" flipV="1">
            <a:off x="2657927" y="2492830"/>
            <a:ext cx="529771" cy="1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Arrow Connector 63"/>
          <p:cNvCxnSpPr/>
          <p:nvPr/>
        </p:nvCxnSpPr>
        <p:spPr>
          <a:xfrm flipH="1" flipV="1">
            <a:off x="4972955" y="2485571"/>
            <a:ext cx="529771" cy="1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782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752365-B9FB-48B9-821C-D4395C541CFB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2400" b="1">
                <a:solidFill>
                  <a:srgbClr val="252E63"/>
                </a:solidFill>
              </a:defRPr>
            </a:pPr>
            <a:r>
              <a:rPr sz="2400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JSON turns a run into testable evidence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AE39C45-A7CB-4202-A204-90EF30D3B116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i="1">
                <a:solidFill>
                  <a:srgbClr val="617187"/>
                </a:solidFill>
              </a:defRPr>
            </a:pPr>
            <a:r>
              <a:rPr sz="1275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Record what happened first; infer why it failed only afterwards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1C59EA0-023D-4125-93ED-5C78C289C16F}"/>
              </a:ext>
            </a:extLst>
          </p:cNvPr>
          <p:cNvSpPr>
            <a:spLocks noGrp="1"/>
          </p:cNvSpPr>
          <p:nvPr/>
        </p:nvSpPr>
        <p:spPr>
          <a:xfrm>
            <a:off x="548640" y="1536192"/>
            <a:ext cx="50292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D951415-FBD2-4950-A0BD-FAAE1798F8D4}"/>
              </a:ext>
            </a:extLst>
          </p:cNvPr>
          <p:cNvSpPr>
            <a:spLocks noGrp="1"/>
          </p:cNvSpPr>
          <p:nvPr/>
        </p:nvSpPr>
        <p:spPr>
          <a:xfrm>
            <a:off x="777240" y="170078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b="1">
                <a:solidFill>
                  <a:srgbClr val="252E63"/>
                </a:solidFill>
              </a:defRPr>
            </a:pPr>
            <a:r>
              <a:rPr sz="1275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One event per JSONL line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99ABD5C-EC20-49F8-B8FE-4AE8B1543FBF}"/>
              </a:ext>
            </a:extLst>
          </p:cNvPr>
          <p:cNvSpPr>
            <a:spLocks noGrp="1"/>
          </p:cNvSpPr>
          <p:nvPr/>
        </p:nvSpPr>
        <p:spPr>
          <a:xfrm>
            <a:off x="777240" y="2103120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agent_role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F033EC9-0F85-41FC-9FBF-378AC8798DC3}"/>
              </a:ext>
            </a:extLst>
          </p:cNvPr>
          <p:cNvSpPr>
            <a:spLocks noGrp="1"/>
          </p:cNvSpPr>
          <p:nvPr/>
        </p:nvSpPr>
        <p:spPr>
          <a:xfrm>
            <a:off x="777240" y="234086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who acted: Reasoner, Engineer, Critic, or Executor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17D27DF-B160-4254-80C1-055E7885F3CE}"/>
              </a:ext>
            </a:extLst>
          </p:cNvPr>
          <p:cNvSpPr>
            <a:spLocks noGrp="1"/>
          </p:cNvSpPr>
          <p:nvPr/>
        </p:nvSpPr>
        <p:spPr>
          <a:xfrm>
            <a:off x="777240" y="2852928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event_type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2A44245-FECF-4909-A454-A1F5EEE5E7DC}"/>
              </a:ext>
            </a:extLst>
          </p:cNvPr>
          <p:cNvSpPr>
            <a:spLocks noGrp="1"/>
          </p:cNvSpPr>
          <p:nvPr/>
        </p:nvSpPr>
        <p:spPr>
          <a:xfrm>
            <a:off x="777240" y="309067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message · tool_call · execution_result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240B5DA-F854-4353-8673-7368CF2275A2}"/>
              </a:ext>
            </a:extLst>
          </p:cNvPr>
          <p:cNvSpPr>
            <a:spLocks noGrp="1"/>
          </p:cNvSpPr>
          <p:nvPr/>
        </p:nvSpPr>
        <p:spPr>
          <a:xfrm>
            <a:off x="777240" y="3602736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payload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95187E0-49E7-4E2D-A5BF-F71E88C24447}"/>
              </a:ext>
            </a:extLst>
          </p:cNvPr>
          <p:cNvSpPr>
            <a:spLocks noGrp="1"/>
          </p:cNvSpPr>
          <p:nvPr/>
        </p:nvSpPr>
        <p:spPr>
          <a:xfrm>
            <a:off x="777240" y="38404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full prompt, proof candidate, tool arguments, and diagnostics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3900430-133F-4266-966D-1A4E5C768F65}"/>
              </a:ext>
            </a:extLst>
          </p:cNvPr>
          <p:cNvSpPr>
            <a:spLocks noGrp="1"/>
          </p:cNvSpPr>
          <p:nvPr/>
        </p:nvSpPr>
        <p:spPr>
          <a:xfrm>
            <a:off x="777240" y="4352544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125" b="1">
                <a:solidFill>
                  <a:srgbClr val="0A789F"/>
                </a:solidFill>
              </a:defRPr>
            </a:pPr>
            <a:r>
              <a:rPr sz="1125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caused_by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812C4A2-9ECB-4CFB-8757-AAE055694A4E}"/>
              </a:ext>
            </a:extLst>
          </p:cNvPr>
          <p:cNvSpPr>
            <a:spLocks noGrp="1"/>
          </p:cNvSpPr>
          <p:nvPr/>
        </p:nvSpPr>
        <p:spPr>
          <a:xfrm>
            <a:off x="777240" y="459028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617187"/>
                </a:solidFill>
              </a:defRPr>
            </a:pPr>
            <a:r>
              <a:rPr sz="938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the explicit parent event—so the recorded chain is inspectable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4F94325-8792-4326-AF78-56877F70598C}"/>
              </a:ext>
            </a:extLst>
          </p:cNvPr>
          <p:cNvSpPr>
            <a:spLocks noGrp="1"/>
          </p:cNvSpPr>
          <p:nvPr/>
        </p:nvSpPr>
        <p:spPr>
          <a:xfrm>
            <a:off x="777240" y="48646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863" i="1">
                <a:solidFill>
                  <a:srgbClr val="0A789F"/>
                </a:solidFill>
              </a:defRPr>
            </a:pPr>
            <a:r>
              <a:rPr sz="863" i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Observed evidence is immutable; causal labels remain reviewable.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4AF9BC8-8E24-4AA2-B6B3-F9A56F56425E}"/>
              </a:ext>
            </a:extLst>
          </p:cNvPr>
          <p:cNvSpPr>
            <a:spLocks noGrp="1"/>
          </p:cNvSpPr>
          <p:nvPr/>
        </p:nvSpPr>
        <p:spPr>
          <a:xfrm>
            <a:off x="5852160" y="1700784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275" b="1">
                <a:solidFill>
                  <a:srgbClr val="252E63"/>
                </a:solidFill>
              </a:defRPr>
            </a:pPr>
            <a:r>
              <a:rPr sz="1275" b="1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Two independent passes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990D808-F2F0-4331-8E22-392BC1183E2C}"/>
              </a:ext>
            </a:extLst>
          </p:cNvPr>
          <p:cNvSpPr>
            <a:spLocks noGrp="1"/>
          </p:cNvSpPr>
          <p:nvPr/>
        </p:nvSpPr>
        <p:spPr>
          <a:xfrm>
            <a:off x="5852160" y="2084832"/>
            <a:ext cx="5760720" cy="1417320"/>
          </a:xfrm>
          <a:prstGeom prst="roundRect">
            <a:avLst>
              <a:gd name="adj" fmla="val 3871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A43CDFB-9A53-418B-B255-A1F00E2C343D}"/>
              </a:ext>
            </a:extLst>
          </p:cNvPr>
          <p:cNvSpPr>
            <a:spLocks noGrp="1"/>
          </p:cNvSpPr>
          <p:nvPr/>
        </p:nvSpPr>
        <p:spPr>
          <a:xfrm>
            <a:off x="6080760" y="219456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88" b="1">
                <a:solidFill>
                  <a:srgbClr val="0A789F"/>
                </a:solidFill>
              </a:defRPr>
            </a:pPr>
            <a:r>
              <a:rPr sz="1088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During the run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64F55E1-D347-4F05-9A72-CF46BA0FE5F6}"/>
              </a:ext>
            </a:extLst>
          </p:cNvPr>
          <p:cNvSpPr>
            <a:spLocks noGrp="1"/>
          </p:cNvSpPr>
          <p:nvPr/>
        </p:nvSpPr>
        <p:spPr>
          <a:xfrm>
            <a:off x="6080760" y="2468880"/>
            <a:ext cx="5303520" cy="9601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273446"/>
                </a:solidFill>
              </a:defRPr>
            </a:pPr>
            <a:r>
              <a:rPr sz="938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Agents call tools. The Executor records the exact request and returned evidence without judging it.</a:t>
            </a: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13865A4-9DA3-4F02-A485-B86CDC9A8D77}"/>
              </a:ext>
            </a:extLst>
          </p:cNvPr>
          <p:cNvSpPr>
            <a:spLocks noGrp="1"/>
          </p:cNvSpPr>
          <p:nvPr/>
        </p:nvSpPr>
        <p:spPr>
          <a:xfrm>
            <a:off x="5852160" y="3639312"/>
            <a:ext cx="5760720" cy="1554480"/>
          </a:xfrm>
          <a:prstGeom prst="roundRect">
            <a:avLst>
              <a:gd name="adj" fmla="val 3529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0AC5ADD-793F-4941-A28D-B14301E4DD55}"/>
              </a:ext>
            </a:extLst>
          </p:cNvPr>
          <p:cNvSpPr>
            <a:spLocks noGrp="1"/>
          </p:cNvSpPr>
          <p:nvPr/>
        </p:nvSpPr>
        <p:spPr>
          <a:xfrm>
            <a:off x="6080760" y="374904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88" b="1">
                <a:solidFill>
                  <a:srgbClr val="0A789F"/>
                </a:solidFill>
              </a:defRPr>
            </a:pPr>
            <a:r>
              <a:rPr sz="1088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After the run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1FD3D8D-523F-42FD-9517-F4C5D80EFA07}"/>
              </a:ext>
            </a:extLst>
          </p:cNvPr>
          <p:cNvSpPr>
            <a:spLocks noGrp="1"/>
          </p:cNvSpPr>
          <p:nvPr/>
        </p:nvSpPr>
        <p:spPr>
          <a:xfrm>
            <a:off x="6080760" y="4023360"/>
            <a:ext cx="5303520" cy="10972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15">
                <a:solidFill>
                  <a:srgbClr val="273446"/>
                </a:solidFill>
              </a:defRPr>
            </a:pPr>
            <a:r>
              <a:rPr sz="915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An independent validator checks exact target, Lean compilation, sorry-freedom, and statement preservation. Reviewers then label behavior.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6738EBA-BBF4-4980-BCA1-6C0705DC1852}"/>
              </a:ext>
            </a:extLst>
          </p:cNvPr>
          <p:cNvSpPr>
            <a:spLocks noGrp="1"/>
          </p:cNvSpPr>
          <p:nvPr/>
        </p:nvSpPr>
        <p:spPr>
          <a:xfrm>
            <a:off x="548640" y="5413248"/>
            <a:ext cx="11064240" cy="713232"/>
          </a:xfrm>
          <a:prstGeom prst="roundRect">
            <a:avLst>
              <a:gd name="adj" fmla="val 7692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8645717-41DC-428A-924F-3759C80DC951}"/>
              </a:ext>
            </a:extLst>
          </p:cNvPr>
          <p:cNvSpPr>
            <a:spLocks noGrp="1"/>
          </p:cNvSpPr>
          <p:nvPr/>
        </p:nvSpPr>
        <p:spPr>
          <a:xfrm>
            <a:off x="777240" y="5504688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1013" b="1">
                <a:solidFill>
                  <a:srgbClr val="0A789F"/>
                </a:solidFill>
              </a:defRPr>
            </a:pPr>
            <a:r>
              <a:rPr sz="1013" b="1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4779F89-605D-4632-9CB4-7CB4E001CEEB}"/>
              </a:ext>
            </a:extLst>
          </p:cNvPr>
          <p:cNvSpPr>
            <a:spLocks noGrp="1"/>
          </p:cNvSpPr>
          <p:nvPr/>
        </p:nvSpPr>
        <p:spPr>
          <a:xfrm>
            <a:off x="777240" y="5742432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  <a:defRPr sz="938">
                <a:solidFill>
                  <a:srgbClr val="FFFFFF"/>
                </a:solidFill>
              </a:defRPr>
            </a:pPr>
            <a:r>
              <a:rPr sz="938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same final verdict can hide very different processes: productive repair, search loops, statement drift, or critic masking.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D5C8C86A-6A11-47B5-AAF6-6C1D29D24486}"/>
              </a:ext>
            </a:extLst>
          </p:cNvPr>
          <p:cNvSpPr>
            <a:spLocks noGrp="1"/>
          </p:cNvSpPr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EB06E6A-9D5F-4FAD-9447-E81017340357}"/>
              </a:ext>
            </a:extLst>
          </p:cNvPr>
          <p:cNvSpPr>
            <a:spLocks noGrp="1"/>
          </p:cNvSpPr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56028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EB431C-E92A-4D04-9960-B9A068D26EEA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Part 2 · What we evaluated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FF485C-C7FB-4A34-9873-67AAB4EBA669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Same Qwen 3.5 roles and Lean tools · two difficulty settings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1CDB387-90A6-455B-B89A-3FE352177A2A}"/>
              </a:ext>
            </a:extLst>
          </p:cNvPr>
          <p:cNvSpPr>
            <a:spLocks noGrp="1"/>
          </p:cNvSpPr>
          <p:nvPr/>
        </p:nvSpPr>
        <p:spPr>
          <a:xfrm>
            <a:off x="548640" y="1554480"/>
            <a:ext cx="5486400" cy="1965960"/>
          </a:xfrm>
          <a:prstGeom prst="roundRect">
            <a:avLst>
              <a:gd name="adj" fmla="val 2791"/>
            </a:avLst>
          </a:prstGeom>
          <a:solidFill>
            <a:srgbClr val="21295C"/>
          </a:solidFill>
          <a:ln w="12668">
            <a:solidFill>
              <a:srgbClr val="2129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78E72C-6465-4861-BF67-02278B26FBEF}"/>
              </a:ext>
            </a:extLst>
          </p:cNvPr>
          <p:cNvSpPr>
            <a:spLocks noGrp="1"/>
          </p:cNvSpPr>
          <p:nvPr/>
        </p:nvSpPr>
        <p:spPr>
          <a:xfrm>
            <a:off x="822960" y="1719072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7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EASY · whole theorem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2FD5B4-C978-41FF-B7FA-6870D48E627D}"/>
              </a:ext>
            </a:extLst>
          </p:cNvPr>
          <p:cNvSpPr>
            <a:spLocks noGrp="1"/>
          </p:cNvSpPr>
          <p:nvPr/>
        </p:nvSpPr>
        <p:spPr>
          <a:xfrm>
            <a:off x="822960" y="2011680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100 runs = 10 tasks × 10 trials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6465BEB-68F4-4EDC-98E0-EF4D5DC96ECB}"/>
              </a:ext>
            </a:extLst>
          </p:cNvPr>
          <p:cNvSpPr>
            <a:spLocks noGrp="1"/>
          </p:cNvSpPr>
          <p:nvPr/>
        </p:nvSpPr>
        <p:spPr>
          <a:xfrm>
            <a:off x="822960" y="2322576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2850" b="1" i="0">
                <a:solidFill>
                  <a:srgbClr val="0A789F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100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420A0F3-7ADA-4C56-8630-43CA6BBDDFE4}"/>
              </a:ext>
            </a:extLst>
          </p:cNvPr>
          <p:cNvSpPr>
            <a:spLocks noGrp="1"/>
          </p:cNvSpPr>
          <p:nvPr/>
        </p:nvSpPr>
        <p:spPr>
          <a:xfrm>
            <a:off x="822960" y="2779776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runs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55483FB-BD19-49AD-973E-9D0C80E65380}"/>
              </a:ext>
            </a:extLst>
          </p:cNvPr>
          <p:cNvSpPr>
            <a:spLocks noGrp="1"/>
          </p:cNvSpPr>
          <p:nvPr/>
        </p:nvSpPr>
        <p:spPr>
          <a:xfrm>
            <a:off x="2496312" y="2322576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2550" b="1" i="0">
                <a:solidFill>
                  <a:srgbClr val="0A789F"/>
                </a:solidFill>
                <a:latin typeface="Cambria"/>
                <a:ea typeface="Cambria"/>
                <a:cs typeface="Cambria"/>
              </a:defRPr>
            </a:pPr>
            <a:r>
              <a:rPr sz="2550" b="1" i="0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10 × 10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FC9E8FB-E4C8-4049-8F72-E017E24E725B}"/>
              </a:ext>
            </a:extLst>
          </p:cNvPr>
          <p:cNvSpPr>
            <a:spLocks noGrp="1"/>
          </p:cNvSpPr>
          <p:nvPr/>
        </p:nvSpPr>
        <p:spPr>
          <a:xfrm>
            <a:off x="2496312" y="2779776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tasks × trials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0766D94-6727-4334-A327-CA2808343121}"/>
              </a:ext>
            </a:extLst>
          </p:cNvPr>
          <p:cNvSpPr>
            <a:spLocks noGrp="1"/>
          </p:cNvSpPr>
          <p:nvPr/>
        </p:nvSpPr>
        <p:spPr>
          <a:xfrm>
            <a:off x="4169664" y="2322576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2550" b="1" i="0">
                <a:solidFill>
                  <a:srgbClr val="D27B12"/>
                </a:solidFill>
                <a:latin typeface="Cambria"/>
                <a:ea typeface="Cambria"/>
                <a:cs typeface="Cambria"/>
              </a:defRPr>
            </a:pPr>
            <a:r>
              <a:rPr sz="2550" b="1" i="0">
                <a:solidFill>
                  <a:srgbClr val="D27B12"/>
                </a:solidFill>
                <a:latin typeface="Cambria"/>
                <a:ea typeface="Cambria"/>
                <a:cs typeface="Cambria"/>
              </a:rPr>
              <a:t>56 / 100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7830A10-E821-47AD-9EC0-7C932C3F8177}"/>
              </a:ext>
            </a:extLst>
          </p:cNvPr>
          <p:cNvSpPr>
            <a:spLocks noGrp="1"/>
          </p:cNvSpPr>
          <p:nvPr/>
        </p:nvSpPr>
        <p:spPr>
          <a:xfrm>
            <a:off x="4169664" y="2779776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proofs verified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1613434-8D52-498C-AE08-35BA7034C056}"/>
              </a:ext>
            </a:extLst>
          </p:cNvPr>
          <p:cNvSpPr>
            <a:spLocks noGrp="1"/>
          </p:cNvSpPr>
          <p:nvPr/>
        </p:nvSpPr>
        <p:spPr>
          <a:xfrm>
            <a:off x="822960" y="3108960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0" i="1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Direct workflow · one requested theorem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B4CC67A-381E-45FD-B8D2-4A6E3EF60B14}"/>
              </a:ext>
            </a:extLst>
          </p:cNvPr>
          <p:cNvSpPr>
            <a:spLocks noGrp="1"/>
          </p:cNvSpPr>
          <p:nvPr/>
        </p:nvSpPr>
        <p:spPr>
          <a:xfrm>
            <a:off x="548640" y="3703320"/>
            <a:ext cx="5486400" cy="1645920"/>
          </a:xfrm>
          <a:prstGeom prst="roundRect">
            <a:avLst>
              <a:gd name="adj" fmla="val 3333"/>
            </a:avLst>
          </a:prstGeom>
          <a:solidFill>
            <a:srgbClr val="F5F9FB"/>
          </a:solidFill>
          <a:ln w="12668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557EE51-EAB0-4CDC-9CAF-72E455A55C9B}"/>
              </a:ext>
            </a:extLst>
          </p:cNvPr>
          <p:cNvSpPr>
            <a:spLocks noGrp="1"/>
          </p:cNvSpPr>
          <p:nvPr/>
        </p:nvSpPr>
        <p:spPr>
          <a:xfrm>
            <a:off x="822960" y="38404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Shared setup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03E8B1F-498C-42E2-AEAE-EBC8BEA264B0}"/>
              </a:ext>
            </a:extLst>
          </p:cNvPr>
          <p:cNvSpPr>
            <a:spLocks noGrp="1"/>
          </p:cNvSpPr>
          <p:nvPr/>
        </p:nvSpPr>
        <p:spPr>
          <a:xfrm>
            <a:off x="822960" y="4151376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  <a:defRPr sz="1350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Reasoner → Engineer → Critic</a:t>
            </a:r>
          </a:p>
          <a:p>
            <a:pPr marL="0" indent="0" algn="l">
              <a:buNone/>
              <a:defRPr sz="1350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Lean checker + lemma search · JSON trace per turn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D3DA4CF0-F31D-4A42-8B9D-A234EDD6447B}"/>
              </a:ext>
            </a:extLst>
          </p:cNvPr>
          <p:cNvSpPr>
            <a:spLocks noGrp="1"/>
          </p:cNvSpPr>
          <p:nvPr/>
        </p:nvSpPr>
        <p:spPr>
          <a:xfrm>
            <a:off x="6309360" y="1554480"/>
            <a:ext cx="530352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668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B84B448-7DD7-452C-879D-2A37B639B7E6}"/>
              </a:ext>
            </a:extLst>
          </p:cNvPr>
          <p:cNvSpPr>
            <a:spLocks noGrp="1"/>
          </p:cNvSpPr>
          <p:nvPr/>
        </p:nvSpPr>
        <p:spPr>
          <a:xfrm>
            <a:off x="6537960" y="171907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75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MEDIUM · connected subgoals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F682976-8260-473B-B226-27A7EC1988C3}"/>
              </a:ext>
            </a:extLst>
          </p:cNvPr>
          <p:cNvSpPr>
            <a:spLocks noGrp="1"/>
          </p:cNvSpPr>
          <p:nvPr/>
        </p:nvSpPr>
        <p:spPr>
          <a:xfrm>
            <a:off x="6537960" y="2011680"/>
            <a:ext cx="4846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20 runs = 2 tasks × 10 trials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D69BCE7-CF0E-48A7-A8CC-54E258973A41}"/>
              </a:ext>
            </a:extLst>
          </p:cNvPr>
          <p:cNvSpPr>
            <a:spLocks noGrp="1"/>
          </p:cNvSpPr>
          <p:nvPr/>
        </p:nvSpPr>
        <p:spPr>
          <a:xfrm>
            <a:off x="6537960" y="2404872"/>
            <a:ext cx="164592" cy="164592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97FD589-2CC7-441A-8525-B3AFFF548D16}"/>
              </a:ext>
            </a:extLst>
          </p:cNvPr>
          <p:cNvSpPr>
            <a:spLocks noGrp="1"/>
          </p:cNvSpPr>
          <p:nvPr/>
        </p:nvSpPr>
        <p:spPr>
          <a:xfrm>
            <a:off x="6839712" y="2340864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4–6 subgoals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86095C0-289C-4C38-AC54-5055F4CE4772}"/>
              </a:ext>
            </a:extLst>
          </p:cNvPr>
          <p:cNvSpPr>
            <a:spLocks noGrp="1"/>
          </p:cNvSpPr>
          <p:nvPr/>
        </p:nvSpPr>
        <p:spPr>
          <a:xfrm>
            <a:off x="6839712" y="2578608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must connect into one final proof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9CE7EFD-EB22-4F23-ADB8-0F24F8489314}"/>
              </a:ext>
            </a:extLst>
          </p:cNvPr>
          <p:cNvSpPr>
            <a:spLocks noGrp="1"/>
          </p:cNvSpPr>
          <p:nvPr/>
        </p:nvSpPr>
        <p:spPr>
          <a:xfrm>
            <a:off x="6537960" y="3099816"/>
            <a:ext cx="164592" cy="164592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DA01EBE-AB12-4743-8BC5-990F65F559AC}"/>
              </a:ext>
            </a:extLst>
          </p:cNvPr>
          <p:cNvSpPr>
            <a:spLocks noGrp="1"/>
          </p:cNvSpPr>
          <p:nvPr/>
        </p:nvSpPr>
        <p:spPr>
          <a:xfrm>
            <a:off x="6839712" y="3035808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Return routes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0D70D7E-2419-4DEF-9E37-32BF4380D718}"/>
              </a:ext>
            </a:extLst>
          </p:cNvPr>
          <p:cNvSpPr>
            <a:spLocks noGrp="1"/>
          </p:cNvSpPr>
          <p:nvPr/>
        </p:nvSpPr>
        <p:spPr>
          <a:xfrm>
            <a:off x="6839712" y="3273552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agents can send work back for revision</a:t>
            </a:r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81ACB28-9CA0-406C-A2CB-AE47BBAD72C3}"/>
              </a:ext>
            </a:extLst>
          </p:cNvPr>
          <p:cNvSpPr>
            <a:spLocks noGrp="1"/>
          </p:cNvSpPr>
          <p:nvPr/>
        </p:nvSpPr>
        <p:spPr>
          <a:xfrm>
            <a:off x="6537960" y="3794760"/>
            <a:ext cx="164592" cy="164592"/>
          </a:xfrm>
          <a:prstGeom prst="ellipse">
            <a:avLst/>
          </a:prstGeom>
          <a:solidFill>
            <a:srgbClr val="D27B12"/>
          </a:solidFill>
          <a:ln w="0">
            <a:solidFill>
              <a:srgbClr val="D27B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D2E45F0-CD1B-40C8-B6BB-807510C76A61}"/>
              </a:ext>
            </a:extLst>
          </p:cNvPr>
          <p:cNvSpPr>
            <a:spLocks noGrp="1"/>
          </p:cNvSpPr>
          <p:nvPr/>
        </p:nvSpPr>
        <p:spPr>
          <a:xfrm>
            <a:off x="6839712" y="3730752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Up to 200 steps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01CEEE8-1204-44C2-A6ED-D86FD60A347C}"/>
              </a:ext>
            </a:extLst>
          </p:cNvPr>
          <p:cNvSpPr>
            <a:spLocks noGrp="1"/>
          </p:cNvSpPr>
          <p:nvPr/>
        </p:nvSpPr>
        <p:spPr>
          <a:xfrm>
            <a:off x="6839712" y="3968496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configured maximum per run</a:t>
            </a: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1C559F8-C02C-4E31-9680-94703A416446}"/>
              </a:ext>
            </a:extLst>
          </p:cNvPr>
          <p:cNvSpPr>
            <a:spLocks noGrp="1"/>
          </p:cNvSpPr>
          <p:nvPr/>
        </p:nvSpPr>
        <p:spPr>
          <a:xfrm>
            <a:off x="6537960" y="4489704"/>
            <a:ext cx="164592" cy="164592"/>
          </a:xfrm>
          <a:prstGeom prst="ellipse">
            <a:avLst/>
          </a:prstGeom>
          <a:solidFill>
            <a:srgbClr val="D27B12"/>
          </a:solidFill>
          <a:ln w="0">
            <a:solidFill>
              <a:srgbClr val="D27B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77BEC7C-1A84-4024-8A29-7C2A38F22ED9}"/>
              </a:ext>
            </a:extLst>
          </p:cNvPr>
          <p:cNvSpPr>
            <a:spLocks noGrp="1"/>
          </p:cNvSpPr>
          <p:nvPr/>
        </p:nvSpPr>
        <p:spPr>
          <a:xfrm>
            <a:off x="6839712" y="4425696"/>
            <a:ext cx="44805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0 / 20 verified</a:t>
            </a: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4091E88-5091-4E02-B14B-59A74EEC3874}"/>
              </a:ext>
            </a:extLst>
          </p:cNvPr>
          <p:cNvSpPr>
            <a:spLocks noGrp="1"/>
          </p:cNvSpPr>
          <p:nvPr/>
        </p:nvSpPr>
        <p:spPr>
          <a:xfrm>
            <a:off x="6839712" y="4663440"/>
            <a:ext cx="44805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no complete final proof</a:t>
            </a: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C6210D0-89BF-4850-A389-47AA53F720BC}"/>
              </a:ext>
            </a:extLst>
          </p:cNvPr>
          <p:cNvSpPr>
            <a:spLocks noGrp="1"/>
          </p:cNvSpPr>
          <p:nvPr/>
        </p:nvSpPr>
        <p:spPr>
          <a:xfrm>
            <a:off x="548640" y="553212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EAF1F5"/>
          </a:solidFill>
          <a:ln w="0">
            <a:solidFill>
              <a:srgbClr val="EAF1F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4E6DE31-BF1E-45E1-B45B-BBAD87C6EF75}"/>
              </a:ext>
            </a:extLst>
          </p:cNvPr>
          <p:cNvSpPr>
            <a:spLocks noGrp="1"/>
          </p:cNvSpPr>
          <p:nvPr/>
        </p:nvSpPr>
        <p:spPr>
          <a:xfrm>
            <a:off x="777240" y="5532120"/>
            <a:ext cx="106070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425" b="1" i="0">
                <a:solidFill>
                  <a:srgbClr val="0A789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Benchmark context: 10 easy · 10 medium · 10 hard tasks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00FAD84-3805-474F-A3EF-81CBF2E405B9}"/>
              </a:ext>
            </a:extLst>
          </p:cNvPr>
          <p:cNvSpPr>
            <a:spLocks noGrp="1"/>
          </p:cNvSpPr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FC652B21-DBA2-48A7-8EA0-634847694648}"/>
              </a:ext>
            </a:extLst>
          </p:cNvPr>
          <p:cNvSpPr>
            <a:spLocks noGrp="1"/>
          </p:cNvSpPr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65009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28064D-3EF2-4684-B58C-067E0683977E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Easy runs: forward-only collaboration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08D3F0-5D4D-48B1-A85B-C854FCAE5882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Reasoner → Engineer → Critic · no backward repair handoffs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23EF153-A298-4B34-8824-24676726EF5B}"/>
              </a:ext>
            </a:extLst>
          </p:cNvPr>
          <p:cNvSpPr>
            <a:spLocks noGrp="1"/>
          </p:cNvSpPr>
          <p:nvPr/>
        </p:nvSpPr>
        <p:spPr>
          <a:xfrm>
            <a:off x="548640" y="1572768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5F9FB"/>
          </a:solidFill>
          <a:ln w="12668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C219708-DE4B-4F12-B8D4-5AF4AB7DDC34}"/>
              </a:ext>
            </a:extLst>
          </p:cNvPr>
          <p:cNvSpPr>
            <a:spLocks noGrp="1"/>
          </p:cNvSpPr>
          <p:nvPr/>
        </p:nvSpPr>
        <p:spPr>
          <a:xfrm>
            <a:off x="777240" y="1883664"/>
            <a:ext cx="365760" cy="365760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40D5B2-4AAF-4EE0-B493-7DB42852FB91}"/>
              </a:ext>
            </a:extLst>
          </p:cNvPr>
          <p:cNvSpPr>
            <a:spLocks noGrp="1"/>
          </p:cNvSpPr>
          <p:nvPr/>
        </p:nvSpPr>
        <p:spPr>
          <a:xfrm>
            <a:off x="777240" y="18836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3801E0E-C247-486F-85E2-65E09008E71F}"/>
              </a:ext>
            </a:extLst>
          </p:cNvPr>
          <p:cNvSpPr>
            <a:spLocks noGrp="1"/>
          </p:cNvSpPr>
          <p:nvPr/>
        </p:nvSpPr>
        <p:spPr>
          <a:xfrm>
            <a:off x="1298448" y="17007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Forward only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EAC392C-618B-4DC3-BF58-121D7218C400}"/>
              </a:ext>
            </a:extLst>
          </p:cNvPr>
          <p:cNvSpPr>
            <a:spLocks noGrp="1"/>
          </p:cNvSpPr>
          <p:nvPr/>
        </p:nvSpPr>
        <p:spPr>
          <a:xfrm>
            <a:off x="1298448" y="1993392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97 / 100 traces were connected-linear.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10ED157-04B3-4E7B-9DBE-38D277A65CDB}"/>
              </a:ext>
            </a:extLst>
          </p:cNvPr>
          <p:cNvSpPr>
            <a:spLocks noGrp="1"/>
          </p:cNvSpPr>
          <p:nvPr/>
        </p:nvSpPr>
        <p:spPr>
          <a:xfrm>
            <a:off x="7269480" y="1737360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0 Engineer → Reasoner</a:t>
            </a:r>
          </a:p>
          <a:p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0 Critic → Engineer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97EF6E6-28AA-43C4-971A-059732D3B972}"/>
              </a:ext>
            </a:extLst>
          </p:cNvPr>
          <p:cNvSpPr>
            <a:spLocks noGrp="1"/>
          </p:cNvSpPr>
          <p:nvPr/>
        </p:nvSpPr>
        <p:spPr>
          <a:xfrm>
            <a:off x="548640" y="269748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AF1F5"/>
          </a:solidFill>
          <a:ln w="12668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D7C0D18-9BD6-46E0-BC6E-C16F04217E4D}"/>
              </a:ext>
            </a:extLst>
          </p:cNvPr>
          <p:cNvSpPr>
            <a:spLocks noGrp="1"/>
          </p:cNvSpPr>
          <p:nvPr/>
        </p:nvSpPr>
        <p:spPr>
          <a:xfrm>
            <a:off x="777240" y="3008376"/>
            <a:ext cx="365760" cy="365760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997108A-F7D4-41DF-B3D5-3DE10CED5EB0}"/>
              </a:ext>
            </a:extLst>
          </p:cNvPr>
          <p:cNvSpPr>
            <a:spLocks noGrp="1"/>
          </p:cNvSpPr>
          <p:nvPr/>
        </p:nvSpPr>
        <p:spPr>
          <a:xfrm>
            <a:off x="777240" y="300837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6A86AE5-C2F4-43CE-B187-A236DDF711DB}"/>
              </a:ext>
            </a:extLst>
          </p:cNvPr>
          <p:cNvSpPr>
            <a:spLocks noGrp="1"/>
          </p:cNvSpPr>
          <p:nvPr/>
        </p:nvSpPr>
        <p:spPr>
          <a:xfrm>
            <a:off x="1298448" y="28254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Repeated search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52911A9-E7F7-4027-85B9-A25540A5863B}"/>
              </a:ext>
            </a:extLst>
          </p:cNvPr>
          <p:cNvSpPr>
            <a:spLocks noGrp="1"/>
          </p:cNvSpPr>
          <p:nvPr/>
        </p:nvSpPr>
        <p:spPr>
          <a:xfrm>
            <a:off x="1298448" y="3118104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12 / 100 showed sustained search repetition.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CD8D3E0-7FA9-449C-A0F3-E9E9B2CD9147}"/>
              </a:ext>
            </a:extLst>
          </p:cNvPr>
          <p:cNvSpPr>
            <a:spLocks noGrp="1"/>
          </p:cNvSpPr>
          <p:nvPr/>
        </p:nvSpPr>
        <p:spPr>
          <a:xfrm>
            <a:off x="7269480" y="2862072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11 / 12 unsolved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4216668-0F0F-4E7B-B556-AE47C27C7E2C}"/>
              </a:ext>
            </a:extLst>
          </p:cNvPr>
          <p:cNvSpPr>
            <a:spLocks noGrp="1"/>
          </p:cNvSpPr>
          <p:nvPr/>
        </p:nvSpPr>
        <p:spPr>
          <a:xfrm>
            <a:off x="548640" y="3822192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5F9FB"/>
          </a:solidFill>
          <a:ln w="12668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3DD1B25-EDD5-4E21-B419-B3C4E25820E8}"/>
              </a:ext>
            </a:extLst>
          </p:cNvPr>
          <p:cNvSpPr>
            <a:spLocks noGrp="1"/>
          </p:cNvSpPr>
          <p:nvPr/>
        </p:nvSpPr>
        <p:spPr>
          <a:xfrm>
            <a:off x="777240" y="4133088"/>
            <a:ext cx="365760" cy="365760"/>
          </a:xfrm>
          <a:prstGeom prst="ellipse">
            <a:avLst/>
          </a:prstGeom>
          <a:solidFill>
            <a:srgbClr val="D27B12"/>
          </a:solidFill>
          <a:ln w="0">
            <a:solidFill>
              <a:srgbClr val="D27B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119C2A7-44BE-4B2E-9D59-250A4A2FC157}"/>
              </a:ext>
            </a:extLst>
          </p:cNvPr>
          <p:cNvSpPr>
            <a:spLocks noGrp="1"/>
          </p:cNvSpPr>
          <p:nvPr/>
        </p:nvSpPr>
        <p:spPr>
          <a:xfrm>
            <a:off x="777240" y="41330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71D6191-9C58-4B21-87C8-B1F22DA27424}"/>
              </a:ext>
            </a:extLst>
          </p:cNvPr>
          <p:cNvSpPr>
            <a:spLocks noGrp="1"/>
          </p:cNvSpPr>
          <p:nvPr/>
        </p:nvSpPr>
        <p:spPr>
          <a:xfrm>
            <a:off x="1298448" y="39502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Statement drift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D09EE05-D933-4558-BB4B-293CF83DB4D6}"/>
              </a:ext>
            </a:extLst>
          </p:cNvPr>
          <p:cNvSpPr>
            <a:spLocks noGrp="1"/>
          </p:cNvSpPr>
          <p:nvPr/>
        </p:nvSpPr>
        <p:spPr>
          <a:xfrm>
            <a:off x="1298448" y="4242816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5 / 100 Engineers changed the requested theorem.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7BE46C9-F40D-4845-941F-E5C8C31557CE}"/>
              </a:ext>
            </a:extLst>
          </p:cNvPr>
          <p:cNvSpPr>
            <a:spLocks noGrp="1"/>
          </p:cNvSpPr>
          <p:nvPr/>
        </p:nvSpPr>
        <p:spPr>
          <a:xfrm>
            <a:off x="7269480" y="3986784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350" b="1" i="0">
                <a:solidFill>
                  <a:srgbClr val="D27B12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4 / 5 silent failures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D9452EC-E940-40BD-8690-8B5E46109A9C}"/>
              </a:ext>
            </a:extLst>
          </p:cNvPr>
          <p:cNvSpPr>
            <a:spLocks noGrp="1"/>
          </p:cNvSpPr>
          <p:nvPr/>
        </p:nvSpPr>
        <p:spPr>
          <a:xfrm>
            <a:off x="548640" y="4946904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AF1F5"/>
          </a:solidFill>
          <a:ln w="12668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F6A628C-63D1-447D-926A-62C82FE7A7E0}"/>
              </a:ext>
            </a:extLst>
          </p:cNvPr>
          <p:cNvSpPr>
            <a:spLocks noGrp="1"/>
          </p:cNvSpPr>
          <p:nvPr/>
        </p:nvSpPr>
        <p:spPr>
          <a:xfrm>
            <a:off x="777240" y="5257800"/>
            <a:ext cx="365760" cy="365760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89255C4-CBA6-45C5-A407-151BBA3E725C}"/>
              </a:ext>
            </a:extLst>
          </p:cNvPr>
          <p:cNvSpPr>
            <a:spLocks noGrp="1"/>
          </p:cNvSpPr>
          <p:nvPr/>
        </p:nvSpPr>
        <p:spPr>
          <a:xfrm>
            <a:off x="777240" y="5257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DFF75D3-7109-42CB-AAF8-05C315165212}"/>
              </a:ext>
            </a:extLst>
          </p:cNvPr>
          <p:cNvSpPr>
            <a:spLocks noGrp="1"/>
          </p:cNvSpPr>
          <p:nvPr/>
        </p:nvSpPr>
        <p:spPr>
          <a:xfrm>
            <a:off x="1298448" y="50749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Approval by trust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A8FA2C6-755D-4F8C-86D4-A1AF526E143B}"/>
              </a:ext>
            </a:extLst>
          </p:cNvPr>
          <p:cNvSpPr>
            <a:spLocks noGrp="1"/>
          </p:cNvSpPr>
          <p:nvPr/>
        </p:nvSpPr>
        <p:spPr>
          <a:xfrm>
            <a:off x="1298448" y="5367528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30 / 59 approvals had zero Critic proof checks.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9EF7C47-6B31-4DC0-A9DA-7E8D50AA372F}"/>
              </a:ext>
            </a:extLst>
          </p:cNvPr>
          <p:cNvSpPr>
            <a:spLocks noGrp="1"/>
          </p:cNvSpPr>
          <p:nvPr/>
        </p:nvSpPr>
        <p:spPr>
          <a:xfrm>
            <a:off x="7269480" y="5111496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0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Changed theorem ✓ → Requested theorem ✕ → Approved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28FF805-3709-416D-A7EA-D1F227F3A48A}"/>
              </a:ext>
            </a:extLst>
          </p:cNvPr>
          <p:cNvSpPr>
            <a:spLocks noGrp="1"/>
          </p:cNvSpPr>
          <p:nvPr/>
        </p:nvSpPr>
        <p:spPr>
          <a:xfrm>
            <a:off x="7269480" y="1316736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  <a:def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Observed evidence →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FA05EA5-E82B-4D17-B94D-AC40E5F3701D}"/>
              </a:ext>
            </a:extLst>
          </p:cNvPr>
          <p:cNvSpPr>
            <a:spLocks noGrp="1"/>
          </p:cNvSpPr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6E5138B-342B-424B-AF29-D088FB9AA6E4}"/>
              </a:ext>
            </a:extLst>
          </p:cNvPr>
          <p:cNvSpPr>
            <a:spLocks noGrp="1"/>
          </p:cNvSpPr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sz="675">
                <a:solidFill>
                  <a:srgbClr val="B7C5D8"/>
                </a:solidFill>
              </a:defRPr>
            </a:pPr>
            <a:r>
              <a:rPr sz="675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35859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28064D-3EF2-4684-B58C-067E0683977E}"/>
              </a:ext>
            </a:extLst>
          </p:cNvPr>
          <p:cNvSpPr>
            <a:spLocks noGrp="1"/>
          </p:cNvSpPr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Medium runs: more communication, no completion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F08D3F0-5D4D-48B1-A85B-C854FCAE5882}"/>
              </a:ext>
            </a:extLst>
          </p:cNvPr>
          <p:cNvSpPr>
            <a:spLocks noGrp="1"/>
          </p:cNvSpPr>
          <p:nvPr/>
        </p:nvSpPr>
        <p:spPr>
          <a:xfrm>
            <a:off x="548640" y="1024128"/>
            <a:ext cx="1106424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617187"/>
                </a:solidFill>
                <a:latin typeface="Calibri"/>
                <a:ea typeface="Calibri"/>
                <a:cs typeface="Calibri"/>
              </a:rPr>
              <a:t>20 runs · 2 tasks × 10 trials · up to 200 agent steps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23EF153-A298-4B34-8824-24676726EF5B}"/>
              </a:ext>
            </a:extLst>
          </p:cNvPr>
          <p:cNvSpPr>
            <a:spLocks noGrp="1"/>
          </p:cNvSpPr>
          <p:nvPr/>
        </p:nvSpPr>
        <p:spPr>
          <a:xfrm>
            <a:off x="548640" y="1572768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21295C"/>
          </a:solidFill>
          <a:ln w="12668">
            <a:solidFill>
              <a:srgbClr val="2129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C219708-DE4B-4F12-B8D4-5AF4AB7DDC34}"/>
              </a:ext>
            </a:extLst>
          </p:cNvPr>
          <p:cNvSpPr>
            <a:spLocks noGrp="1"/>
          </p:cNvSpPr>
          <p:nvPr/>
        </p:nvSpPr>
        <p:spPr>
          <a:xfrm>
            <a:off x="777240" y="1883664"/>
            <a:ext cx="365760" cy="365760"/>
          </a:xfrm>
          <a:prstGeom prst="ellipse">
            <a:avLst/>
          </a:prstGeom>
          <a:solidFill>
            <a:srgbClr val="D27B12"/>
          </a:solidFill>
          <a:ln w="0">
            <a:solidFill>
              <a:srgbClr val="D27B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A40D5B2-4AAF-4EE0-B493-7DB42852FB91}"/>
              </a:ext>
            </a:extLst>
          </p:cNvPr>
          <p:cNvSpPr>
            <a:spLocks noGrp="1"/>
          </p:cNvSpPr>
          <p:nvPr/>
        </p:nvSpPr>
        <p:spPr>
          <a:xfrm>
            <a:off x="777240" y="18836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3801E0E-C247-486F-85E2-65E09008E71F}"/>
              </a:ext>
            </a:extLst>
          </p:cNvPr>
          <p:cNvSpPr>
            <a:spLocks noGrp="1"/>
          </p:cNvSpPr>
          <p:nvPr/>
        </p:nvSpPr>
        <p:spPr>
          <a:xfrm>
            <a:off x="1298448" y="1682496"/>
            <a:ext cx="1008583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20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0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15 / 89 subgoals finished (17%) → 0 final proofs verified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EAC392C-618B-4DC3-BF58-121D7218C400}"/>
              </a:ext>
            </a:extLst>
          </p:cNvPr>
          <p:cNvSpPr>
            <a:spLocks noGrp="1"/>
          </p:cNvSpPr>
          <p:nvPr/>
        </p:nvSpPr>
        <p:spPr>
          <a:xfrm>
            <a:off x="1298448" y="2176272"/>
            <a:ext cx="7818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0" i="1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“Finished” = accepted by the workflow ledger, not independently proved.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10ED157-04B3-4E7B-9DBE-38D277A65CDB}"/>
              </a:ext>
            </a:extLst>
          </p:cNvPr>
          <p:cNvSpPr>
            <a:spLocks noGrp="1"/>
          </p:cNvSpPr>
          <p:nvPr/>
        </p:nvSpPr>
        <p:spPr>
          <a:xfrm>
            <a:off x="9281160" y="2176272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  <a:def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independent final check</a:t>
            </a: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97EF6E6-28AA-43C4-971A-059732D3B972}"/>
              </a:ext>
            </a:extLst>
          </p:cNvPr>
          <p:cNvSpPr>
            <a:spLocks noGrp="1"/>
          </p:cNvSpPr>
          <p:nvPr/>
        </p:nvSpPr>
        <p:spPr>
          <a:xfrm>
            <a:off x="548640" y="269748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AF1F5"/>
          </a:solidFill>
          <a:ln w="12668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D7C0D18-9BD6-46E0-BC6E-C16F04217E4D}"/>
              </a:ext>
            </a:extLst>
          </p:cNvPr>
          <p:cNvSpPr>
            <a:spLocks noGrp="1"/>
          </p:cNvSpPr>
          <p:nvPr/>
        </p:nvSpPr>
        <p:spPr>
          <a:xfrm>
            <a:off x="777240" y="3008376"/>
            <a:ext cx="365760" cy="365760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997108A-F7D4-41DF-B3D5-3DE10CED5EB0}"/>
              </a:ext>
            </a:extLst>
          </p:cNvPr>
          <p:cNvSpPr>
            <a:spLocks noGrp="1"/>
          </p:cNvSpPr>
          <p:nvPr/>
        </p:nvSpPr>
        <p:spPr>
          <a:xfrm>
            <a:off x="777240" y="300837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6A86AE5-C2F4-43CE-B187-A236DDF711DB}"/>
              </a:ext>
            </a:extLst>
          </p:cNvPr>
          <p:cNvSpPr>
            <a:spLocks noGrp="1"/>
          </p:cNvSpPr>
          <p:nvPr/>
        </p:nvSpPr>
        <p:spPr>
          <a:xfrm>
            <a:off x="1298448" y="282549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13 / 20 · run limit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52911A9-E7F7-4027-85B9-A25540A5863B}"/>
              </a:ext>
            </a:extLst>
          </p:cNvPr>
          <p:cNvSpPr>
            <a:spLocks noGrp="1"/>
          </p:cNvSpPr>
          <p:nvPr/>
        </p:nvSpPr>
        <p:spPr>
          <a:xfrm>
            <a:off x="1298448" y="3118104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Reached their configured run limit.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CD8D3E0-7FA9-449C-A0F3-E9E9B2CD9147}"/>
              </a:ext>
            </a:extLst>
          </p:cNvPr>
          <p:cNvSpPr>
            <a:spLocks noGrp="1"/>
          </p:cNvSpPr>
          <p:nvPr/>
        </p:nvSpPr>
        <p:spPr>
          <a:xfrm>
            <a:off x="7269480" y="2862072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Up to 200 agent steps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4216668-0F0F-4E7B-B556-AE47C27C7E2C}"/>
              </a:ext>
            </a:extLst>
          </p:cNvPr>
          <p:cNvSpPr>
            <a:spLocks noGrp="1"/>
          </p:cNvSpPr>
          <p:nvPr/>
        </p:nvSpPr>
        <p:spPr>
          <a:xfrm>
            <a:off x="548640" y="3822192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5F9FB"/>
          </a:solidFill>
          <a:ln w="12668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3DD1B25-EDD5-4E21-B419-B3C4E25820E8}"/>
              </a:ext>
            </a:extLst>
          </p:cNvPr>
          <p:cNvSpPr>
            <a:spLocks noGrp="1"/>
          </p:cNvSpPr>
          <p:nvPr/>
        </p:nvSpPr>
        <p:spPr>
          <a:xfrm>
            <a:off x="777240" y="4133088"/>
            <a:ext cx="365760" cy="365760"/>
          </a:xfrm>
          <a:prstGeom prst="ellipse">
            <a:avLst/>
          </a:prstGeom>
          <a:solidFill>
            <a:srgbClr val="D27B12"/>
          </a:solidFill>
          <a:ln w="0">
            <a:solidFill>
              <a:srgbClr val="D27B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119C2A7-44BE-4B2E-9D59-250A4A2FC157}"/>
              </a:ext>
            </a:extLst>
          </p:cNvPr>
          <p:cNvSpPr>
            <a:spLocks noGrp="1"/>
          </p:cNvSpPr>
          <p:nvPr/>
        </p:nvSpPr>
        <p:spPr>
          <a:xfrm>
            <a:off x="777240" y="41330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71D6191-9C58-4B21-87C8-B1F22DA27424}"/>
              </a:ext>
            </a:extLst>
          </p:cNvPr>
          <p:cNvSpPr>
            <a:spLocks noGrp="1"/>
          </p:cNvSpPr>
          <p:nvPr/>
        </p:nvSpPr>
        <p:spPr>
          <a:xfrm>
            <a:off x="1298448" y="39502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5 / 20 · repeated search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D09EE05-D933-4558-BB4B-293CF83DB4D6}"/>
              </a:ext>
            </a:extLst>
          </p:cNvPr>
          <p:cNvSpPr>
            <a:spLocks noGrp="1"/>
          </p:cNvSpPr>
          <p:nvPr/>
        </p:nvSpPr>
        <p:spPr>
          <a:xfrm>
            <a:off x="1298448" y="4242816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Entered hand-reviewed search / recovery loops.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7BE46C9-F40D-4845-941F-E5C8C31557CE}"/>
              </a:ext>
            </a:extLst>
          </p:cNvPr>
          <p:cNvSpPr>
            <a:spLocks noGrp="1"/>
          </p:cNvSpPr>
          <p:nvPr/>
        </p:nvSpPr>
        <p:spPr>
          <a:xfrm>
            <a:off x="7269480" y="3986784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350" b="1" i="0">
                <a:solidFill>
                  <a:srgbClr val="D27B12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D27B12"/>
                </a:solidFill>
                <a:latin typeface="Calibri"/>
                <a:ea typeface="Calibri"/>
                <a:cs typeface="Calibri"/>
              </a:rPr>
              <a:t>4 / 5 reached the limit</a:t>
            </a: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D9452EC-E940-40BD-8690-8B5E46109A9C}"/>
              </a:ext>
            </a:extLst>
          </p:cNvPr>
          <p:cNvSpPr>
            <a:spLocks noGrp="1"/>
          </p:cNvSpPr>
          <p:nvPr/>
        </p:nvSpPr>
        <p:spPr>
          <a:xfrm>
            <a:off x="548640" y="4946904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AF1F5"/>
          </a:solidFill>
          <a:ln w="12668">
            <a:solidFill>
              <a:srgbClr val="D6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F6A628C-63D1-447D-926A-62C82FE7A7E0}"/>
              </a:ext>
            </a:extLst>
          </p:cNvPr>
          <p:cNvSpPr>
            <a:spLocks noGrp="1"/>
          </p:cNvSpPr>
          <p:nvPr/>
        </p:nvSpPr>
        <p:spPr>
          <a:xfrm>
            <a:off x="777240" y="5257800"/>
            <a:ext cx="365760" cy="365760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89255C4-CBA6-45C5-A407-151BBA3E725C}"/>
              </a:ext>
            </a:extLst>
          </p:cNvPr>
          <p:cNvSpPr>
            <a:spLocks noGrp="1"/>
          </p:cNvSpPr>
          <p:nvPr/>
        </p:nvSpPr>
        <p:spPr>
          <a:xfrm>
            <a:off x="777240" y="52578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DFF75D3-7109-42CB-AAF8-05C315165212}"/>
              </a:ext>
            </a:extLst>
          </p:cNvPr>
          <p:cNvSpPr>
            <a:spLocks noGrp="1"/>
          </p:cNvSpPr>
          <p:nvPr/>
        </p:nvSpPr>
        <p:spPr>
          <a:xfrm>
            <a:off x="1298448" y="50749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252E63"/>
                </a:solidFill>
                <a:latin typeface="Cambria"/>
                <a:ea typeface="Cambria"/>
                <a:cs typeface="Cambria"/>
              </a:rPr>
              <a:t>4 / 20 · misaligned subgoal</a:t>
            </a: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A8FA2C6-755D-4F8C-86D4-A1AF526E143B}"/>
              </a:ext>
            </a:extLst>
          </p:cNvPr>
          <p:cNvSpPr>
            <a:spLocks noGrp="1"/>
          </p:cNvSpPr>
          <p:nvPr/>
        </p:nvSpPr>
        <p:spPr>
          <a:xfrm>
            <a:off x="1298448" y="5367528"/>
            <a:ext cx="5669280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3446"/>
                </a:solidFill>
                <a:latin typeface="Calibri"/>
                <a:ea typeface="Calibri"/>
                <a:cs typeface="Calibri"/>
              </a:rPr>
              <a:t>Worked on a local objective that did not match the needed proof step.</a:t>
            </a: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9EF7C47-6B31-4DC0-A9DA-7E8D50AA372F}"/>
              </a:ext>
            </a:extLst>
          </p:cNvPr>
          <p:cNvSpPr>
            <a:spLocks noGrp="1"/>
          </p:cNvSpPr>
          <p:nvPr/>
        </p:nvSpPr>
        <p:spPr>
          <a:xfrm>
            <a:off x="7269480" y="5111496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0 final proofs verified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28FF805-3709-416D-A7EA-D1F227F3A48A}"/>
              </a:ext>
            </a:extLst>
          </p:cNvPr>
          <p:cNvSpPr>
            <a:spLocks noGrp="1"/>
          </p:cNvSpPr>
          <p:nvPr/>
        </p:nvSpPr>
        <p:spPr>
          <a:xfrm>
            <a:off x="7269480" y="1316736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  <a:def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Main result →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FA05EA5-E82B-4D17-B94D-AC40E5F3701D}"/>
              </a:ext>
            </a:extLst>
          </p:cNvPr>
          <p:cNvSpPr>
            <a:spLocks noGrp="1"/>
          </p:cNvSpPr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00">
                <a:solidFill>
                  <a:srgbClr val="9AA7B2"/>
                </a:solidFill>
                <a:latin typeface="Calibri"/>
                <a:ea typeface="Calibri"/>
                <a:cs typeface="Calibri"/>
              </a:rPr>
              <a:t>traj-eval  ·  NLP Lab SS2026</a:t>
            </a: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6E5138B-342B-424B-AF29-D088FB9AA6E4}"/>
              </a:ext>
            </a:extLst>
          </p:cNvPr>
          <p:cNvSpPr>
            <a:spLocks noGrp="1"/>
          </p:cNvSpPr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r">
              <a:buNone/>
              <a:defRPr sz="67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67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35859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3E944E-AC28-491A-AAC6-BA3D4F83ED98}"/>
              </a:ext>
            </a:extLst>
          </p:cNvPr>
          <p:cNvSpPr>
            <a:spLocks noGrp="1"/>
          </p:cNvSpPr>
          <p:nvPr/>
        </p:nvSpPr>
        <p:spPr>
          <a:xfrm>
            <a:off x="548640" y="310896"/>
            <a:ext cx="110642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What we test next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DC9795F-487B-445C-B397-024F669B6D39}"/>
              </a:ext>
            </a:extLst>
          </p:cNvPr>
          <p:cNvSpPr>
            <a:spLocks noGrp="1"/>
          </p:cNvSpPr>
          <p:nvPr/>
        </p:nvSpPr>
        <p:spPr>
          <a:xfrm>
            <a:off x="548640" y="804672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75" b="0" i="1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275" b="0" i="1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Matched experiments turn observed problems into testable design choices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1EADDFB-DEAD-4295-B196-141874ACD827}"/>
              </a:ext>
            </a:extLst>
          </p:cNvPr>
          <p:cNvSpPr>
            <a:spLocks noGrp="1"/>
          </p:cNvSpPr>
          <p:nvPr/>
        </p:nvSpPr>
        <p:spPr>
          <a:xfrm>
            <a:off x="548640" y="120700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1A2350"/>
          </a:solidFill>
          <a:ln w="0">
            <a:solidFill>
              <a:srgbClr val="1A23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42B73E0-CDA7-4489-AB6F-BFECF4792D12}"/>
              </a:ext>
            </a:extLst>
          </p:cNvPr>
          <p:cNvSpPr>
            <a:spLocks noGrp="1"/>
          </p:cNvSpPr>
          <p:nvPr/>
        </p:nvSpPr>
        <p:spPr>
          <a:xfrm>
            <a:off x="804672" y="131673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NEXT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BD42F05-A5D6-4D00-9932-E7E3DFD1D74C}"/>
              </a:ext>
            </a:extLst>
          </p:cNvPr>
          <p:cNvSpPr>
            <a:spLocks noGrp="1"/>
          </p:cNvSpPr>
          <p:nvPr/>
        </p:nvSpPr>
        <p:spPr>
          <a:xfrm>
            <a:off x="804672" y="1636776"/>
            <a:ext cx="137160" cy="137160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C4A2672-DD64-4F30-9480-F3382BB70F4F}"/>
              </a:ext>
            </a:extLst>
          </p:cNvPr>
          <p:cNvSpPr>
            <a:spLocks noGrp="1"/>
          </p:cNvSpPr>
          <p:nvPr/>
        </p:nvSpPr>
        <p:spPr>
          <a:xfrm>
            <a:off x="1060704" y="155448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Compare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2FC9A39-B549-4797-B6F8-9030896A679C}"/>
              </a:ext>
            </a:extLst>
          </p:cNvPr>
          <p:cNvSpPr>
            <a:spLocks noGrp="1"/>
          </p:cNvSpPr>
          <p:nvPr/>
        </p:nvSpPr>
        <p:spPr>
          <a:xfrm>
            <a:off x="1060704" y="178308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· models · tools · frameworks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832F7F5-4177-4852-9B3F-12403F84CF97}"/>
              </a:ext>
            </a:extLst>
          </p:cNvPr>
          <p:cNvSpPr>
            <a:spLocks noGrp="1"/>
          </p:cNvSpPr>
          <p:nvPr/>
        </p:nvSpPr>
        <p:spPr>
          <a:xfrm>
            <a:off x="4416552" y="1636776"/>
            <a:ext cx="137160" cy="137160"/>
          </a:xfrm>
          <a:prstGeom prst="ellipse">
            <a:avLst/>
          </a:prstGeom>
          <a:solidFill>
            <a:schemeClr val="accent2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>
              <a:solidFill>
                <a:schemeClr val="accent2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91ABC7F-92D9-433D-AF76-80FE6E06E891}"/>
              </a:ext>
            </a:extLst>
          </p:cNvPr>
          <p:cNvSpPr>
            <a:spLocks noGrp="1"/>
          </p:cNvSpPr>
          <p:nvPr/>
        </p:nvSpPr>
        <p:spPr>
          <a:xfrm>
            <a:off x="4672584" y="1554480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Scale evidence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1EDF1F5-24FE-479F-BF43-FDE4247EF8DA}"/>
              </a:ext>
            </a:extLst>
          </p:cNvPr>
          <p:cNvSpPr>
            <a:spLocks noGrp="1"/>
          </p:cNvSpPr>
          <p:nvPr/>
        </p:nvSpPr>
        <p:spPr>
          <a:xfrm>
            <a:off x="4672584" y="1783080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JSON metrics → human / LLM review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3290026-FF79-4113-89E0-460434BE2BE1}"/>
              </a:ext>
            </a:extLst>
          </p:cNvPr>
          <p:cNvSpPr>
            <a:spLocks noGrp="1"/>
          </p:cNvSpPr>
          <p:nvPr/>
        </p:nvSpPr>
        <p:spPr>
          <a:xfrm>
            <a:off x="7778220" y="1578587"/>
            <a:ext cx="137160" cy="137160"/>
          </a:xfrm>
          <a:prstGeom prst="ellipse">
            <a:avLst/>
          </a:prstGeom>
          <a:solidFill>
            <a:srgbClr val="FF0000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8121C2A-619A-450B-8738-816B714C5BAE}"/>
              </a:ext>
            </a:extLst>
          </p:cNvPr>
          <p:cNvSpPr>
            <a:spLocks noGrp="1"/>
          </p:cNvSpPr>
          <p:nvPr/>
        </p:nvSpPr>
        <p:spPr>
          <a:xfrm>
            <a:off x="8034252" y="1496291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Transfer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1983828-7450-44ED-A1B2-9D54BF601B78}"/>
              </a:ext>
            </a:extLst>
          </p:cNvPr>
          <p:cNvSpPr>
            <a:spLocks noGrp="1"/>
          </p:cNvSpPr>
          <p:nvPr/>
        </p:nvSpPr>
        <p:spPr>
          <a:xfrm>
            <a:off x="8034252" y="1724891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STARGAZER astrophysics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3ED05E5-B7E6-4BA9-8B11-F7127EF8B2D9}"/>
              </a:ext>
            </a:extLst>
          </p:cNvPr>
          <p:cNvSpPr>
            <a:spLocks noGrp="1"/>
          </p:cNvSpPr>
          <p:nvPr/>
        </p:nvSpPr>
        <p:spPr>
          <a:xfrm>
            <a:off x="548640" y="226771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500" b="1" i="0">
                <a:solidFill>
                  <a:srgbClr val="0A789F"/>
                </a:solidFill>
                <a:latin typeface="Cambria"/>
                <a:ea typeface="Cambria"/>
                <a:cs typeface="Cambria"/>
              </a:defRPr>
            </a:pPr>
            <a:r>
              <a:rPr sz="1500" b="1" i="0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Three next moves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958B6FD-0EC1-4E8D-B114-49B82FC26D95}"/>
              </a:ext>
            </a:extLst>
          </p:cNvPr>
          <p:cNvSpPr>
            <a:spLocks noGrp="1"/>
          </p:cNvSpPr>
          <p:nvPr/>
        </p:nvSpPr>
        <p:spPr>
          <a:xfrm>
            <a:off x="3703320" y="2304288"/>
            <a:ext cx="790956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00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Same tasks · matched budgets · independent verification</a:t>
            </a: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CDE5CD4-D437-40D4-AA38-58161A301EDE}"/>
              </a:ext>
            </a:extLst>
          </p:cNvPr>
          <p:cNvSpPr>
            <a:spLocks noGrp="1"/>
          </p:cNvSpPr>
          <p:nvPr/>
        </p:nvSpPr>
        <p:spPr>
          <a:xfrm>
            <a:off x="548640" y="2633472"/>
            <a:ext cx="5440680" cy="1426464"/>
          </a:xfrm>
          <a:prstGeom prst="roundRect">
            <a:avLst>
              <a:gd name="adj" fmla="val 5128"/>
            </a:avLst>
          </a:prstGeom>
          <a:solidFill>
            <a:srgbClr val="2C3568"/>
          </a:solidFill>
          <a:ln w="0">
            <a:solidFill>
              <a:srgbClr val="2C3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C9FF2F7-BF9F-40BD-A1DB-2A896B476F03}"/>
              </a:ext>
            </a:extLst>
          </p:cNvPr>
          <p:cNvSpPr>
            <a:spLocks noGrp="1"/>
          </p:cNvSpPr>
          <p:nvPr/>
        </p:nvSpPr>
        <p:spPr>
          <a:xfrm>
            <a:off x="786384" y="2816352"/>
            <a:ext cx="347472" cy="347472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C68829-A68B-4DD3-874C-C0DAC41BC2D4}"/>
              </a:ext>
            </a:extLst>
          </p:cNvPr>
          <p:cNvSpPr>
            <a:spLocks noGrp="1"/>
          </p:cNvSpPr>
          <p:nvPr/>
        </p:nvSpPr>
        <p:spPr>
          <a:xfrm>
            <a:off x="786384" y="281635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E22AE2C-3D7A-4F1E-8787-4BC0EEA57BBE}"/>
              </a:ext>
            </a:extLst>
          </p:cNvPr>
          <p:cNvSpPr>
            <a:spLocks noGrp="1"/>
          </p:cNvSpPr>
          <p:nvPr/>
        </p:nvSpPr>
        <p:spPr>
          <a:xfrm>
            <a:off x="1261872" y="2788920"/>
            <a:ext cx="4526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Matched comparisons</a:t>
            </a:r>
            <a:r>
              <a:rPr lang="en-US" sz="1425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</a:t>
            </a:r>
            <a:endParaRPr sz="1425" b="1" i="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0617554-8114-4361-B51B-538886140719}"/>
              </a:ext>
            </a:extLst>
          </p:cNvPr>
          <p:cNvSpPr>
            <a:spLocks noGrp="1"/>
          </p:cNvSpPr>
          <p:nvPr/>
        </p:nvSpPr>
        <p:spPr>
          <a:xfrm>
            <a:off x="1261872" y="3035808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one variable at a time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5DD6135-ACEF-49BC-AA02-2C9808D20BA8}"/>
              </a:ext>
            </a:extLst>
          </p:cNvPr>
          <p:cNvSpPr>
            <a:spLocks noGrp="1"/>
          </p:cNvSpPr>
          <p:nvPr/>
        </p:nvSpPr>
        <p:spPr>
          <a:xfrm>
            <a:off x="1261872" y="3291840"/>
            <a:ext cx="45262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Compare models, tools, and frameworks on the same tasks and budgets.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B8D7969-CAFF-4839-B711-24A0B387BE79}"/>
              </a:ext>
            </a:extLst>
          </p:cNvPr>
          <p:cNvSpPr>
            <a:spLocks noGrp="1"/>
          </p:cNvSpPr>
          <p:nvPr/>
        </p:nvSpPr>
        <p:spPr>
          <a:xfrm>
            <a:off x="6202682" y="4206240"/>
            <a:ext cx="5440680" cy="1426464"/>
          </a:xfrm>
          <a:prstGeom prst="roundRect">
            <a:avLst>
              <a:gd name="adj" fmla="val 5128"/>
            </a:avLst>
          </a:prstGeom>
          <a:solidFill>
            <a:srgbClr val="313A72"/>
          </a:solidFill>
          <a:ln w="0">
            <a:solidFill>
              <a:srgbClr val="313A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10761FD-B8ED-41D4-8216-8F383BDB11AE}"/>
              </a:ext>
            </a:extLst>
          </p:cNvPr>
          <p:cNvSpPr>
            <a:spLocks noGrp="1"/>
          </p:cNvSpPr>
          <p:nvPr/>
        </p:nvSpPr>
        <p:spPr>
          <a:xfrm>
            <a:off x="6495290" y="4389120"/>
            <a:ext cx="347472" cy="347472"/>
          </a:xfrm>
          <a:prstGeom prst="ellipse">
            <a:avLst/>
          </a:prstGeom>
          <a:solidFill>
            <a:srgbClr val="1C7293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FE28656-D320-442C-9349-46CEC86F0961}"/>
              </a:ext>
            </a:extLst>
          </p:cNvPr>
          <p:cNvSpPr>
            <a:spLocks noGrp="1"/>
          </p:cNvSpPr>
          <p:nvPr/>
        </p:nvSpPr>
        <p:spPr>
          <a:xfrm>
            <a:off x="6495290" y="43891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lang="en-US" sz="135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1350" b="1" i="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F27A3A9-ABDE-45FA-85F8-181BB50C573A}"/>
              </a:ext>
            </a:extLst>
          </p:cNvPr>
          <p:cNvSpPr>
            <a:spLocks noGrp="1"/>
          </p:cNvSpPr>
          <p:nvPr/>
        </p:nvSpPr>
        <p:spPr>
          <a:xfrm>
            <a:off x="6970778" y="4361688"/>
            <a:ext cx="4526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Parallel agents</a:t>
            </a:r>
            <a:r>
              <a:rPr lang="en-US" sz="1425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on difficult tasks</a:t>
            </a:r>
            <a:endParaRPr sz="1425" b="1" i="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CC486CB-C103-48D3-86A9-53CD5D68FC02}"/>
              </a:ext>
            </a:extLst>
          </p:cNvPr>
          <p:cNvSpPr>
            <a:spLocks noGrp="1"/>
          </p:cNvSpPr>
          <p:nvPr/>
        </p:nvSpPr>
        <p:spPr>
          <a:xfrm>
            <a:off x="6970778" y="4608576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equal-budget subagents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4908696-97C5-4775-A283-B464A8E19B72}"/>
              </a:ext>
            </a:extLst>
          </p:cNvPr>
          <p:cNvSpPr>
            <a:spLocks noGrp="1"/>
          </p:cNvSpPr>
          <p:nvPr/>
        </p:nvSpPr>
        <p:spPr>
          <a:xfrm>
            <a:off x="6970778" y="4864608"/>
            <a:ext cx="45262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Test whether parallel Engineers</a:t>
            </a:r>
            <a:r>
              <a:rPr lang="en-US"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 on medium and difficult tasks</a:t>
            </a:r>
            <a:r>
              <a:rPr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gives more failure modes</a:t>
            </a:r>
            <a:endParaRPr sz="1125" b="0" i="0" dirty="0">
              <a:solidFill>
                <a:srgbClr val="B7C5D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C457E99-8EA4-4666-BE79-65CF7B1951F2}"/>
              </a:ext>
            </a:extLst>
          </p:cNvPr>
          <p:cNvSpPr>
            <a:spLocks noGrp="1"/>
          </p:cNvSpPr>
          <p:nvPr/>
        </p:nvSpPr>
        <p:spPr>
          <a:xfrm>
            <a:off x="548640" y="4206240"/>
            <a:ext cx="5440680" cy="1426464"/>
          </a:xfrm>
          <a:prstGeom prst="roundRect">
            <a:avLst>
              <a:gd name="adj" fmla="val 5128"/>
            </a:avLst>
          </a:prstGeom>
          <a:solidFill>
            <a:srgbClr val="2C3568"/>
          </a:solidFill>
          <a:ln w="0">
            <a:solidFill>
              <a:srgbClr val="2C356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53079BF-93B1-4E74-ACF5-12CBA6612574}"/>
              </a:ext>
            </a:extLst>
          </p:cNvPr>
          <p:cNvSpPr>
            <a:spLocks noGrp="1"/>
          </p:cNvSpPr>
          <p:nvPr/>
        </p:nvSpPr>
        <p:spPr>
          <a:xfrm>
            <a:off x="786384" y="4389120"/>
            <a:ext cx="347472" cy="347472"/>
          </a:xfrm>
          <a:prstGeom prst="ellipse">
            <a:avLst/>
          </a:prstGeom>
          <a:solidFill>
            <a:schemeClr val="accent2"/>
          </a:solidFill>
          <a:ln w="0">
            <a:solidFill>
              <a:srgbClr val="D27B1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B6E5787B-F88F-4A1D-91A7-463F39217ABA}"/>
              </a:ext>
            </a:extLst>
          </p:cNvPr>
          <p:cNvSpPr>
            <a:spLocks noGrp="1"/>
          </p:cNvSpPr>
          <p:nvPr/>
        </p:nvSpPr>
        <p:spPr>
          <a:xfrm>
            <a:off x="786384" y="43891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35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6ECC57F-E6AB-41AD-8407-E6FE808908AD}"/>
              </a:ext>
            </a:extLst>
          </p:cNvPr>
          <p:cNvSpPr>
            <a:spLocks noGrp="1"/>
          </p:cNvSpPr>
          <p:nvPr/>
        </p:nvSpPr>
        <p:spPr>
          <a:xfrm>
            <a:off x="1261872" y="4361688"/>
            <a:ext cx="4526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Evidence pipeline</a:t>
            </a: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4084B66-6CC0-4CAD-8581-FE46F6211410}"/>
              </a:ext>
            </a:extLst>
          </p:cNvPr>
          <p:cNvSpPr>
            <a:spLocks noGrp="1"/>
          </p:cNvSpPr>
          <p:nvPr/>
        </p:nvSpPr>
        <p:spPr>
          <a:xfrm>
            <a:off x="1261872" y="4608576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1" i="0">
                <a:solidFill>
                  <a:srgbClr val="F0B35A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F0B35A"/>
                </a:solidFill>
                <a:latin typeface="Calibri"/>
                <a:ea typeface="Calibri"/>
                <a:cs typeface="Calibri"/>
              </a:rPr>
              <a:t>JSON → review → dashboard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A4DE109-E5F1-49F9-8638-C1448AAD1BF7}"/>
              </a:ext>
            </a:extLst>
          </p:cNvPr>
          <p:cNvSpPr>
            <a:spLocks noGrp="1"/>
          </p:cNvSpPr>
          <p:nvPr/>
        </p:nvSpPr>
        <p:spPr>
          <a:xfrm>
            <a:off x="1261872" y="4864608"/>
            <a:ext cx="452628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Automate metrics, </a:t>
            </a:r>
            <a:r>
              <a:rPr lang="en-US"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 Dashboard visual inspection of </a:t>
            </a:r>
            <a:r>
              <a:rPr lang="en-US" sz="1125" b="0" i="0" dirty="0" err="1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json</a:t>
            </a:r>
            <a:r>
              <a:rPr lang="en-US"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 trace</a:t>
            </a:r>
            <a:endParaRPr sz="1125" b="0" i="0" dirty="0">
              <a:solidFill>
                <a:srgbClr val="B7C5D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46BAFBCF-7627-4E95-B90F-786A6076E05C}"/>
              </a:ext>
            </a:extLst>
          </p:cNvPr>
          <p:cNvSpPr>
            <a:spLocks noGrp="1"/>
          </p:cNvSpPr>
          <p:nvPr/>
        </p:nvSpPr>
        <p:spPr>
          <a:xfrm>
            <a:off x="6202682" y="2587752"/>
            <a:ext cx="5440680" cy="1426464"/>
          </a:xfrm>
          <a:prstGeom prst="roundRect">
            <a:avLst>
              <a:gd name="adj" fmla="val 5128"/>
            </a:avLst>
          </a:prstGeom>
          <a:solidFill>
            <a:srgbClr val="313A72"/>
          </a:solidFill>
          <a:ln w="0">
            <a:solidFill>
              <a:srgbClr val="313A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9458F30-6388-4185-87C5-49B5602330CA}"/>
              </a:ext>
            </a:extLst>
          </p:cNvPr>
          <p:cNvSpPr>
            <a:spLocks noGrp="1"/>
          </p:cNvSpPr>
          <p:nvPr/>
        </p:nvSpPr>
        <p:spPr>
          <a:xfrm>
            <a:off x="6510528" y="2747356"/>
            <a:ext cx="347472" cy="347472"/>
          </a:xfrm>
          <a:prstGeom prst="ellipse">
            <a:avLst/>
          </a:prstGeom>
          <a:solidFill>
            <a:srgbClr val="FF0000"/>
          </a:solidFill>
          <a:ln w="0">
            <a:solidFill>
              <a:srgbClr val="1C729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70DFC88-660C-48EE-9E19-7D9E64550E09}"/>
              </a:ext>
            </a:extLst>
          </p:cNvPr>
          <p:cNvSpPr>
            <a:spLocks noGrp="1"/>
          </p:cNvSpPr>
          <p:nvPr/>
        </p:nvSpPr>
        <p:spPr>
          <a:xfrm>
            <a:off x="6510528" y="27340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 sz="13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lang="en-US" sz="1350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1350" b="1" i="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84B9FFB-F6F7-49CE-9260-C7C854ACCE72}"/>
              </a:ext>
            </a:extLst>
          </p:cNvPr>
          <p:cNvSpPr>
            <a:spLocks noGrp="1"/>
          </p:cNvSpPr>
          <p:nvPr/>
        </p:nvSpPr>
        <p:spPr>
          <a:xfrm>
            <a:off x="7050856" y="2752344"/>
            <a:ext cx="4526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4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425" b="1" i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Astrophysics transfer</a:t>
            </a: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3FD34546-326B-40D9-9436-B96D45AA379C}"/>
              </a:ext>
            </a:extLst>
          </p:cNvPr>
          <p:cNvSpPr>
            <a:spLocks noGrp="1"/>
          </p:cNvSpPr>
          <p:nvPr/>
        </p:nvSpPr>
        <p:spPr>
          <a:xfrm>
            <a:off x="7071362" y="3014195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125" b="1" i="0">
                <a:solidFill>
                  <a:srgbClr val="0A789F"/>
                </a:solidFill>
                <a:latin typeface="Calibri"/>
                <a:ea typeface="Calibri"/>
                <a:cs typeface="Calibri"/>
              </a:defRPr>
            </a:pPr>
            <a:r>
              <a:rPr sz="1125" b="1" i="0" dirty="0">
                <a:solidFill>
                  <a:srgbClr val="0A789F"/>
                </a:solidFill>
                <a:latin typeface="Calibri"/>
                <a:ea typeface="Calibri"/>
                <a:cs typeface="Calibri"/>
              </a:rPr>
              <a:t>STARGAZER</a:t>
            </a: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0BE78693-C114-4E39-AAC4-5F54077343DA}"/>
              </a:ext>
            </a:extLst>
          </p:cNvPr>
          <p:cNvSpPr>
            <a:spLocks noGrp="1"/>
          </p:cNvSpPr>
          <p:nvPr/>
        </p:nvSpPr>
        <p:spPr>
          <a:xfrm>
            <a:off x="6970778" y="3271058"/>
            <a:ext cx="4753217" cy="49211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  <a:defRPr sz="1125" b="0" i="0">
                <a:solidFill>
                  <a:srgbClr val="B7C5D8"/>
                </a:solidFill>
                <a:latin typeface="Calibri"/>
                <a:ea typeface="Calibri"/>
                <a:cs typeface="Calibri"/>
              </a:defRPr>
            </a:pPr>
            <a:r>
              <a:rPr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Reuse the </a:t>
            </a:r>
            <a:r>
              <a:rPr lang="en-US"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agent and </a:t>
            </a:r>
            <a:r>
              <a:rPr sz="1125" b="0" i="0" dirty="0">
                <a:solidFill>
                  <a:srgbClr val="B7C5D8"/>
                </a:solidFill>
                <a:latin typeface="Calibri"/>
                <a:ea typeface="Calibri"/>
                <a:cs typeface="Calibri"/>
              </a:rPr>
              <a:t>trace schema on 100 synthetic and 20 archival systems with physical validation.</a:t>
            </a:r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BE8B7144-551C-4371-B039-DCD885443869}"/>
              </a:ext>
            </a:extLst>
          </p:cNvPr>
          <p:cNvSpPr>
            <a:spLocks noGrp="1"/>
          </p:cNvSpPr>
          <p:nvPr/>
        </p:nvSpPr>
        <p:spPr>
          <a:xfrm>
            <a:off x="548640" y="587044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1A2350"/>
          </a:solidFill>
          <a:ln w="0">
            <a:solidFill>
              <a:srgbClr val="1A23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D1C713B-B149-4ADF-9494-95633859E5EF}"/>
              </a:ext>
            </a:extLst>
          </p:cNvPr>
          <p:cNvSpPr>
            <a:spLocks noGrp="1"/>
          </p:cNvSpPr>
          <p:nvPr/>
        </p:nvSpPr>
        <p:spPr>
          <a:xfrm>
            <a:off x="804672" y="58704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00" b="1" i="0">
                <a:solidFill>
                  <a:srgbClr val="0A789F"/>
                </a:solidFill>
                <a:latin typeface="Cambria"/>
                <a:ea typeface="Cambria"/>
                <a:cs typeface="Cambria"/>
              </a:defRPr>
            </a:pPr>
            <a:r>
              <a:rPr sz="1200" b="1" i="0">
                <a:solidFill>
                  <a:srgbClr val="0A789F"/>
                </a:solidFill>
                <a:latin typeface="Cambria"/>
                <a:ea typeface="Cambria"/>
                <a:cs typeface="Cambria"/>
              </a:rPr>
              <a:t>Current evidence:</a:t>
            </a: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1701C71-0AD3-4D32-BC34-9A42BCD52E60}"/>
              </a:ext>
            </a:extLst>
          </p:cNvPr>
          <p:cNvSpPr>
            <a:spLocks noGrp="1"/>
          </p:cNvSpPr>
          <p:nvPr/>
        </p:nvSpPr>
        <p:spPr>
          <a:xfrm>
            <a:off x="2331720" y="5870448"/>
            <a:ext cx="9052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identifies workflow mechanisms · does not yet prove one architecture is superior</a:t>
            </a:r>
          </a:p>
        </p:txBody>
      </p:sp>
    </p:spTree>
    <p:extLst>
      <p:ext uri="{BB962C8B-B14F-4D97-AF65-F5344CB8AC3E}">
        <p14:creationId xmlns:p14="http://schemas.microsoft.com/office/powerpoint/2010/main" val="163082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1862</Words>
  <Application>Microsoft Office PowerPoint</Application>
  <DocSecurity>0</DocSecurity>
  <PresentationFormat>Breitbild</PresentationFormat>
  <Paragraphs>206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jiadong han</cp:lastModifiedBy>
  <cp:revision>1</cp:revision>
  <dcterms:created xsi:type="dcterms:W3CDTF">2026-07-21T11:51:11Z</dcterms:created>
  <dcterms:modified xsi:type="dcterms:W3CDTF">2026-07-21T12:26:06Z</dcterms:modified>
</cp:coreProperties>
</file>