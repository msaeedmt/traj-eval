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7110820804614" /><Relationship Type="http://schemas.openxmlformats.org/officeDocument/2006/relationships/extended-properties" Target="/docProps/app.xml" Id="Rc629c426faf647e4" /><Relationship Type="http://schemas.openxmlformats.org/officeDocument/2006/relationships/officeDocument" Target="/ppt/presentation.xml" Id="R8925edec6d6c45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a74002c764120"/>
  </p:sldMasterIdLst>
  <p:notesMasterIdLst>
    <p:notesMasterId xmlns:r="http://schemas.openxmlformats.org/officeDocument/2006/relationships" r:id="R80afba59ca4244ff"/>
  </p:notesMasterIdLst>
  <p:sldIdLst>
    <p:sldId xmlns:r="http://schemas.openxmlformats.org/officeDocument/2006/relationships" id="256" r:id="R67a0b13808494404"/>
    <p:sldId xmlns:r="http://schemas.openxmlformats.org/officeDocument/2006/relationships" id="257" r:id="Raaed64e5fe83412f"/>
    <p:sldId xmlns:r="http://schemas.openxmlformats.org/officeDocument/2006/relationships" id="258" r:id="R4dc02c271f2d4a83"/>
    <p:sldId xmlns:r="http://schemas.openxmlformats.org/officeDocument/2006/relationships" id="259" r:id="R7a4df4e48b6249b7"/>
    <p:sldId xmlns:r="http://schemas.openxmlformats.org/officeDocument/2006/relationships" id="260" r:id="R1496fe9b31604a65"/>
    <p:sldId xmlns:r="http://schemas.openxmlformats.org/officeDocument/2006/relationships" id="261" r:id="R91a6deab61574b8f"/>
    <p:sldId xmlns:r="http://schemas.openxmlformats.org/officeDocument/2006/relationships" id="262" r:id="R6e79fb25c46845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cf3d160dc4ad2" /><Relationship Type="http://schemas.openxmlformats.org/officeDocument/2006/relationships/slideMaster" Target="/ppt/slideMasters/slideMaster1.xml" Id="Rcc3a74002c764120" /><Relationship Type="http://schemas.openxmlformats.org/officeDocument/2006/relationships/notesMaster" Target="/ppt/notesMasters/notesMaster1.xml" Id="R80afba59ca4244ff" /><Relationship Type="http://schemas.openxmlformats.org/officeDocument/2006/relationships/presProps" Target="/ppt/presProps.xml" Id="R0b51d6742f7942d2" /><Relationship Type="http://schemas.openxmlformats.org/officeDocument/2006/relationships/viewProps" Target="/ppt/viewProps.xml" Id="R1f59a4479f474287" /><Relationship Type="http://schemas.openxmlformats.org/officeDocument/2006/relationships/tableStyles" Target="/ppt/tableStyles.xml" Id="R477d3a03a4a3414a" /><Relationship Type="http://schemas.openxmlformats.org/officeDocument/2006/relationships/slide" Target="/ppt/slides/slide1.xml" Id="R67a0b13808494404" /><Relationship Type="http://schemas.openxmlformats.org/officeDocument/2006/relationships/slide" Target="/ppt/slides/slide2.xml" Id="Raaed64e5fe83412f" /><Relationship Type="http://schemas.openxmlformats.org/officeDocument/2006/relationships/slide" Target="/ppt/slides/slide3.xml" Id="R4dc02c271f2d4a83" /><Relationship Type="http://schemas.openxmlformats.org/officeDocument/2006/relationships/slide" Target="/ppt/slides/slide4.xml" Id="R7a4df4e48b6249b7" /><Relationship Type="http://schemas.openxmlformats.org/officeDocument/2006/relationships/slide" Target="/ppt/slides/slide5.xml" Id="R1496fe9b31604a65" /><Relationship Type="http://schemas.openxmlformats.org/officeDocument/2006/relationships/slide" Target="/ppt/slides/slide6.xml" Id="R91a6deab61574b8f" /><Relationship Type="http://schemas.openxmlformats.org/officeDocument/2006/relationships/slide" Target="/ppt/slides/slide7.xml" Id="R6e79fb25c468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7967256424d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a5f27c83848da" /><Relationship Type="http://schemas.openxmlformats.org/officeDocument/2006/relationships/notesMaster" Target="/ppt/notesMasters/notesMaster1.xml" Id="R6585dbe5c3c5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336a7ea2bd4032" /><Relationship Type="http://schemas.openxmlformats.org/officeDocument/2006/relationships/notesMaster" Target="/ppt/notesMasters/notesMaster1.xml" Id="R26dacd757181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365215873049d5" /><Relationship Type="http://schemas.openxmlformats.org/officeDocument/2006/relationships/notesMaster" Target="/ppt/notesMasters/notesMaster1.xml" Id="R87cb2f53ef20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c95a4a7e94caf" /><Relationship Type="http://schemas.openxmlformats.org/officeDocument/2006/relationships/notesMaster" Target="/ppt/notesMasters/notesMaster1.xml" Id="R34b0e73f002a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1db57f4de4b4a" /><Relationship Type="http://schemas.openxmlformats.org/officeDocument/2006/relationships/notesMaster" Target="/ppt/notesMasters/notesMaster1.xml" Id="Rf91e5d4fec17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097d30c0e34bf6" /><Relationship Type="http://schemas.openxmlformats.org/officeDocument/2006/relationships/notesMaster" Target="/ppt/notesMasters/notesMaster1.xml" Id="Rf52863d010f142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f24bbf80d04623" /><Relationship Type="http://schemas.openxmlformats.org/officeDocument/2006/relationships/notesMaster" Target="/ppt/notesMasters/notesMaster1.xml" Id="Rd3c564aca232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 · Speaker 1</a:t>
            </a:r>
          </a:p>
          <a:p xmlns:a="http://schemas.openxmlformats.org/drawingml/2006/main">
            <a:r>
              <a:t>Opening claim: a correct-looking final answer is not enough to evaluate a scientific agent.</a:t>
            </a:r>
          </a:p>
          <a:p xmlns:a="http://schemas.openxmlformats.org/drawingml/2006/main">
            <a:r>
              <a:t>Preview the split: five minutes on the architecture and evidence model, five minutes on hand-reviewed Lean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0:45–3:00 · Speaker 1</a:t>
            </a:r>
          </a:p>
          <a:p xmlns:a="http://schemas.openxmlformats.org/drawingml/2006/main">
            <a:r>
              <a:t>Explain the three roles and separate agent proposals from executor/tool evidence.</a:t>
            </a:r>
          </a:p>
          <a:p xmlns:a="http://schemas.openxmlformats.org/drawingml/2006/main">
            <a:r>
              <a:t>Important wording: the canonical Critic made zero return handoffs to the Engineer; Engineers did revise their own code.</a:t>
            </a:r>
          </a:p>
          <a:p xmlns:a="http://schemas.openxmlformats.org/drawingml/2006/main">
            <a:r>
              <a:t>The 97/100 number describes recorded causal-graph topology, not hidden cognition.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3:00–5:00 · Speaker 1</a:t>
            </a:r>
          </a:p>
          <a:p xmlns:a="http://schemas.openxmlformats.org/drawingml/2006/main">
            <a:r>
              <a:t>Use the four JSON fields to explain why this is more than a final-answer benchmark.</a:t>
            </a:r>
          </a:p>
          <a:p xmlns:a="http://schemas.openxmlformats.org/drawingml/2006/main">
            <a:r>
              <a:t>Stress the concept rule: observed facts and inferred causes are separate layers.</a:t>
            </a:r>
          </a:p>
          <a:p xmlns:a="http://schemas.openxmlformats.org/drawingml/2006/main">
            <a:r>
              <a:t>Handoff to Speaker 2: now use the same evidence model on the canonical Lean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5:00–5:45 · Experiment overview</a:t>
            </a:r>
          </a:p>
          <a:p xmlns:a="http://schemas.openxmlformats.org/drawingml/2006/main">
            <a:r>
              <a:t>Both cohorts use the Qwen 3.5 backbone, Reasoner/Engineer/Critic roles, Lean checking and lemma search, with every turn stored as JSON.</a:t>
            </a:r>
          </a:p>
          <a:p xmlns:a="http://schemas.openxmlformats.org/drawingml/2006/main">
            <a:r>
              <a:t>Easy asks the team to solve one complete theorem directly: 100 runs across 10 tasks, with 56 independently verified final proofs.</a:t>
            </a:r>
          </a:p>
          <a:p xmlns:a="http://schemas.openxmlformats.org/drawingml/2006/main">
            <a:r>
              <a:t>Medium introduces 4–6 connected subgoals and explicit return routes: 20 runs across two tasks, up to 200 agent steps, with no verified final proof.</a:t>
            </a:r>
          </a:p>
          <a:p xmlns:a="http://schemas.openxmlformats.org/drawingml/2006/main">
            <a:r>
              <a:t>Caveat: difficulty and orchestration changed together, so this is not a controlled architecture comparison.</a:t>
            </a:r>
          </a:p>
          <a:p xmlns:a="http://schemas.openxmlformats.org/drawingml/2006/main">
            <a:r>
              <a:t>Sources: dataset/Lean/metadata.json; docs/lean_easy_failure_report/public/data/report_snapshot.json; data/experiments/qwen_medium_subgoals_v1/summary.json.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5:45–7:00 · Easy-run behaviors</a:t>
            </a:r>
          </a:p>
          <a:p xmlns:a="http://schemas.openxmlformats.org/drawingml/2006/main">
            <a:r>
              <a:t>The stored topology is overwhelmingly forward-only: 97/100 connected-linear traces and no Engineer→Reasoner or Critic→Engineer repair returns.</a:t>
            </a:r>
          </a:p>
          <a:p xmlns:a="http://schemas.openxmlformats.org/drawingml/2006/main">
            <a:r>
              <a:t>This does not mean no repair occurred. In 17/56 solved runs, the Engineer repaired its own candidate after a failed Lean check; earlier agents did not revise their work.</a:t>
            </a:r>
          </a:p>
          <a:p xmlns:a="http://schemas.openxmlformats.org/drawingml/2006/main">
            <a:r>
              <a:t>Repeated search: deterministic post-hoc Reasoner-query similarity audit. Normalize NFKC/case/punctuation, split camelCase, map iff variants, then character-trigram Dice ≥0.80 against an earlier same-trial query; sustained means at least three recurrent follow-ups. Result: 12/100, 11 unsolved. This is not the CSV perseverated field.</a:t>
            </a:r>
          </a:p>
          <a:p xmlns:a="http://schemas.openxmlformats.org/drawingml/2006/main">
            <a:r>
              <a:t>Statement drift: five Engineers changed the requested theorem; four became silent failures.</a:t>
            </a:r>
          </a:p>
          <a:p xmlns:a="http://schemas.openxmlformats.org/drawingml/2006/main">
            <a:r>
              <a:t>Approval by trust: 30/59 accepted submissions had zero Critic check_lean calls.</a:t>
            </a:r>
          </a:p>
          <a:p xmlns:a="http://schemas.openxmlformats.org/drawingml/2006/main">
            <a:r>
              <a:t>Hand-audited trace: easy_fatem_115_t2 — changed target passes, requested target fails, Critic approves. Repeated-search example: easy_fatem_019_t5. Positive local-repair control: easy_fatem_012_t3.</a:t>
            </a:r>
          </a:p>
          <a:p xmlns:a="http://schemas.openxmlformats.org/drawingml/2006/main">
            <a:r>
              <a:t>Sources: docs/lean_easy_failure_report/public/data/report_snapshot.json; data/analysis/lean_easy_failure_patterns.csv; data/analysis/lean_easy_failure_reviews.jsonl; docs/lean_easy_failure_report/public/data/lean_easy_failure_traces.json; raw traces under data/batch.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7:00–8:10 · Medium-run result</a:t>
            </a:r>
          </a:p>
          <a:p xmlns:a="http://schemas.openxmlformats.org/drawingml/2006/main">
            <a:r>
              <a:t>15 / 89 subgoals finished (17%) → 0 final proofs verified.</a:t>
            </a:r>
          </a:p>
          <a:p xmlns:a="http://schemas.openxmlformats.org/drawingml/2006/main">
            <a:r>
              <a:t>Definition: finished means the controller ledger recorded the local subgoal as accepted. It does not mean the complete theorem was independently proved.</a:t>
            </a:r>
          </a:p>
          <a:p xmlns:a="http://schemas.openxmlformats.org/drawingml/2006/main">
            <a:r>
              <a:t>Thirteen runs reached their configured run limit. Configurations allowed up to 200 agent steps; the individual limits were not identical.</a:t>
            </a:r>
          </a:p>
          <a:p xmlns:a="http://schemas.openxmlformats.org/drawingml/2006/main">
            <a:r>
              <a:t>Five of twenty runs were hand-reviewed as search/recovery loops; four of those five reached their run limit.</a:t>
            </a:r>
          </a:p>
          <a:p xmlns:a="http://schemas.openxmlformats.org/drawingml/2006/main">
            <a:r>
              <a:t>Four of twenty were hand-reviewed as subgoal-scope mismatches: work progressed on a local objective that did not align with the needed proof step.</a:t>
            </a:r>
          </a:p>
          <a:p xmlns:a="http://schemas.openxmlformats.org/drawingml/2006/main">
            <a:r>
              <a:t>Sources: data/experiments/qwen_medium_subgoals_v1/summary.json; docs/lean_easy_failure_report/lean_failure_modes_meeting.md; docs/lean_easy_failure_report/config/meeting-experiments.mjs.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8:10–8:50 · Next experiments</a:t>
            </a:r>
          </a:p>
          <a:p xmlns:a="http://schemas.openxmlformats.org/drawingml/2006/main">
            <a:r>
              <a:t>First, run matched comparisons: roles, models, tools, frameworks and parallel subagents on the same tasks and budgets.</a:t>
            </a:r>
          </a:p>
          <a:p xmlns:a="http://schemas.openxmlformats.org/drawingml/2006/main">
            <a:r>
              <a:t>Second, scale the evidence pipeline from deterministic JSON metrics to human audit, an optional advanced-model second opinion, and a cross-cohort dashboard.</a:t>
            </a:r>
          </a:p>
          <a:p xmlns:a="http://schemas.openxmlformats.org/drawingml/2006/main">
            <a:r>
              <a:t>Third, transfer the trace schema to STARGAZER: 100 synthetic and 20 archival astrophysics systems with physical validation anchors.</a:t>
            </a:r>
          </a:p>
          <a:p xmlns:a="http://schemas.openxmlformats.org/drawingml/2006/main">
            <a:r>
              <a:t>Close: these results identify workflow mechanisms. They do not yet establish that one architecture is superior.</a:t>
            </a:r>
          </a:p>
          <a:p xmlns:a="http://schemas.openxmlformats.org/drawingml/2006/main">
            <a:r>
              <a:t>Concept source: internal concept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220bbe62c444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a269969bc49ab" /><Relationship Type="http://schemas.openxmlformats.org/officeDocument/2006/relationships/slideLayout" Target="/ppt/slideLayouts/slideLayout1.xml" Id="R06387d4608dc48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87d4608dc488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c0d7273f94a4c" /><Relationship Type="http://schemas.openxmlformats.org/officeDocument/2006/relationships/notesSlide" Target="/ppt/notesSlides/notesSlide1.xml" Id="R2f32055eb3dd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419a277924a1b" /><Relationship Type="http://schemas.openxmlformats.org/officeDocument/2006/relationships/notesSlide" Target="/ppt/notesSlides/notesSlide2.xml" Id="R5cb4051ca53d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b24c39a8d4f89" /><Relationship Type="http://schemas.openxmlformats.org/officeDocument/2006/relationships/notesSlide" Target="/ppt/notesSlides/notesSlide3.xml" Id="R620a4eacf36d4b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06ebe6d264f92" /><Relationship Type="http://schemas.openxmlformats.org/officeDocument/2006/relationships/notesSlide" Target="/ppt/notesSlides/notesSlide4.xml" Id="R792fd7c8db20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4aaaaa6804d73" /><Relationship Type="http://schemas.openxmlformats.org/officeDocument/2006/relationships/notesSlide" Target="/ppt/notesSlides/notesSlide5.xml" Id="R07350d0a51ea45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1aa37158c4285" /><Relationship Type="http://schemas.openxmlformats.org/officeDocument/2006/relationships/notesSlide" Target="/ppt/notesSlides/notesSlide6.xml" Id="R3b491d5c36c4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e2cdc07514db4" /><Relationship Type="http://schemas.openxmlformats.org/officeDocument/2006/relationships/notesSlide" Target="/ppt/notesSlides/notesSlide7.xml" Id="R6522280e93644b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2A8EBA-6379-4EEB-8A65-F8B2C62A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0292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4AB4E6-3050-4CBB-BF60-4CE8A99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λ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97472E-9F43-48D6-B99A-8DE126D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37160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traj-eval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8D1397-229A-4D5A-B955-C32101C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Scientific agents can pass—and still fail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2F73A5-138D-43B3-82E2-719B5ED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 i="1">
                <a:solidFill>
                  <a:srgbClr val="0A789F"/>
                </a:solidFill>
              </a:defRPr>
            </a:pPr>
            <a:r>
              <a:rPr sz="1350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Architecture + hand-reviewed Lean evidence · 5 + 5 minutes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4B2AE3B-526A-451F-96D1-43C0B81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EFAD13-0726-4755-AFFA-C990B62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Sci-Agent architecture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B3ED24-D8A9-48F9-8D6A-961B47CC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PART 1 · 5 MIN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C474EE-27DF-4C73-A4B8-558E681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F03BB4-5E24-401F-AB1A-992B078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failure analysis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DC86EF-7FB9-498A-8F7E-FE58F69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PART 2 · 5 MIN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7A5E39-5862-4D7B-9ED8-685D855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CA54D4-DF92-4D88-84E0-66EAC600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base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B6FBEA-73C2-4134-B5E9-53CBA9B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100 LEAN RUNS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10E8D50-EEED-4AAD-9201-D1DC431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Jiadong Han · Mohammad Saeed Motevali Amin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CCC4BC-7FA8-4C69-BA21-856BCEB9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CAISA Lab · University of Bonn · 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5809712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6B94CC-8780-4EFF-91F8-44143F2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1 · Scientific-agent 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94D43E-977A-4D1E-BAB3-52C8D82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Roles generate proposals; tools and validators supply evidence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888E99E-F85D-4942-820F-11F632C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75895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BDE5B7-1CDD-409A-9CC2-FBD7817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065A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B33F0-7A87-48EC-8DD8-CEF9D7D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Reasoner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03FF866-333E-4FD8-B53E-27E223A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700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F413A2F-790E-4406-A721-0E7BB13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813A80-A4A5-45EB-BA1E-96EE089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87EF55-D0A7-49EE-AE57-33CCCA2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323070-8CCC-49DA-9A95-4B693452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retrieves + plans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E442A1A-9C2A-4739-A6E5-56C88214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formalizes + checks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41FDBF-2AB7-4C8F-A0A2-2C66671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checks the contract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A69153-A1E9-4CFB-BC35-7D73C2E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43" y="2359733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33A6697-C111-4E68-B76E-8E8A548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62" y="2359733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89F624-AE05-47C5-B076-1D46E58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901952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9407FD1-8C79-414A-83DB-32017DF4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01952"/>
            <a:ext cx="822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644A53-1213-4911-B787-6FE7CC6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03" y="2566707"/>
            <a:ext cx="1119049" cy="8360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50">
                <a:solidFill>
                  <a:srgbClr val="D27B12"/>
                </a:solidFill>
              </a:defRPr>
            </a:pPr>
            <a:r>
              <a:rPr sz="75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return with failing evidence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631E386-5E6B-4364-AD75-8313662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54" y="2763810"/>
            <a:ext cx="1104538" cy="451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50">
                <a:solidFill>
                  <a:srgbClr val="0A789F"/>
                </a:solidFill>
              </a:defRPr>
            </a:pPr>
            <a:r>
              <a:rPr sz="75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request a new plan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1F976B-51E2-406D-8CFA-C6AA1C7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91840"/>
            <a:ext cx="16916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652C0B-06B7-484A-959E-04A2E470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91840"/>
            <a:ext cx="1691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latest checked target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890A8C-2612-4BF7-8F27-ACD2985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61488"/>
            <a:ext cx="0" cy="475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0F66F4F-5C3B-46CB-A92D-0FA7066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635508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7B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2FBB57-091D-4B8E-801F-0CE2D0E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6035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Tools, run on request by a mechanical executor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0B354DB-78D7-4D03-AF8F-79AD62C0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5051C69-354E-4E2F-BAE3-E521DF3F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proof checker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E0B8546-6DFC-48CB-9A15-5902BEAC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  C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6840AD9-ECBD-4BD9-AD12-2BE7ED4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555745E-A98F-4CD3-81DE-54AC021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lemma search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2F32EF0-E8AB-4A51-B868-9FD23B2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  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1D0F0F2-A7F5-47E7-B78C-829B5F9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EA35C39-39C4-448C-B65B-E8DEBD4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tactic finder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3F84E72-F88B-4709-94CA-0907F800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F8306A0-38B6-4E56-92A1-0F0C95B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6630C80-56A9-4360-A14E-2A03A7A0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goal viewer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A0BD503-6B38-4A66-8616-FE26E04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CB434BD-FC1F-4375-88B7-7C04BA3E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83480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638" i="1">
                <a:solidFill>
                  <a:srgbClr val="617187"/>
                </a:solidFill>
              </a:defRPr>
            </a:pPr>
            <a:r>
              <a:rPr sz="638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 = Reasoner   E = Engineer   C = Critic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D7B33F6-778D-4571-B304-008CB178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749040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70FE46D-C547-4299-88EE-D5FD8EB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761488"/>
            <a:ext cx="0" cy="1207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4CDABE3-9B15-4F4D-A15F-E9CCD6A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221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9A209CA-C304-4880-9DBF-E713DE8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63">
                <a:solidFill>
                  <a:srgbClr val="617187"/>
                </a:solidFill>
              </a:defRPr>
            </a:pPr>
            <a:r>
              <a:rPr sz="86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Design rule: a failed check must change who acts next—or why the run ends.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3F9B5D2-79A3-47E6-AB1E-1CD5BEBA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81328"/>
            <a:ext cx="3200400" cy="18745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05B0B43-CF72-4083-A698-F4357D0B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0934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Control contract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27A46E12-CF8A-4F52-A657-DE384F8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20240"/>
            <a:ext cx="2834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choose a tool or next role. The executor runs tools; the recorder preserves every returned result.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DF885E4-1FAF-4B3D-B3CA-EFBFA9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20440"/>
            <a:ext cx="3200400" cy="2121408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9E29F78-A755-4AB2-902F-74A4140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64845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Observed canonical routing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84460D6-A4B9-445F-BDEB-EF898B7B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0325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647E186-E85B-4E99-A00C-4773FE0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9684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59 forward handoffs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E236EE1-27EB-448C-9959-85AEA56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1696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Engineer → Critic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ADA9CCF6-B348-4F40-A881-C72E5C6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4897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B1E"/>
          </a:solidFill>
          <a:ln xmlns:a="http://schemas.openxmlformats.org/drawingml/2006/main" w="12700">
            <a:solidFill>
              <a:srgbClr val="C97B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9C3CE227-A08E-42ED-A3DA-B500049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4256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return handoffs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4494572-4D3D-4A17-B2CD-091AA9D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6268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→ Engineer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7181C04-C916-4757-8444-A26D9F4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9469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B2"/>
          </a:solidFill>
          <a:ln xmlns:a="http://schemas.openxmlformats.org/drawingml/2006/main" w="12700">
            <a:solidFill>
              <a:srgbClr val="9AA7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938DE614-920A-4F66-B339-9D5D75BE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8828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97 connected-linear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DF76EA8-6331-4039-BF9A-0A9629E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50840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recorded event graphs</a:t>
            </a:r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347C8201-9DC7-4C8E-B6AD-6CF7A41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349240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 b="1" i="1">
                <a:solidFill>
                  <a:srgbClr val="0A789F"/>
                </a:solidFill>
              </a:defRPr>
            </a:pPr>
            <a:r>
              <a:rPr sz="788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The architecture can express a loop; the observed routing realizes a pipeline.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2AC4ADF1-C50A-4F94-8D7F-06FC3606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3F19560C-E864-42B7-BD10-76D0CE6B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299" name="Straight Arrow Connector 62"/>
          <p:cNvCxnSpPr/>
          <p:nvPr/>
        </p:nvCxnSpPr>
        <p:spPr>
          <a:xfrm xmlns:a="http://schemas.openxmlformats.org/drawingml/2006/main" flipH="1" flipV="1">
            <a:off x="2657927" y="2492830"/>
            <a:ext cx="529771" cy="18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00" name="Straight Arrow Connector 63"/>
          <p:cNvCxnSpPr/>
          <p:nvPr/>
        </p:nvCxnSpPr>
        <p:spPr>
          <a:xfrm xmlns:a="http://schemas.openxmlformats.org/drawingml/2006/main" flipH="1" flipV="1">
            <a:off x="4972955" y="2485571"/>
            <a:ext cx="529771" cy="18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7823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752365-B9FB-48B9-821C-D4395C5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JSON turns a run into testable evidence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E39C45-A7CB-4202-A204-90EF30D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 what happened first; infer why it failed only afterwards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C59EA0-023D-4125-93ED-5C78C28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6192"/>
            <a:ext cx="5029200" cy="36576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951415-FBD2-4950-A0BD-FAAE179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078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One event per JSONL line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9ABD5C-EC20-49F8-B8FE-4AE8B154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agent_role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033EC9-0F85-41FC-9FBF-378AC87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0864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who acted: Reasoner, Engineer, Critic, or Executor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7D27DF-B160-4254-80C1-055E788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event_type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A44245-FECF-4909-A454-A1F5EEE5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message · tool_call · execution_result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240B5DA-F854-4353-8673-7368CF2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95187E0-49E7-4E2D-A5BF-F71E88C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full prompt, proof candidate, tool arguments, and diagnostics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3900430-133F-4266-966D-1A4E5C7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52544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caused_by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12C4A2-9ECB-4CFB-8757-AAE05569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the explicit parent event—so the recorded chain is inspectable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F94325-8792-4326-AF78-56877F7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63" i="1">
                <a:solidFill>
                  <a:srgbClr val="0A789F"/>
                </a:solidFill>
              </a:defRPr>
            </a:pPr>
            <a:r>
              <a:rPr sz="863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is immutable; causal labels remain reviewable.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AF9BC8-8E24-4AA2-B6B3-F9A56F56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00784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independent passes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990D808-F2F0-4331-8E22-392BC11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084832"/>
            <a:ext cx="576072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43CDFB-9A53-418B-B255-A1F00E2C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194560"/>
            <a:ext cx="5303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During the run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4F55E1-D347-4F05-9A72-CF46BA0F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68880"/>
            <a:ext cx="53035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call tools. The Executor records the exact request and returned evidence without judging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13865A4-9DA3-4F02-A485-B86CDC9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39312"/>
            <a:ext cx="5760720" cy="15544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0AC5ADD-793F-4941-A28D-B14301E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749040"/>
            <a:ext cx="5303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After the run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FD3D8D-523F-42FD-9517-F4C5D80E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023360"/>
            <a:ext cx="53035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15">
                <a:solidFill>
                  <a:srgbClr val="273446"/>
                </a:solidFill>
              </a:defRPr>
            </a:pPr>
            <a:r>
              <a:rPr sz="91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An independent validator checks exact target, Lean compilation, sorry-freedom, and statement preservation. Reviewers then label behavior.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6738EBA-BBF4-4980-BCA1-6C0705D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3248"/>
            <a:ext cx="1106424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700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8645717-41DC-428A-924F-3759C80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13" b="1">
                <a:solidFill>
                  <a:srgbClr val="0A789F"/>
                </a:solidFill>
              </a:defRPr>
            </a:pPr>
            <a:r>
              <a:rPr sz="101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4779F89-605D-4632-9CB4-7CB4E00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42432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final verdict can hide very different processes: productive repair, search loops, statement drift, or critic masking.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C8C86A-6A11-47B5-AAF6-6C1D29D2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EB06E6A-9D5F-4FAD-9447-E810173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028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EB431C-E92A-4D04-9960-B9A068D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2 · What we evaluated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FF485C-C7FB-4A34-9873-67AAB4E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Same Qwen 3.5 roles and Lean tools · two difficulty settings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CDB387-90A6-455B-B89A-3FE35217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4864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668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78E72C-6465-4861-BF67-02278B2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EASY · whole theorem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2FD5B4-C978-41FF-B7FA-6870D48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100 runs = 10 tasks × 10 trials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65BEB-68F4-4EDC-98E0-EF4D5DC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22576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285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20A0F3-7ADA-4C56-8630-43CA6BB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79776"/>
            <a:ext cx="1508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5483FB-BD19-49AD-973E-9D0C80E6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22576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255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 × 10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C9E8FB-E4C8-4049-8F72-E017E24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779776"/>
            <a:ext cx="1508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tasks × trials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766D94-6727-4334-A327-CA28083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2322576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2550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56 / 100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830A10-E821-47AD-9EC0-7C932C3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2779776"/>
            <a:ext cx="1508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proofs verified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613434-8D52-498C-AE08-35BA7034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Direct workflow · one requested theorem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B4CC67A-381E-45FD-B8D2-4A6E3EF6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4864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57EE51-EAB0-4CDC-9CAF-72E455A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Shared setup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03E8B1F-498C-42E2-AEAE-EBC8BEA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Reasoner → Engineer → Critic</a:t>
            </a:r>
          </a:p>
          <a:p xmlns:a="http://schemas.openxmlformats.org/drawingml/2006/main">
            <a:pPr marL="0" indent="0" algn="l">
              <a:buNone/>
              <a:def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Lean checker + lemma search · JSON trace per turn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3DA4CF0-F31D-4A42-8B9D-A234EDD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54480"/>
            <a:ext cx="5303520" cy="3794760"/>
          </a:xfrm>
          <a:prstGeom xmlns:a="http://schemas.openxmlformats.org/drawingml/2006/main" prst="roundRect">
            <a:avLst>
              <a:gd name="adj" fmla="val 1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B84B448-7DD7-452C-879D-2A37B63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19072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· connected subgoals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682976-8260-473B-B226-27A7EC1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= 2 tasks × 10 trials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D69BCE7-CF0E-48A7-A8CC-54E25897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0487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97FD589-2CC7-441A-8525-B3AFFF5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340864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4–6 subgoals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6095C0-289C-4C38-AC54-5055F4C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5786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must connect into one final proof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9CE7EFD-EB22-4F23-ADB8-0F24F848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9981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DA01EBE-AB12-4743-8BC5-990F65F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035808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Return routes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0D70D7E-2419-4DEF-9E37-32BF438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273552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agents can send work back for revision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1ACB28-9CA0-406C-A2CB-AE47BBA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947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2E45F0-CD1B-40C8-B6BB-807510C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730752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Up to 200 steps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01CEEE8-1204-44C2-A6ED-D86FD60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968496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configured maximum per run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1C559F8-C02C-4E31-9680-94703A41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48970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7BEC7C-1A84-4024-8A29-7C2A38F2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25696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0 / 20 verified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4091E88-5091-4E02-B14B-59A74EEC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663440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no complete final proof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C6210D0-89BF-4850-A389-47AA53F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6424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4E6DE31-BF1E-45E1-B45B-BBAD87C6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4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Benchmark context: 10 easy · 10 medium · 10 hard tasks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00FAD84-3805-474F-A3EF-81CBF2E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C652B21-DBA2-48A7-8EA0-6348476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50093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Easy runs: forward-only collaboration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Reasoner → Engineer → Critic · no backward repair handoffs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0078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Forward only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993392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97 / 100 traces were connected-linear.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37360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Engineer → Reasoner</a:t>
            </a:r>
          </a:p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Critic → Engineer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82549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Repeated search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12 / 100 showed sustained search repetition.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62072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11 / 12 unsolved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502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Statement drift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42816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5 / 100 Engineers changed the requested theorem.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86784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silent failures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46904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0749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Approval by trust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367528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30 / 59 approvals had zero Critic proof checks.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11496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Changed theorem ✓ → Requested theorem ✕ → Approved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→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runs: more communication, no completion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· 2 tasks × 10 trials · up to 200 agent steps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668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682496"/>
            <a:ext cx="100858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15 / 89 subgoals finished (17%) → 0 final proofs verified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76272"/>
            <a:ext cx="7818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“Finished” = accepted by the workflow ledger, not independently proved.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7627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independent final check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82549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13 / 20 · run limit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Reached their configured run limit.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62072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Up to 200 agent steps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502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5 / 20 · repeated search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42816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Entered hand-reviewed search / recovery loops.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86784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reached the limit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46904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0749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 / 20 · misaligned subgoal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367528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Worked on a local objective that did not match the needed proof step.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11496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final proofs verified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Main result →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3E944E-AC28-491A-AAC6-BA3D4F8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"/>
            <a:ext cx="11064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we test next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C9795F-487B-445C-B397-024F669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Matched experiments turn observed problems into testable design choices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ADDFB-DEAD-4295-B196-141874AC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2350"/>
          </a:solidFill>
          <a:ln xmlns:a="http://schemas.openxmlformats.org/drawingml/2006/main" w="0">
            <a:solidFill>
              <a:srgbClr val="1A23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2B73E0-CDA7-4489-AB6F-BFECF47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16736"/>
            <a:ext cx="2194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D42F05-A5D6-4D00-9932-E7E3DFD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367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C4A2672-DD64-4F30-9480-F3382BB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554480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Compare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FC9A39-B549-4797-B6F8-9030896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783080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roles · models · tools · frameworks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832F7F5-4177-4852-9B3F-12403F8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6367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1ABC7F-92D9-433D-AF76-80FE6E06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554480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Scale evidence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EDF1F5-24FE-479F-BF43-FDE4247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783080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 metrics → human / LLM review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3290026-FF79-4113-89E0-460434B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6367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8121C2A-619A-450B-8738-816B714C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Transfer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983828-7450-44ED-A1B2-9D54BF6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783080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STARGAZER astrophysics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3ED05E5-B7E6-4BA9-8B11-F7127EF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6771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Three next moves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58B6FD-0EC1-4E8D-B114-49B82FC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04288"/>
            <a:ext cx="7909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Same tasks · matched budgets · independent verification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CDE5CD4-D437-40D4-AA38-58161A3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33472"/>
            <a:ext cx="5440680" cy="1426464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C9FF2F7-BF9F-40BD-A1DB-2A896B4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8163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6C68829-A68B-4DD3-874C-C0DAC41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81635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E22AE2C-3D7A-4F1E-8787-4BC0EEA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88920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Matched comparisons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617554-8114-4361-B51B-5388861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35808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one variable at a time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5DD6135-ACEF-49BC-AA02-2C9808D2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291840"/>
            <a:ext cx="4526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Compare roles, models, tools, and frameworks on the same tasks and budgets.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8D7969-CAFF-4839-B711-24A0B38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33472"/>
            <a:ext cx="5440680" cy="1426464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313A72"/>
          </a:solidFill>
          <a:ln xmlns:a="http://schemas.openxmlformats.org/drawingml/2006/main" w="0">
            <a:solidFill>
              <a:srgbClr val="313A7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10761FD-B8ED-41D4-8216-8F383BD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163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FE28656-D320-442C-9349-46CEC86F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1635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27A3A9-ABDE-45FA-85F8-181BB50C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2788920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Parallel agents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C486CB-C103-48D3-86A9-53CD5D6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035808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equal-budget subagents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908696-97C5-4775-A283-B464A8E1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291840"/>
            <a:ext cx="4526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Test whether parallel Engineers improve coverage without hiding coordination cost.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C457E99-8EA4-4666-BE79-65CF7B1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5440680" cy="1426464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53079BF-93B1-4E74-ACF5-12CBA66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891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E5787B-F88F-4A1D-91A7-463F392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891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6ECC57F-E6AB-41AD-8407-E6FE808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61688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Evidence pipeline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4084B66-6CC0-4CAD-8581-FE46F62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08576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rPr>
              <a:t>JSON → review → dashboard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A4DE109-E5F1-49F9-8638-C1448AA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864608"/>
            <a:ext cx="4526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Automate metrics, retain human audit, then add an advanced-model second opinion.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6BAFBCF-7627-4E95-B90F-786A6076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06240"/>
            <a:ext cx="5440680" cy="1426464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313A72"/>
          </a:solidFill>
          <a:ln xmlns:a="http://schemas.openxmlformats.org/drawingml/2006/main" w="0">
            <a:solidFill>
              <a:srgbClr val="313A7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9458F30-6388-4185-87C5-49B5602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3891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70DFC88-660C-48EE-9E19-7D9E645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3891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84B9FFB-F6F7-49CE-9260-C7C854A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4361688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Astrophysics transfer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FD34546-326B-40D9-9436-B96D45A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4608576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STARGAZER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BE78693-C114-4E39-AAC4-5F54077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4864608"/>
            <a:ext cx="4526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Reuse the trace schema on 100 synthetic and 20 archival systems with physical validation.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E8B7144-551C-4371-B039-DCD8854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70448"/>
            <a:ext cx="110642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2350"/>
          </a:solidFill>
          <a:ln xmlns:a="http://schemas.openxmlformats.org/drawingml/2006/main" w="0">
            <a:solidFill>
              <a:srgbClr val="1A23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D1C713B-B149-4ADF-9494-9563385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Current evidence: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1701C71-0AD3-4D32-BC34-9A42BCD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870448"/>
            <a:ext cx="9052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identifies workflow mechanisms · does not yet prove one architecture is superior</a:t>
            </a:r>
          </a:p>
        </p:txBody>
      </p:sp>
    </p:spTree>
    <p:extLst>
      <p:ext uri="{BB962C8B-B14F-4D97-AF65-F5344CB8AC3E}">
        <p14:creationId xmlns:p14="http://schemas.microsoft.com/office/powerpoint/2010/main" val="1630826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2026-07-21T11:47:22.5960000Z</dcterms:created>
  <dcterms:modified xsi:type="dcterms:W3CDTF">2026-07-21T11:47:22.5960000Z</dcterms:modified>
</coreProperties>
</file>