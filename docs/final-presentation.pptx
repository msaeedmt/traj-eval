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A951F-37CF-F280-CBA1-B38F2077E587}" v="58" dt="2026-09-17T01:41:51.460"/>
    <p1510:client id="{C57FC27A-01E8-89C7-C990-3DEDD86C6D14}" v="80" dt="2026-09-18T09:51:24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2EA53-AF6B-452F-ABA5-604348321C78}" type="datetimeFigureOut">
              <a:t>18.09.2026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BD349-2C1B-48F5-BDE4-0860525B9D37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2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final answer hides</a:t>
            </a:r>
            <a:endParaRPr lang="en-US" sz="560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>
                <a:solidFill>
                  <a:srgbClr val="B7C0D0"/>
                </a:solidFill>
                <a:latin typeface="Calibri"/>
                <a:ea typeface="Calibri"/>
                <a:cs typeface="Calibri"/>
              </a:rPr>
              <a:t>How multi-agent scientific-reasoning teams break</a:t>
            </a:r>
            <a:endParaRPr lang="en-US" sz="2200">
              <a:solidFill>
                <a:srgbClr val="B7C0D0"/>
              </a:solidFill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3794760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755648" y="3794760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779776" y="3794760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1E9C83"/>
          </a:solidFill>
          <a:ln w="12700">
            <a:solidFill>
              <a:srgbClr val="1E9C8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803904" y="3794760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828032" y="3794760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852160" y="3794760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876288" y="3794760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6876288" y="37947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/>
          </a:p>
        </p:txBody>
      </p:sp>
      <p:sp>
        <p:nvSpPr>
          <p:cNvPr id="12" name="Text 10"/>
          <p:cNvSpPr txBox="1"/>
          <p:nvPr/>
        </p:nvSpPr>
        <p:spPr>
          <a:xfrm>
            <a:off x="2874044" y="4288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5FD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verified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6327648" y="3465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>
                <a:solidFill>
                  <a:srgbClr val="7F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▼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73152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Jiadong Han · Mohammad Saeed Motevali Amin</a:t>
            </a:r>
            <a:endParaRPr lang="en-US" sz="1800"/>
          </a:p>
        </p:txBody>
      </p:sp>
      <p:sp>
        <p:nvSpPr>
          <p:cNvPr id="15" name="Text 13"/>
          <p:cNvSpPr txBox="1"/>
          <p:nvPr/>
        </p:nvSpPr>
        <p:spPr>
          <a:xfrm>
            <a:off x="731520" y="5468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7F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Lab · CAISA Lab · University of Bonn · Summer Semester 2026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score. Different failures.</a:t>
            </a:r>
            <a:endParaRPr lang="en-US" sz="340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produced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2514600" y="1572768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520440" y="1572768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26280" y="1572768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532120" y="1572768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537960" y="1572768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543800" y="1572768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549640" y="1572768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8549640" y="1572768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/>
          </a:p>
        </p:txBody>
      </p:sp>
      <p:sp>
        <p:nvSpPr>
          <p:cNvPr id="13" name="Text 11"/>
          <p:cNvSpPr txBox="1"/>
          <p:nvPr/>
        </p:nvSpPr>
        <p:spPr>
          <a:xfrm>
            <a:off x="548640" y="217627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 operate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2514600" y="2176272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520440" y="2176272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526280" y="2176272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532120" y="2176272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6537960" y="2176272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543800" y="2176272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8549640" y="2176272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8B94A3"/>
          </a:solidFill>
          <a:ln w="12700">
            <a:solidFill>
              <a:srgbClr val="8B94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 txBox="1"/>
          <p:nvPr/>
        </p:nvSpPr>
        <p:spPr>
          <a:xfrm>
            <a:off x="8549640" y="2176272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548640" y="277977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produced, lost</a:t>
            </a:r>
            <a:endParaRPr lang="en-US" sz="1500"/>
          </a:p>
        </p:txBody>
      </p:sp>
      <p:sp>
        <p:nvSpPr>
          <p:cNvPr id="23" name="Shape 21"/>
          <p:cNvSpPr/>
          <p:nvPr/>
        </p:nvSpPr>
        <p:spPr>
          <a:xfrm>
            <a:off x="2514600" y="2779776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3520440" y="2779776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526280" y="2779776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1E9C83"/>
          </a:solidFill>
          <a:ln w="12700">
            <a:solidFill>
              <a:srgbClr val="1E9C8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5532120" y="2779776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6537960" y="2779776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7543800" y="2779776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8549640" y="2779776"/>
            <a:ext cx="896112" cy="420624"/>
          </a:xfrm>
          <a:prstGeom prst="roundRect">
            <a:avLst>
              <a:gd name="adj" fmla="val 15217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 txBox="1"/>
          <p:nvPr/>
        </p:nvSpPr>
        <p:spPr>
          <a:xfrm>
            <a:off x="8549640" y="2779776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/>
          </a:p>
        </p:txBody>
      </p:sp>
      <p:sp>
        <p:nvSpPr>
          <p:cNvPr id="31" name="Text 29"/>
          <p:cNvSpPr txBox="1"/>
          <p:nvPr/>
        </p:nvSpPr>
        <p:spPr>
          <a:xfrm>
            <a:off x="4620548" y="32369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E9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verified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9829800" y="16916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 txBox="1"/>
          <p:nvPr/>
        </p:nvSpPr>
        <p:spPr>
          <a:xfrm>
            <a:off x="10131552" y="1645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/ reasoner</a:t>
            </a:r>
            <a:endParaRPr lang="en-US" sz="1300"/>
          </a:p>
        </p:txBody>
      </p:sp>
      <p:sp>
        <p:nvSpPr>
          <p:cNvPr id="34" name="Shape 32"/>
          <p:cNvSpPr/>
          <p:nvPr/>
        </p:nvSpPr>
        <p:spPr>
          <a:xfrm>
            <a:off x="9829800" y="20574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10131552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/>
          </a:p>
        </p:txBody>
      </p:sp>
      <p:sp>
        <p:nvSpPr>
          <p:cNvPr id="36" name="Shape 34"/>
          <p:cNvSpPr/>
          <p:nvPr/>
        </p:nvSpPr>
        <p:spPr>
          <a:xfrm>
            <a:off x="9829800" y="2423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 txBox="1"/>
          <p:nvPr/>
        </p:nvSpPr>
        <p:spPr>
          <a:xfrm>
            <a:off x="10131552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300"/>
          </a:p>
        </p:txBody>
      </p:sp>
      <p:sp>
        <p:nvSpPr>
          <p:cNvPr id="38" name="Shape 36"/>
          <p:cNvSpPr/>
          <p:nvPr/>
        </p:nvSpPr>
        <p:spPr>
          <a:xfrm>
            <a:off x="9829800" y="27889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 txBox="1"/>
          <p:nvPr/>
        </p:nvSpPr>
        <p:spPr>
          <a:xfrm>
            <a:off x="10131552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step</a:t>
            </a:r>
            <a:endParaRPr lang="en-US" sz="1300"/>
          </a:p>
        </p:txBody>
      </p:sp>
      <p:sp>
        <p:nvSpPr>
          <p:cNvPr id="40" name="Text 38"/>
          <p:cNvSpPr txBox="1"/>
          <p:nvPr/>
        </p:nvSpPr>
        <p:spPr>
          <a:xfrm>
            <a:off x="548640" y="36393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two, the team's </a:t>
            </a:r>
            <a:r>
              <a:rPr lang="en-US" sz="16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r>
              <a:rPr lang="en-US" sz="16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not the problem — the run never made a valid move, or a verified answer was thrown away.</a:t>
            </a:r>
            <a:endParaRPr lang="en-US" sz="1600"/>
          </a:p>
        </p:txBody>
      </p:sp>
      <p:sp>
        <p:nvSpPr>
          <p:cNvPr id="41" name="Text 39"/>
          <p:cNvSpPr txBox="1"/>
          <p:nvPr/>
        </p:nvSpPr>
        <p:spPr>
          <a:xfrm>
            <a:off x="548640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548640" y="4681728"/>
            <a:ext cx="3511296" cy="137160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822960" y="4974336"/>
            <a:ext cx="566928" cy="566928"/>
          </a:xfrm>
          <a:prstGeom prst="ellipse">
            <a:avLst/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53" y="5104729"/>
            <a:ext cx="306141" cy="306141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160020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2200"/>
          </a:p>
        </p:txBody>
      </p:sp>
      <p:sp>
        <p:nvSpPr>
          <p:cNvPr id="46" name="Text 43"/>
          <p:cNvSpPr txBox="1"/>
          <p:nvPr/>
        </p:nvSpPr>
        <p:spPr>
          <a:xfrm>
            <a:off x="1600200" y="53583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</a:t>
            </a:r>
            <a:endParaRPr lang="en-US" sz="1500"/>
          </a:p>
        </p:txBody>
      </p:sp>
      <p:sp>
        <p:nvSpPr>
          <p:cNvPr id="47" name="Shape 44"/>
          <p:cNvSpPr/>
          <p:nvPr/>
        </p:nvSpPr>
        <p:spPr>
          <a:xfrm>
            <a:off x="4334256" y="4681728"/>
            <a:ext cx="3511296" cy="137160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45"/>
          <p:cNvSpPr/>
          <p:nvPr/>
        </p:nvSpPr>
        <p:spPr>
          <a:xfrm>
            <a:off x="4608576" y="4974336"/>
            <a:ext cx="566928" cy="566928"/>
          </a:xfrm>
          <a:prstGeom prst="ellipse">
            <a:avLst/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69" y="5104729"/>
            <a:ext cx="306141" cy="306141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5385816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2200"/>
          </a:p>
        </p:txBody>
      </p:sp>
      <p:sp>
        <p:nvSpPr>
          <p:cNvPr id="51" name="Text 47"/>
          <p:cNvSpPr txBox="1"/>
          <p:nvPr/>
        </p:nvSpPr>
        <p:spPr>
          <a:xfrm>
            <a:off x="5385816" y="53583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from the moves themselves — S</a:t>
            </a:r>
            <a:r>
              <a:rPr lang="de-DE" sz="1500" dirty="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TATISTIC METRIC</a:t>
            </a:r>
            <a:endParaRPr lang="en-US" sz="1500" dirty="0"/>
          </a:p>
        </p:txBody>
      </p:sp>
      <p:sp>
        <p:nvSpPr>
          <p:cNvPr id="52" name="Shape 48"/>
          <p:cNvSpPr/>
          <p:nvPr/>
        </p:nvSpPr>
        <p:spPr>
          <a:xfrm>
            <a:off x="8119872" y="4681728"/>
            <a:ext cx="3511296" cy="137160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Shape 49"/>
          <p:cNvSpPr/>
          <p:nvPr/>
        </p:nvSpPr>
        <p:spPr>
          <a:xfrm>
            <a:off x="8394192" y="4974336"/>
            <a:ext cx="566928" cy="566928"/>
          </a:xfrm>
          <a:prstGeom prst="ellipse">
            <a:avLst/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585" y="5104729"/>
            <a:ext cx="306141" cy="306141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9171432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200"/>
          </a:p>
        </p:txBody>
      </p:sp>
      <p:sp>
        <p:nvSpPr>
          <p:cNvPr id="56" name="Text 51"/>
          <p:cNvSpPr txBox="1"/>
          <p:nvPr/>
        </p:nvSpPr>
        <p:spPr>
          <a:xfrm>
            <a:off x="9171432" y="53583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judge from logs reading and domain expertise</a:t>
            </a:r>
            <a:endParaRPr lang="en-US" sz="1500" dirty="0"/>
          </a:p>
        </p:txBody>
      </p:sp>
      <p:sp>
        <p:nvSpPr>
          <p:cNvPr id="57" name="Shape 52"/>
          <p:cNvSpPr/>
          <p:nvPr/>
        </p:nvSpPr>
        <p:spPr>
          <a:xfrm>
            <a:off x="54864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Shape 53"/>
          <p:cNvSpPr/>
          <p:nvPr/>
        </p:nvSpPr>
        <p:spPr>
          <a:xfrm>
            <a:off x="68580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Shape 54"/>
          <p:cNvSpPr/>
          <p:nvPr/>
        </p:nvSpPr>
        <p:spPr>
          <a:xfrm>
            <a:off x="82296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5"/>
          <p:cNvSpPr txBox="1"/>
          <p:nvPr/>
        </p:nvSpPr>
        <p:spPr>
          <a:xfrm>
            <a:off x="10241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answer hides · CAISA Lab, Bonn</a:t>
            </a:r>
            <a:endParaRPr lang="en-US" sz="1000"/>
          </a:p>
        </p:txBody>
      </p:sp>
      <p:sp>
        <p:nvSpPr>
          <p:cNvPr id="61" name="Text 56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team design. Two domains. One capability ladder.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75488" cy="475488"/>
          </a:xfrm>
          <a:prstGeom prst="ellipse">
            <a:avLst/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322" y="1801002"/>
            <a:ext cx="256764" cy="2567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9164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r>
              <a:rPr lang="en-US" sz="16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prove a theorem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868680" y="239572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 txBox="1"/>
          <p:nvPr/>
        </p:nvSpPr>
        <p:spPr>
          <a:xfrm>
            <a:off x="86868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</a:t>
            </a:r>
            <a:endParaRPr lang="en-US" sz="1400"/>
          </a:p>
        </p:txBody>
      </p:sp>
      <p:sp>
        <p:nvSpPr>
          <p:cNvPr id="10" name="Text 7"/>
          <p:cNvSpPr txBox="1"/>
          <p:nvPr/>
        </p:nvSpPr>
        <p:spPr>
          <a:xfrm>
            <a:off x="777240" y="29077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2583180" y="239572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 txBox="1"/>
          <p:nvPr/>
        </p:nvSpPr>
        <p:spPr>
          <a:xfrm>
            <a:off x="258318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2491740" y="29077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checks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4297680" y="239572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 txBox="1"/>
          <p:nvPr/>
        </p:nvSpPr>
        <p:spPr>
          <a:xfrm>
            <a:off x="429768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400"/>
          </a:p>
        </p:txBody>
      </p:sp>
      <p:sp>
        <p:nvSpPr>
          <p:cNvPr id="16" name="Text 13"/>
          <p:cNvSpPr txBox="1"/>
          <p:nvPr/>
        </p:nvSpPr>
        <p:spPr>
          <a:xfrm>
            <a:off x="4206240" y="29077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decides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2221992" y="2624328"/>
            <a:ext cx="315468" cy="0"/>
          </a:xfrm>
          <a:prstGeom prst="line">
            <a:avLst/>
          </a:prstGeom>
          <a:noFill/>
          <a:ln w="19050">
            <a:solidFill>
              <a:srgbClr val="6B738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5"/>
          <p:cNvSpPr/>
          <p:nvPr/>
        </p:nvSpPr>
        <p:spPr>
          <a:xfrm>
            <a:off x="3936492" y="2624328"/>
            <a:ext cx="315468" cy="0"/>
          </a:xfrm>
          <a:prstGeom prst="line">
            <a:avLst/>
          </a:prstGeom>
          <a:noFill/>
          <a:ln w="19050">
            <a:solidFill>
              <a:srgbClr val="6B738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1604772" y="3291840"/>
            <a:ext cx="1568196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dash"/>
            <a:head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7"/>
          <p:cNvSpPr/>
          <p:nvPr/>
        </p:nvSpPr>
        <p:spPr>
          <a:xfrm>
            <a:off x="3319272" y="3291840"/>
            <a:ext cx="1568196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dash"/>
            <a:head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 txBox="1"/>
          <p:nvPr/>
        </p:nvSpPr>
        <p:spPr>
          <a:xfrm>
            <a:off x="548640" y="336499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= hand back</a:t>
            </a:r>
            <a:endParaRPr lang="en-US" sz="1000"/>
          </a:p>
        </p:txBody>
      </p:sp>
      <p:sp>
        <p:nvSpPr>
          <p:cNvPr id="22" name="Text 19"/>
          <p:cNvSpPr txBox="1"/>
          <p:nvPr/>
        </p:nvSpPr>
        <p:spPr>
          <a:xfrm>
            <a:off x="86868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/>
          </a:p>
        </p:txBody>
      </p:sp>
      <p:sp>
        <p:nvSpPr>
          <p:cNvPr id="23" name="Shape 20"/>
          <p:cNvSpPr/>
          <p:nvPr/>
        </p:nvSpPr>
        <p:spPr>
          <a:xfrm>
            <a:off x="1325880" y="365760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 w="1270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 txBox="1"/>
          <p:nvPr/>
        </p:nvSpPr>
        <p:spPr>
          <a:xfrm>
            <a:off x="1325880" y="36576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check_lean</a:t>
            </a:r>
            <a:endParaRPr lang="en-US" sz="1050"/>
          </a:p>
        </p:txBody>
      </p:sp>
      <p:sp>
        <p:nvSpPr>
          <p:cNvPr id="25" name="Shape 22"/>
          <p:cNvSpPr/>
          <p:nvPr/>
        </p:nvSpPr>
        <p:spPr>
          <a:xfrm>
            <a:off x="2386584" y="3657600"/>
            <a:ext cx="1201522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 w="1270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 txBox="1"/>
          <p:nvPr/>
        </p:nvSpPr>
        <p:spPr>
          <a:xfrm>
            <a:off x="2386584" y="3657600"/>
            <a:ext cx="1201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search_lemmas</a:t>
            </a:r>
            <a:endParaRPr lang="en-US" sz="1050"/>
          </a:p>
        </p:txBody>
      </p:sp>
      <p:sp>
        <p:nvSpPr>
          <p:cNvPr id="27" name="Shape 24"/>
          <p:cNvSpPr/>
          <p:nvPr/>
        </p:nvSpPr>
        <p:spPr>
          <a:xfrm>
            <a:off x="3661258" y="365760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 w="1270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 txBox="1"/>
          <p:nvPr/>
        </p:nvSpPr>
        <p:spPr>
          <a:xfrm>
            <a:off x="3661258" y="36576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try_tactic</a:t>
            </a:r>
            <a:endParaRPr lang="en-US" sz="1050"/>
          </a:p>
        </p:txBody>
      </p:sp>
      <p:sp>
        <p:nvSpPr>
          <p:cNvPr id="29" name="Shape 26"/>
          <p:cNvSpPr/>
          <p:nvPr/>
        </p:nvSpPr>
        <p:spPr>
          <a:xfrm>
            <a:off x="4721962" y="365760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 w="1270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 txBox="1"/>
          <p:nvPr/>
        </p:nvSpPr>
        <p:spPr>
          <a:xfrm>
            <a:off x="4721962" y="36576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show_goals</a:t>
            </a:r>
            <a:endParaRPr lang="en-US" sz="1050"/>
          </a:p>
        </p:txBody>
      </p:sp>
      <p:sp>
        <p:nvSpPr>
          <p:cNvPr id="31" name="Shape 28"/>
          <p:cNvSpPr/>
          <p:nvPr/>
        </p:nvSpPr>
        <p:spPr>
          <a:xfrm>
            <a:off x="868680" y="4059936"/>
            <a:ext cx="4754880" cy="329184"/>
          </a:xfrm>
          <a:prstGeom prst="roundRect">
            <a:avLst>
              <a:gd name="adj" fmla="val 50000"/>
            </a:avLst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 txBox="1"/>
          <p:nvPr/>
        </p:nvSpPr>
        <p:spPr>
          <a:xfrm>
            <a:off x="868680" y="4059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8A5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checks the proof — not the statement</a:t>
            </a:r>
            <a:endParaRPr lang="en-US" sz="1250"/>
          </a:p>
        </p:txBody>
      </p:sp>
      <p:sp>
        <p:nvSpPr>
          <p:cNvPr id="33" name="Shape 30"/>
          <p:cNvSpPr/>
          <p:nvPr/>
        </p:nvSpPr>
        <p:spPr>
          <a:xfrm>
            <a:off x="6245352" y="146304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Shape 31"/>
          <p:cNvSpPr/>
          <p:nvPr/>
        </p:nvSpPr>
        <p:spPr>
          <a:xfrm>
            <a:off x="6519672" y="1691640"/>
            <a:ext cx="475488" cy="475488"/>
          </a:xfrm>
          <a:prstGeom prst="ellipse">
            <a:avLst/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034" y="1801002"/>
            <a:ext cx="256764" cy="256764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141464" y="169164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</a:t>
            </a:r>
            <a:r>
              <a:rPr lang="en-US" sz="16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recover a planetary system</a:t>
            </a:r>
            <a:endParaRPr lang="en-US" sz="1400"/>
          </a:p>
        </p:txBody>
      </p:sp>
      <p:sp>
        <p:nvSpPr>
          <p:cNvPr id="37" name="Shape 33"/>
          <p:cNvSpPr/>
          <p:nvPr/>
        </p:nvSpPr>
        <p:spPr>
          <a:xfrm>
            <a:off x="6565392" y="239572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4"/>
          <p:cNvSpPr txBox="1"/>
          <p:nvPr/>
        </p:nvSpPr>
        <p:spPr>
          <a:xfrm>
            <a:off x="6565392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/>
          </a:p>
        </p:txBody>
      </p:sp>
      <p:sp>
        <p:nvSpPr>
          <p:cNvPr id="39" name="Text 35"/>
          <p:cNvSpPr txBox="1"/>
          <p:nvPr/>
        </p:nvSpPr>
        <p:spPr>
          <a:xfrm>
            <a:off x="6473952" y="29077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100"/>
          </a:p>
        </p:txBody>
      </p:sp>
      <p:sp>
        <p:nvSpPr>
          <p:cNvPr id="40" name="Shape 36"/>
          <p:cNvSpPr/>
          <p:nvPr/>
        </p:nvSpPr>
        <p:spPr>
          <a:xfrm>
            <a:off x="8279892" y="239572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7"/>
          <p:cNvSpPr txBox="1"/>
          <p:nvPr/>
        </p:nvSpPr>
        <p:spPr>
          <a:xfrm>
            <a:off x="8279892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/>
          </a:p>
        </p:txBody>
      </p:sp>
      <p:sp>
        <p:nvSpPr>
          <p:cNvPr id="42" name="Text 38"/>
          <p:cNvSpPr txBox="1"/>
          <p:nvPr/>
        </p:nvSpPr>
        <p:spPr>
          <a:xfrm>
            <a:off x="8188452" y="29077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checks</a:t>
            </a:r>
            <a:endParaRPr lang="en-US" sz="1100"/>
          </a:p>
        </p:txBody>
      </p:sp>
      <p:sp>
        <p:nvSpPr>
          <p:cNvPr id="43" name="Shape 39"/>
          <p:cNvSpPr/>
          <p:nvPr/>
        </p:nvSpPr>
        <p:spPr>
          <a:xfrm>
            <a:off x="9994392" y="239572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0"/>
          <p:cNvSpPr txBox="1"/>
          <p:nvPr/>
        </p:nvSpPr>
        <p:spPr>
          <a:xfrm>
            <a:off x="9994392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400"/>
          </a:p>
        </p:txBody>
      </p:sp>
      <p:sp>
        <p:nvSpPr>
          <p:cNvPr id="45" name="Text 41"/>
          <p:cNvSpPr txBox="1"/>
          <p:nvPr/>
        </p:nvSpPr>
        <p:spPr>
          <a:xfrm>
            <a:off x="9902952" y="29077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decides</a:t>
            </a:r>
            <a:endParaRPr lang="en-US" sz="1100"/>
          </a:p>
        </p:txBody>
      </p:sp>
      <p:sp>
        <p:nvSpPr>
          <p:cNvPr id="46" name="Shape 42"/>
          <p:cNvSpPr/>
          <p:nvPr/>
        </p:nvSpPr>
        <p:spPr>
          <a:xfrm>
            <a:off x="7918704" y="2624328"/>
            <a:ext cx="315468" cy="0"/>
          </a:xfrm>
          <a:prstGeom prst="line">
            <a:avLst/>
          </a:prstGeom>
          <a:noFill/>
          <a:ln w="19050">
            <a:solidFill>
              <a:srgbClr val="6B738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3"/>
          <p:cNvSpPr/>
          <p:nvPr/>
        </p:nvSpPr>
        <p:spPr>
          <a:xfrm>
            <a:off x="9633204" y="2624328"/>
            <a:ext cx="315468" cy="0"/>
          </a:xfrm>
          <a:prstGeom prst="line">
            <a:avLst/>
          </a:prstGeom>
          <a:noFill/>
          <a:ln w="19050">
            <a:solidFill>
              <a:srgbClr val="6B738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44"/>
          <p:cNvSpPr/>
          <p:nvPr/>
        </p:nvSpPr>
        <p:spPr>
          <a:xfrm>
            <a:off x="7301484" y="3291840"/>
            <a:ext cx="1568196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dash"/>
            <a:head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45"/>
          <p:cNvSpPr/>
          <p:nvPr/>
        </p:nvSpPr>
        <p:spPr>
          <a:xfrm>
            <a:off x="9015984" y="3291840"/>
            <a:ext cx="1568196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dash"/>
            <a:head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6"/>
          <p:cNvSpPr txBox="1"/>
          <p:nvPr/>
        </p:nvSpPr>
        <p:spPr>
          <a:xfrm>
            <a:off x="6245352" y="336499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= hand back</a:t>
            </a:r>
            <a:endParaRPr lang="en-US" sz="1000"/>
          </a:p>
        </p:txBody>
      </p:sp>
      <p:sp>
        <p:nvSpPr>
          <p:cNvPr id="51" name="Text 47"/>
          <p:cNvSpPr txBox="1"/>
          <p:nvPr/>
        </p:nvSpPr>
        <p:spPr>
          <a:xfrm>
            <a:off x="6565392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/>
          </a:p>
        </p:txBody>
      </p:sp>
      <p:sp>
        <p:nvSpPr>
          <p:cNvPr id="52" name="Shape 48"/>
          <p:cNvSpPr/>
          <p:nvPr/>
        </p:nvSpPr>
        <p:spPr>
          <a:xfrm>
            <a:off x="7022592" y="3657600"/>
            <a:ext cx="1272845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 w="1270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49"/>
          <p:cNvSpPr txBox="1"/>
          <p:nvPr/>
        </p:nvSpPr>
        <p:spPr>
          <a:xfrm>
            <a:off x="7022592" y="3657600"/>
            <a:ext cx="12728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rv_periodogram</a:t>
            </a:r>
            <a:endParaRPr lang="en-US" sz="1050"/>
          </a:p>
        </p:txBody>
      </p:sp>
      <p:sp>
        <p:nvSpPr>
          <p:cNvPr id="54" name="Shape 50"/>
          <p:cNvSpPr/>
          <p:nvPr/>
        </p:nvSpPr>
        <p:spPr>
          <a:xfrm>
            <a:off x="8368589" y="3657600"/>
            <a:ext cx="702259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 w="1270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1"/>
          <p:cNvSpPr txBox="1"/>
          <p:nvPr/>
        </p:nvSpPr>
        <p:spPr>
          <a:xfrm>
            <a:off x="8368589" y="3657600"/>
            <a:ext cx="702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rv_fit</a:t>
            </a:r>
            <a:endParaRPr lang="en-US" sz="1050"/>
          </a:p>
        </p:txBody>
      </p:sp>
      <p:sp>
        <p:nvSpPr>
          <p:cNvPr id="56" name="Shape 52"/>
          <p:cNvSpPr/>
          <p:nvPr/>
        </p:nvSpPr>
        <p:spPr>
          <a:xfrm>
            <a:off x="9144000" y="3657600"/>
            <a:ext cx="1058875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 w="1270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3"/>
          <p:cNvSpPr txBox="1"/>
          <p:nvPr/>
        </p:nvSpPr>
        <p:spPr>
          <a:xfrm>
            <a:off x="9144000" y="3657600"/>
            <a:ext cx="1058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rv_residual</a:t>
            </a:r>
            <a:endParaRPr lang="en-US" sz="1050"/>
          </a:p>
        </p:txBody>
      </p:sp>
      <p:sp>
        <p:nvSpPr>
          <p:cNvPr id="58" name="Shape 54"/>
          <p:cNvSpPr/>
          <p:nvPr/>
        </p:nvSpPr>
        <p:spPr>
          <a:xfrm>
            <a:off x="10276027" y="3657600"/>
            <a:ext cx="916229" cy="274320"/>
          </a:xfrm>
          <a:prstGeom prst="roundRect">
            <a:avLst>
              <a:gd name="adj" fmla="val 50000"/>
            </a:avLst>
          </a:prstGeom>
          <a:solidFill>
            <a:srgbClr val="ECEEF3"/>
          </a:solidFill>
          <a:ln w="1270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5"/>
          <p:cNvSpPr txBox="1"/>
          <p:nvPr/>
        </p:nvSpPr>
        <p:spPr>
          <a:xfrm>
            <a:off x="10276027" y="3657600"/>
            <a:ext cx="916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rv_submit</a:t>
            </a:r>
            <a:endParaRPr lang="en-US" sz="1050"/>
          </a:p>
        </p:txBody>
      </p:sp>
      <p:sp>
        <p:nvSpPr>
          <p:cNvPr id="60" name="Shape 56"/>
          <p:cNvSpPr/>
          <p:nvPr/>
        </p:nvSpPr>
        <p:spPr>
          <a:xfrm>
            <a:off x="6565392" y="4059936"/>
            <a:ext cx="4754880" cy="329184"/>
          </a:xfrm>
          <a:prstGeom prst="roundRect">
            <a:avLst>
              <a:gd name="adj" fmla="val 50000"/>
            </a:avLst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7"/>
          <p:cNvSpPr txBox="1"/>
          <p:nvPr/>
        </p:nvSpPr>
        <p:spPr>
          <a:xfrm>
            <a:off x="6565392" y="4059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8A5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critic can submit — and attempts are capped</a:t>
            </a:r>
            <a:endParaRPr lang="en-US" sz="1250"/>
          </a:p>
        </p:txBody>
      </p:sp>
      <p:sp>
        <p:nvSpPr>
          <p:cNvPr id="62" name="Text 58"/>
          <p:cNvSpPr txBox="1"/>
          <p:nvPr/>
        </p:nvSpPr>
        <p:spPr>
          <a:xfrm>
            <a:off x="54864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LADDER</a:t>
            </a:r>
            <a:endParaRPr lang="en-US" sz="1100"/>
          </a:p>
        </p:txBody>
      </p:sp>
      <p:sp>
        <p:nvSpPr>
          <p:cNvPr id="63" name="Shape 59"/>
          <p:cNvSpPr/>
          <p:nvPr/>
        </p:nvSpPr>
        <p:spPr>
          <a:xfrm>
            <a:off x="548640" y="5431536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6A7488"/>
          </a:solidFill>
          <a:ln w="12700">
            <a:solidFill>
              <a:srgbClr val="6A7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Text 60"/>
          <p:cNvSpPr txBox="1"/>
          <p:nvPr/>
        </p:nvSpPr>
        <p:spPr>
          <a:xfrm>
            <a:off x="731520" y="5541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500"/>
          </a:p>
        </p:txBody>
      </p:sp>
      <p:sp>
        <p:nvSpPr>
          <p:cNvPr id="65" name="Text 61"/>
          <p:cNvSpPr txBox="1"/>
          <p:nvPr/>
        </p:nvSpPr>
        <p:spPr>
          <a:xfrm>
            <a:off x="731520" y="5824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codestral · devstral · gpt-4o-mini</a:t>
            </a:r>
            <a:endParaRPr lang="en-US" sz="1300"/>
          </a:p>
        </p:txBody>
      </p:sp>
      <p:sp>
        <p:nvSpPr>
          <p:cNvPr id="66" name="Shape 62"/>
          <p:cNvSpPr/>
          <p:nvPr/>
        </p:nvSpPr>
        <p:spPr>
          <a:xfrm>
            <a:off x="3291840" y="5202936"/>
            <a:ext cx="2651760" cy="941832"/>
          </a:xfrm>
          <a:prstGeom prst="roundRect">
            <a:avLst>
              <a:gd name="adj" fmla="val 7767"/>
            </a:avLst>
          </a:prstGeom>
          <a:solidFill>
            <a:srgbClr val="3E4860"/>
          </a:solidFill>
          <a:ln w="12700">
            <a:solidFill>
              <a:srgbClr val="3E48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7" name="Text 63"/>
          <p:cNvSpPr txBox="1"/>
          <p:nvPr/>
        </p:nvSpPr>
        <p:spPr>
          <a:xfrm>
            <a:off x="3474720" y="5312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500"/>
          </a:p>
        </p:txBody>
      </p:sp>
      <p:sp>
        <p:nvSpPr>
          <p:cNvPr id="68" name="Text 64"/>
          <p:cNvSpPr txBox="1"/>
          <p:nvPr/>
        </p:nvSpPr>
        <p:spPr>
          <a:xfrm>
            <a:off x="3474720" y="5596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 · gpt-4o</a:t>
            </a:r>
            <a:endParaRPr lang="en-US" sz="1300"/>
          </a:p>
        </p:txBody>
      </p:sp>
      <p:sp>
        <p:nvSpPr>
          <p:cNvPr id="69" name="Shape 65"/>
          <p:cNvSpPr/>
          <p:nvPr/>
        </p:nvSpPr>
        <p:spPr>
          <a:xfrm>
            <a:off x="6035040" y="4974336"/>
            <a:ext cx="2651760" cy="1170432"/>
          </a:xfrm>
          <a:prstGeom prst="roundRect">
            <a:avLst>
              <a:gd name="adj" fmla="val 6250"/>
            </a:avLst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6"/>
          <p:cNvSpPr txBox="1"/>
          <p:nvPr/>
        </p:nvSpPr>
        <p:spPr>
          <a:xfrm>
            <a:off x="6217920" y="5084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500"/>
          </a:p>
        </p:txBody>
      </p:sp>
      <p:sp>
        <p:nvSpPr>
          <p:cNvPr id="71" name="Text 67"/>
          <p:cNvSpPr txBox="1"/>
          <p:nvPr/>
        </p:nvSpPr>
        <p:spPr>
          <a:xfrm>
            <a:off x="6217920" y="5367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1300"/>
          </a:p>
        </p:txBody>
      </p:sp>
      <p:sp>
        <p:nvSpPr>
          <p:cNvPr id="72" name="Shape 68"/>
          <p:cNvSpPr/>
          <p:nvPr/>
        </p:nvSpPr>
        <p:spPr>
          <a:xfrm>
            <a:off x="8915400" y="5001768"/>
            <a:ext cx="2724912" cy="1143000"/>
          </a:xfrm>
          <a:prstGeom prst="roundRect">
            <a:avLst>
              <a:gd name="adj" fmla="val 8000"/>
            </a:avLst>
          </a:prstGeom>
          <a:solidFill>
            <a:srgbClr val="EFE8F6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Shape 69"/>
          <p:cNvSpPr/>
          <p:nvPr/>
        </p:nvSpPr>
        <p:spPr>
          <a:xfrm>
            <a:off x="9098280" y="5230368"/>
            <a:ext cx="457200" cy="457200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3436" y="5335524"/>
            <a:ext cx="246888" cy="246888"/>
          </a:xfrm>
          <a:prstGeom prst="rect">
            <a:avLst/>
          </a:prstGeom>
        </p:spPr>
      </p:pic>
      <p:sp>
        <p:nvSpPr>
          <p:cNvPr id="75" name="Text 70"/>
          <p:cNvSpPr txBox="1"/>
          <p:nvPr/>
        </p:nvSpPr>
        <p:spPr>
          <a:xfrm>
            <a:off x="9674352" y="510235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one controlled swap: a gpt-5.4 team whose critic is codestral</a:t>
            </a:r>
            <a:endParaRPr lang="en-US" sz="1300"/>
          </a:p>
        </p:txBody>
      </p:sp>
      <p:sp>
        <p:nvSpPr>
          <p:cNvPr id="76" name="Shape 71"/>
          <p:cNvSpPr/>
          <p:nvPr/>
        </p:nvSpPr>
        <p:spPr>
          <a:xfrm>
            <a:off x="54864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7" name="Shape 72"/>
          <p:cNvSpPr/>
          <p:nvPr/>
        </p:nvSpPr>
        <p:spPr>
          <a:xfrm>
            <a:off x="68580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" name="Shape 73"/>
          <p:cNvSpPr/>
          <p:nvPr/>
        </p:nvSpPr>
        <p:spPr>
          <a:xfrm>
            <a:off x="82296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Text 74"/>
          <p:cNvSpPr txBox="1"/>
          <p:nvPr/>
        </p:nvSpPr>
        <p:spPr>
          <a:xfrm>
            <a:off x="10241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answer hides · CAISA Lab, Bonn</a:t>
            </a:r>
            <a:endParaRPr lang="en-US" sz="1000"/>
          </a:p>
        </p:txBody>
      </p:sp>
      <p:sp>
        <p:nvSpPr>
          <p:cNvPr id="80" name="Text 75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364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the team fails — and where they live</a:t>
            </a:r>
            <a:endParaRPr lang="en-US" sz="340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failures · columns = model capability · both domains pooled</a:t>
            </a:r>
            <a:endParaRPr lang="en-US" sz="1500"/>
          </a:p>
        </p:txBody>
      </p:sp>
      <p:sp>
        <p:nvSpPr>
          <p:cNvPr id="5" name="Text 3"/>
          <p:cNvSpPr txBox="1"/>
          <p:nvPr/>
        </p:nvSpPr>
        <p:spPr>
          <a:xfrm>
            <a:off x="530352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644652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300"/>
          </a:p>
        </p:txBody>
      </p:sp>
      <p:sp>
        <p:nvSpPr>
          <p:cNvPr id="7" name="Text 5"/>
          <p:cNvSpPr txBox="1"/>
          <p:nvPr/>
        </p:nvSpPr>
        <p:spPr>
          <a:xfrm>
            <a:off x="7589520" y="1810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804672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548640" y="22677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</a:t>
            </a:r>
            <a:endParaRPr lang="en-US" sz="1100"/>
          </a:p>
        </p:txBody>
      </p:sp>
      <p:sp>
        <p:nvSpPr>
          <p:cNvPr id="11" name="Text 9"/>
          <p:cNvSpPr txBox="1"/>
          <p:nvPr/>
        </p:nvSpPr>
        <p:spPr>
          <a:xfrm>
            <a:off x="1188720" y="2176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can't run itself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5303520" y="2194560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733288" y="2331720"/>
            <a:ext cx="146304" cy="146304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446520" y="2194560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876288" y="2331720"/>
            <a:ext cx="146304" cy="146304"/>
          </a:xfrm>
          <a:prstGeom prst="ellipse">
            <a:avLst/>
          </a:prstGeom>
          <a:solidFill>
            <a:srgbClr val="C99014"/>
          </a:solidFill>
          <a:ln w="12700">
            <a:solidFill>
              <a:srgbClr val="C9901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 txBox="1"/>
          <p:nvPr/>
        </p:nvSpPr>
        <p:spPr>
          <a:xfrm>
            <a:off x="7589520" y="21762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5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548640" y="2779776"/>
            <a:ext cx="804672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548640" y="2926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</a:t>
            </a:r>
            <a:endParaRPr lang="en-US" sz="1100"/>
          </a:p>
        </p:txBody>
      </p:sp>
      <p:sp>
        <p:nvSpPr>
          <p:cNvPr id="20" name="Text 18"/>
          <p:cNvSpPr txBox="1"/>
          <p:nvPr/>
        </p:nvSpPr>
        <p:spPr>
          <a:xfrm>
            <a:off x="118872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answer is lost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5303520" y="2852928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5733288" y="2990088"/>
            <a:ext cx="146304" cy="146304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6446520" y="2852928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876288" y="2990088"/>
            <a:ext cx="146304" cy="146304"/>
          </a:xfrm>
          <a:prstGeom prst="ellipse">
            <a:avLst/>
          </a:prstGeom>
          <a:solidFill>
            <a:srgbClr val="C99014"/>
          </a:solidFill>
          <a:ln w="12700">
            <a:solidFill>
              <a:srgbClr val="C9901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7589520" y="2852928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8019288" y="2990088"/>
            <a:ext cx="146304" cy="146304"/>
          </a:xfrm>
          <a:prstGeom prst="ellipse">
            <a:avLst/>
          </a:prstGeom>
          <a:solidFill>
            <a:srgbClr val="C99014"/>
          </a:solidFill>
          <a:ln w="12700">
            <a:solidFill>
              <a:srgbClr val="C9901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548640" y="3438144"/>
            <a:ext cx="804672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48640" y="358444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548640" y="35844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</a:t>
            </a:r>
            <a:endParaRPr lang="en-US" sz="1100"/>
          </a:p>
        </p:txBody>
      </p:sp>
      <p:sp>
        <p:nvSpPr>
          <p:cNvPr id="30" name="Text 28"/>
          <p:cNvSpPr txBox="1"/>
          <p:nvPr/>
        </p:nvSpPr>
        <p:spPr>
          <a:xfrm>
            <a:off x="1188720" y="34930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approves without checking</a:t>
            </a:r>
            <a:endParaRPr lang="en-US" sz="1500"/>
          </a:p>
        </p:txBody>
      </p:sp>
      <p:sp>
        <p:nvSpPr>
          <p:cNvPr id="31" name="Shape 29"/>
          <p:cNvSpPr/>
          <p:nvPr/>
        </p:nvSpPr>
        <p:spPr>
          <a:xfrm>
            <a:off x="5303520" y="3511296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5733288" y="3648456"/>
            <a:ext cx="146304" cy="146304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446520" y="3511296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876288" y="3648456"/>
            <a:ext cx="146304" cy="146304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7589520" y="34930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5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 txBox="1"/>
          <p:nvPr/>
        </p:nvSpPr>
        <p:spPr>
          <a:xfrm>
            <a:off x="548640" y="4114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</a:t>
            </a:r>
            <a:endParaRPr lang="en-US" sz="1100"/>
          </a:p>
        </p:txBody>
      </p:sp>
      <p:sp>
        <p:nvSpPr>
          <p:cNvPr id="38" name="Text 36"/>
          <p:cNvSpPr txBox="1"/>
          <p:nvPr/>
        </p:nvSpPr>
        <p:spPr>
          <a:xfrm>
            <a:off x="118872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rejects correct work</a:t>
            </a:r>
            <a:endParaRPr lang="en-US" sz="1500"/>
          </a:p>
        </p:txBody>
      </p:sp>
      <p:sp>
        <p:nvSpPr>
          <p:cNvPr id="39" name="Text 37"/>
          <p:cNvSpPr txBox="1"/>
          <p:nvPr/>
        </p:nvSpPr>
        <p:spPr>
          <a:xfrm>
            <a:off x="5303520" y="4023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5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40" name="Shape 38"/>
          <p:cNvSpPr/>
          <p:nvPr/>
        </p:nvSpPr>
        <p:spPr>
          <a:xfrm>
            <a:off x="6446520" y="4041648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6876288" y="4178808"/>
            <a:ext cx="146304" cy="146304"/>
          </a:xfrm>
          <a:prstGeom prst="ellipse">
            <a:avLst/>
          </a:prstGeom>
          <a:solidFill>
            <a:srgbClr val="C99014"/>
          </a:solidFill>
          <a:ln w="12700">
            <a:solidFill>
              <a:srgbClr val="C9901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 txBox="1"/>
          <p:nvPr/>
        </p:nvSpPr>
        <p:spPr>
          <a:xfrm>
            <a:off x="7589520" y="4023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5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43" name="Shape 41"/>
          <p:cNvSpPr/>
          <p:nvPr/>
        </p:nvSpPr>
        <p:spPr>
          <a:xfrm>
            <a:off x="548640" y="464515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 txBox="1"/>
          <p:nvPr/>
        </p:nvSpPr>
        <p:spPr>
          <a:xfrm>
            <a:off x="54864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</a:t>
            </a:r>
            <a:endParaRPr lang="en-US" sz="1100"/>
          </a:p>
        </p:txBody>
      </p:sp>
      <p:sp>
        <p:nvSpPr>
          <p:cNvPr id="45" name="Text 43"/>
          <p:cNvSpPr txBox="1"/>
          <p:nvPr/>
        </p:nvSpPr>
        <p:spPr>
          <a:xfrm>
            <a:off x="1188720" y="45537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re-checks and finds nothing</a:t>
            </a:r>
            <a:endParaRPr lang="en-US" sz="1500"/>
          </a:p>
        </p:txBody>
      </p:sp>
      <p:sp>
        <p:nvSpPr>
          <p:cNvPr id="46" name="Text 44"/>
          <p:cNvSpPr txBox="1"/>
          <p:nvPr/>
        </p:nvSpPr>
        <p:spPr>
          <a:xfrm>
            <a:off x="5303520" y="45537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5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47" name="Text 45"/>
          <p:cNvSpPr txBox="1"/>
          <p:nvPr/>
        </p:nvSpPr>
        <p:spPr>
          <a:xfrm>
            <a:off x="6446520" y="45537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5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48" name="Shape 46"/>
          <p:cNvSpPr/>
          <p:nvPr/>
        </p:nvSpPr>
        <p:spPr>
          <a:xfrm>
            <a:off x="7589520" y="4572000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8019288" y="4709160"/>
            <a:ext cx="146304" cy="146304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548640" y="5175504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 txBox="1"/>
          <p:nvPr/>
        </p:nvSpPr>
        <p:spPr>
          <a:xfrm>
            <a:off x="548640" y="51755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</a:t>
            </a:r>
            <a:endParaRPr lang="en-US" sz="1100"/>
          </a:p>
        </p:txBody>
      </p:sp>
      <p:sp>
        <p:nvSpPr>
          <p:cNvPr id="52" name="Text 50"/>
          <p:cNvSpPr txBox="1"/>
          <p:nvPr/>
        </p:nvSpPr>
        <p:spPr>
          <a:xfrm>
            <a:off x="1188720" y="50840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claims what no tool said</a:t>
            </a:r>
            <a:endParaRPr lang="en-US" sz="1500"/>
          </a:p>
        </p:txBody>
      </p:sp>
      <p:sp>
        <p:nvSpPr>
          <p:cNvPr id="53" name="Shape 51"/>
          <p:cNvSpPr/>
          <p:nvPr/>
        </p:nvSpPr>
        <p:spPr>
          <a:xfrm>
            <a:off x="5303520" y="5102352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Shape 52"/>
          <p:cNvSpPr/>
          <p:nvPr/>
        </p:nvSpPr>
        <p:spPr>
          <a:xfrm>
            <a:off x="5733288" y="5239512"/>
            <a:ext cx="146304" cy="146304"/>
          </a:xfrm>
          <a:prstGeom prst="ellipse">
            <a:avLst/>
          </a:prstGeom>
          <a:solidFill>
            <a:srgbClr val="C99014"/>
          </a:solidFill>
          <a:ln w="12700">
            <a:solidFill>
              <a:srgbClr val="C9901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 txBox="1"/>
          <p:nvPr/>
        </p:nvSpPr>
        <p:spPr>
          <a:xfrm>
            <a:off x="6446520" y="50840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B5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/>
          </a:p>
        </p:txBody>
      </p:sp>
      <p:sp>
        <p:nvSpPr>
          <p:cNvPr id="56" name="Shape 54"/>
          <p:cNvSpPr/>
          <p:nvPr/>
        </p:nvSpPr>
        <p:spPr>
          <a:xfrm>
            <a:off x="7589520" y="5102352"/>
            <a:ext cx="1005840" cy="420624"/>
          </a:xfrm>
          <a:prstGeom prst="roundRect">
            <a:avLst>
              <a:gd name="adj" fmla="val 17391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55"/>
          <p:cNvSpPr/>
          <p:nvPr/>
        </p:nvSpPr>
        <p:spPr>
          <a:xfrm>
            <a:off x="8019288" y="5239512"/>
            <a:ext cx="146304" cy="146304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Shape 56"/>
          <p:cNvSpPr/>
          <p:nvPr/>
        </p:nvSpPr>
        <p:spPr>
          <a:xfrm>
            <a:off x="548640" y="5596128"/>
            <a:ext cx="804672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Shape 57"/>
          <p:cNvSpPr/>
          <p:nvPr/>
        </p:nvSpPr>
        <p:spPr>
          <a:xfrm>
            <a:off x="1188720" y="5824728"/>
            <a:ext cx="128016" cy="128016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8"/>
          <p:cNvSpPr txBox="1"/>
          <p:nvPr/>
        </p:nvSpPr>
        <p:spPr>
          <a:xfrm>
            <a:off x="1389888" y="5760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1200"/>
          </a:p>
        </p:txBody>
      </p:sp>
      <p:sp>
        <p:nvSpPr>
          <p:cNvPr id="61" name="Shape 59"/>
          <p:cNvSpPr/>
          <p:nvPr/>
        </p:nvSpPr>
        <p:spPr>
          <a:xfrm>
            <a:off x="2468880" y="5824728"/>
            <a:ext cx="128016" cy="128016"/>
          </a:xfrm>
          <a:prstGeom prst="ellipse">
            <a:avLst/>
          </a:prstGeom>
          <a:solidFill>
            <a:srgbClr val="C99014"/>
          </a:solidFill>
          <a:ln w="12700">
            <a:solidFill>
              <a:srgbClr val="C9901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60"/>
          <p:cNvSpPr txBox="1"/>
          <p:nvPr/>
        </p:nvSpPr>
        <p:spPr>
          <a:xfrm>
            <a:off x="2670048" y="5760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200"/>
          </a:p>
        </p:txBody>
      </p:sp>
      <p:sp>
        <p:nvSpPr>
          <p:cNvPr id="63" name="Text 61"/>
          <p:cNvSpPr txBox="1"/>
          <p:nvPr/>
        </p:nvSpPr>
        <p:spPr>
          <a:xfrm>
            <a:off x="3749040" y="5760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not observed</a:t>
            </a:r>
            <a:endParaRPr lang="en-US" sz="1200"/>
          </a:p>
        </p:txBody>
      </p:sp>
      <p:sp>
        <p:nvSpPr>
          <p:cNvPr id="64" name="Shape 62"/>
          <p:cNvSpPr/>
          <p:nvPr/>
        </p:nvSpPr>
        <p:spPr>
          <a:xfrm>
            <a:off x="8961120" y="2176272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Shape 63"/>
          <p:cNvSpPr/>
          <p:nvPr/>
        </p:nvSpPr>
        <p:spPr>
          <a:xfrm>
            <a:off x="9144000" y="2450592"/>
            <a:ext cx="502920" cy="502920"/>
          </a:xfrm>
          <a:prstGeom prst="ellipse">
            <a:avLst/>
          </a:prstGeom>
          <a:solidFill>
            <a:srgbClr val="1E9C83"/>
          </a:solidFill>
          <a:ln w="12700">
            <a:solidFill>
              <a:srgbClr val="1E9C8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672" y="2566264"/>
            <a:ext cx="271577" cy="271577"/>
          </a:xfrm>
          <a:prstGeom prst="rect">
            <a:avLst/>
          </a:prstGeom>
        </p:spPr>
      </p:pic>
      <p:sp>
        <p:nvSpPr>
          <p:cNvPr id="67" name="Text 64"/>
          <p:cNvSpPr txBox="1"/>
          <p:nvPr/>
        </p:nvSpPr>
        <p:spPr>
          <a:xfrm>
            <a:off x="9802368" y="2286000"/>
            <a:ext cx="17190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fades with capability</a:t>
            </a:r>
            <a:endParaRPr lang="en-US" sz="1500"/>
          </a:p>
        </p:txBody>
      </p:sp>
      <p:sp>
        <p:nvSpPr>
          <p:cNvPr id="68" name="Shape 65"/>
          <p:cNvSpPr/>
          <p:nvPr/>
        </p:nvSpPr>
        <p:spPr>
          <a:xfrm>
            <a:off x="8961120" y="3355848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" name="Shape 66"/>
          <p:cNvSpPr/>
          <p:nvPr/>
        </p:nvSpPr>
        <p:spPr>
          <a:xfrm>
            <a:off x="9144000" y="3630168"/>
            <a:ext cx="502920" cy="502920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672" y="3745840"/>
            <a:ext cx="271577" cy="271577"/>
          </a:xfrm>
          <a:prstGeom prst="rect">
            <a:avLst/>
          </a:prstGeom>
        </p:spPr>
      </p:pic>
      <p:sp>
        <p:nvSpPr>
          <p:cNvPr id="71" name="Text 67"/>
          <p:cNvSpPr txBox="1"/>
          <p:nvPr/>
        </p:nvSpPr>
        <p:spPr>
          <a:xfrm>
            <a:off x="9802368" y="3465576"/>
            <a:ext cx="17190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failures change character</a:t>
            </a:r>
            <a:endParaRPr lang="en-US" sz="1500"/>
          </a:p>
        </p:txBody>
      </p:sp>
      <p:sp>
        <p:nvSpPr>
          <p:cNvPr id="72" name="Shape 68"/>
          <p:cNvSpPr/>
          <p:nvPr/>
        </p:nvSpPr>
        <p:spPr>
          <a:xfrm>
            <a:off x="8961120" y="4535424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Shape 69"/>
          <p:cNvSpPr/>
          <p:nvPr/>
        </p:nvSpPr>
        <p:spPr>
          <a:xfrm>
            <a:off x="9144000" y="4809744"/>
            <a:ext cx="502920" cy="502920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9672" y="4925416"/>
            <a:ext cx="271577" cy="271577"/>
          </a:xfrm>
          <a:prstGeom prst="rect">
            <a:avLst/>
          </a:prstGeom>
        </p:spPr>
      </p:pic>
      <p:sp>
        <p:nvSpPr>
          <p:cNvPr id="75" name="Text 70"/>
          <p:cNvSpPr txBox="1"/>
          <p:nvPr/>
        </p:nvSpPr>
        <p:spPr>
          <a:xfrm>
            <a:off x="9802368" y="4645152"/>
            <a:ext cx="17190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answers never stops</a:t>
            </a:r>
            <a:endParaRPr lang="en-US" sz="1500"/>
          </a:p>
        </p:txBody>
      </p:sp>
      <p:sp>
        <p:nvSpPr>
          <p:cNvPr id="76" name="Shape 71"/>
          <p:cNvSpPr/>
          <p:nvPr/>
        </p:nvSpPr>
        <p:spPr>
          <a:xfrm>
            <a:off x="54864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7" name="Shape 72"/>
          <p:cNvSpPr/>
          <p:nvPr/>
        </p:nvSpPr>
        <p:spPr>
          <a:xfrm>
            <a:off x="68580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" name="Shape 73"/>
          <p:cNvSpPr/>
          <p:nvPr/>
        </p:nvSpPr>
        <p:spPr>
          <a:xfrm>
            <a:off x="82296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Text 74"/>
          <p:cNvSpPr txBox="1"/>
          <p:nvPr/>
        </p:nvSpPr>
        <p:spPr>
          <a:xfrm>
            <a:off x="10241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answer hides · CAISA Lab, Bonn</a:t>
            </a:r>
            <a:endParaRPr lang="en-US" sz="1000"/>
          </a:p>
        </p:txBody>
      </p:sp>
      <p:sp>
        <p:nvSpPr>
          <p:cNvPr id="80" name="Text 75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· COLLAPSE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can't run itself</a:t>
            </a:r>
            <a:endParaRPr lang="en-US" sz="340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models can't make a valid move  ·  stronger models make valid moves — but the turn never reaches the role that can finish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394960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" y="2039112"/>
            <a:ext cx="1415491" cy="292608"/>
          </a:xfrm>
          <a:prstGeom prst="roundRect">
            <a:avLst>
              <a:gd name="adj" fmla="val 50000"/>
            </a:avLst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822960" y="2039112"/>
            <a:ext cx="14154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Lean · codestral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859536" y="2697480"/>
            <a:ext cx="146304" cy="146304"/>
          </a:xfrm>
          <a:prstGeom prst="ellipse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 txBox="1"/>
          <p:nvPr/>
        </p:nvSpPr>
        <p:spPr>
          <a:xfrm>
            <a:off x="1115568" y="2587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2057400" y="25877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error</a:t>
            </a: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hands off </a:t>
            </a: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itself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" y="3108960"/>
            <a:ext cx="146304" cy="146304"/>
          </a:xfrm>
          <a:prstGeom prst="ellipse">
            <a:avLst/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 txBox="1"/>
          <p:nvPr/>
        </p:nvSpPr>
        <p:spPr>
          <a:xfrm>
            <a:off x="1115568" y="2999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2057400" y="29992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Tool Call</a:t>
            </a: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“the proof has been verified” — </a:t>
            </a: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called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9536" y="3520440"/>
            <a:ext cx="146304" cy="146304"/>
          </a:xfrm>
          <a:prstGeom prst="ellipse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 txBox="1"/>
          <p:nvPr/>
        </p:nvSpPr>
        <p:spPr>
          <a:xfrm>
            <a:off x="1115568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2057400" y="3410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altLang="zh-CN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</a:t>
            </a:r>
            <a:r>
              <a:rPr lang="de-DE" altLang="zh-CN" sz="1400" b="1" dirty="0" err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types </a:t>
            </a:r>
            <a:r>
              <a:rPr lang="en-US" sz="1300" dirty="0" err="1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check_lean</a:t>
            </a:r>
            <a:r>
              <a:rPr lang="en-US" sz="1300" dirty="0">
                <a:solidFill>
                  <a:srgbClr val="1C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{…}</a:t>
            </a: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prose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9536" y="3931920"/>
            <a:ext cx="146304" cy="146304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 txBox="1"/>
          <p:nvPr/>
        </p:nvSpPr>
        <p:spPr>
          <a:xfrm>
            <a:off x="1115568" y="3822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38221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Blind Role</a:t>
            </a:r>
            <a:r>
              <a:rPr lang="en-US" sz="1400" b="1" dirty="0">
                <a:solidFill>
                  <a:srgbClr val="7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Always APPROVE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5352" y="1810512"/>
            <a:ext cx="5394960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 sz="800" dirty="0"/>
          </a:p>
        </p:txBody>
      </p:sp>
      <p:sp>
        <p:nvSpPr>
          <p:cNvPr id="21" name="Shape 19"/>
          <p:cNvSpPr/>
          <p:nvPr/>
        </p:nvSpPr>
        <p:spPr>
          <a:xfrm>
            <a:off x="6519672" y="2039112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6519672" y="20391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gpt-5.4-mini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6556248" y="2697480"/>
            <a:ext cx="146304" cy="146304"/>
          </a:xfrm>
          <a:prstGeom prst="ellipse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 txBox="1"/>
          <p:nvPr/>
        </p:nvSpPr>
        <p:spPr>
          <a:xfrm>
            <a:off x="6812280" y="2587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/>
          </a:p>
        </p:txBody>
      </p:sp>
      <p:sp>
        <p:nvSpPr>
          <p:cNvPr id="25" name="Text 23"/>
          <p:cNvSpPr txBox="1"/>
          <p:nvPr/>
        </p:nvSpPr>
        <p:spPr>
          <a:xfrm>
            <a:off x="7754112" y="25877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“best hypothesis remains 1 planet, 116.4 d”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56248" y="3108960"/>
            <a:ext cx="146304" cy="146304"/>
          </a:xfrm>
          <a:prstGeom prst="ellipse">
            <a:avLst/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 txBox="1"/>
          <p:nvPr/>
        </p:nvSpPr>
        <p:spPr>
          <a:xfrm>
            <a:off x="6812280" y="2999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/>
          </a:p>
        </p:txBody>
      </p:sp>
      <p:sp>
        <p:nvSpPr>
          <p:cNvPr id="28" name="Text 26"/>
          <p:cNvSpPr txBox="1"/>
          <p:nvPr/>
        </p:nvSpPr>
        <p:spPr>
          <a:xfrm>
            <a:off x="7754112" y="29992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“best hypothesis remains 1 planet, 116.4 d”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56248" y="3520440"/>
            <a:ext cx="146304" cy="146304"/>
          </a:xfrm>
          <a:prstGeom prst="ellipse">
            <a:avLst/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 txBox="1"/>
          <p:nvPr/>
        </p:nvSpPr>
        <p:spPr>
          <a:xfrm>
            <a:off x="6812280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4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/>
          </a:p>
        </p:txBody>
      </p:sp>
      <p:sp>
        <p:nvSpPr>
          <p:cNvPr id="31" name="Text 29"/>
          <p:cNvSpPr txBox="1"/>
          <p:nvPr/>
        </p:nvSpPr>
        <p:spPr>
          <a:xfrm>
            <a:off x="7754112" y="3410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“best hypothesis remains 1 planet, 116.4 d”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56248" y="3931920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4FA6"/>
            </a:solidFill>
            <a:prstDash val="dash"/>
          </a:ln>
        </p:spPr>
        <p:txBody>
          <a:bodyPr/>
          <a:lstStyle/>
          <a:p>
            <a:endParaRPr lang="de-DE" dirty="0"/>
          </a:p>
        </p:txBody>
      </p:sp>
      <p:sp>
        <p:nvSpPr>
          <p:cNvPr id="33" name="Text 31"/>
          <p:cNvSpPr txBox="1"/>
          <p:nvPr/>
        </p:nvSpPr>
        <p:spPr>
          <a:xfrm>
            <a:off x="7781544" y="38404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role that can submit never speaks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572000"/>
            <a:ext cx="3511296" cy="1536192"/>
          </a:xfrm>
          <a:prstGeom prst="roundRect">
            <a:avLst>
              <a:gd name="adj" fmla="val 5952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731520" y="4754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C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4400"/>
          </a:p>
        </p:txBody>
      </p:sp>
      <p:sp>
        <p:nvSpPr>
          <p:cNvPr id="36" name="Text 34"/>
          <p:cNvSpPr txBox="1"/>
          <p:nvPr/>
        </p:nvSpPr>
        <p:spPr>
          <a:xfrm>
            <a:off x="713232" y="5522976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codestral runs end stuck</a:t>
            </a:r>
            <a:endParaRPr lang="en-US" sz="1300"/>
          </a:p>
        </p:txBody>
      </p:sp>
      <p:sp>
        <p:nvSpPr>
          <p:cNvPr id="37" name="Shape 35"/>
          <p:cNvSpPr/>
          <p:nvPr/>
        </p:nvSpPr>
        <p:spPr>
          <a:xfrm>
            <a:off x="4334256" y="4572000"/>
            <a:ext cx="3511296" cy="1536192"/>
          </a:xfrm>
          <a:prstGeom prst="roundRect">
            <a:avLst>
              <a:gd name="adj" fmla="val 5952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 txBox="1"/>
          <p:nvPr/>
        </p:nvSpPr>
        <p:spPr>
          <a:xfrm>
            <a:off x="4517136" y="4754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1E9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/>
          </a:p>
        </p:txBody>
      </p:sp>
      <p:sp>
        <p:nvSpPr>
          <p:cNvPr id="39" name="Text 37"/>
          <p:cNvSpPr txBox="1"/>
          <p:nvPr/>
        </p:nvSpPr>
        <p:spPr>
          <a:xfrm>
            <a:off x="4498848" y="5522976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errors, gpt-5.4, both domains</a:t>
            </a:r>
            <a:endParaRPr lang="en-US" sz="1300"/>
          </a:p>
        </p:txBody>
      </p:sp>
      <p:sp>
        <p:nvSpPr>
          <p:cNvPr id="40" name="Shape 38"/>
          <p:cNvSpPr/>
          <p:nvPr/>
        </p:nvSpPr>
        <p:spPr>
          <a:xfrm>
            <a:off x="8119872" y="4572000"/>
            <a:ext cx="3511296" cy="1536192"/>
          </a:xfrm>
          <a:prstGeom prst="roundRect">
            <a:avLst>
              <a:gd name="adj" fmla="val 5952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 txBox="1"/>
          <p:nvPr/>
        </p:nvSpPr>
        <p:spPr>
          <a:xfrm>
            <a:off x="8302752" y="4754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A87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/>
          </a:p>
        </p:txBody>
      </p:sp>
      <p:sp>
        <p:nvSpPr>
          <p:cNvPr id="42" name="Text 40"/>
          <p:cNvSpPr txBox="1"/>
          <p:nvPr/>
        </p:nvSpPr>
        <p:spPr>
          <a:xfrm>
            <a:off x="8284464" y="5522976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 astro runs never reach the critic</a:t>
            </a:r>
            <a:endParaRPr lang="en-US" sz="1300"/>
          </a:p>
        </p:txBody>
      </p:sp>
      <p:sp>
        <p:nvSpPr>
          <p:cNvPr id="43" name="Shape 41"/>
          <p:cNvSpPr/>
          <p:nvPr/>
        </p:nvSpPr>
        <p:spPr>
          <a:xfrm>
            <a:off x="54864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68580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82296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 txBox="1"/>
          <p:nvPr/>
        </p:nvSpPr>
        <p:spPr>
          <a:xfrm>
            <a:off x="10241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answer hides · CAISA Lab, Bonn</a:t>
            </a:r>
            <a:endParaRPr lang="en-US" sz="1000"/>
          </a:p>
        </p:txBody>
      </p:sp>
      <p:sp>
        <p:nvSpPr>
          <p:cNvPr id="47" name="Text 45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6A552A9C-D115-8864-EECB-4E430DBFF65D}"/>
              </a:ext>
            </a:extLst>
          </p:cNvPr>
          <p:cNvSpPr txBox="1"/>
          <p:nvPr/>
        </p:nvSpPr>
        <p:spPr>
          <a:xfrm>
            <a:off x="6839712" y="3822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40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E774BEC1-A8FD-2E78-C861-AAB8F83E601C}"/>
              </a:ext>
            </a:extLst>
          </p:cNvPr>
          <p:cNvSpPr txBox="1"/>
          <p:nvPr/>
        </p:nvSpPr>
        <p:spPr>
          <a:xfrm>
            <a:off x="8023860" y="23134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Track of State and Reason Error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· LOSS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is not delivering</a:t>
            </a:r>
            <a:endParaRPr lang="en-US" sz="340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had a verified answer — and didn't deliver it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 txBox="1"/>
          <p:nvPr/>
        </p:nvSpPr>
        <p:spPr>
          <a:xfrm>
            <a:off x="548640" y="22219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1417320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58568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099816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941064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1E9C83"/>
          </a:solidFill>
          <a:ln w="12700">
            <a:solidFill>
              <a:srgbClr val="1E9C8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782312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623560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464808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7306056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8147304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8988552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9829800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10671048" y="2157984"/>
            <a:ext cx="749808" cy="402336"/>
          </a:xfrm>
          <a:prstGeom prst="roundRect">
            <a:avLst>
              <a:gd name="adj" fmla="val 15909"/>
            </a:avLst>
          </a:prstGeom>
          <a:solidFill>
            <a:srgbClr val="8B94A3"/>
          </a:solidFill>
          <a:ln w="12700">
            <a:solidFill>
              <a:srgbClr val="8B94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10671048" y="215798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6464808" y="2039112"/>
            <a:ext cx="4114800" cy="0"/>
          </a:xfrm>
          <a:prstGeom prst="line">
            <a:avLst/>
          </a:prstGeom>
          <a:noFill/>
          <a:ln w="15875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464808" y="2039112"/>
            <a:ext cx="0" cy="73152"/>
          </a:xfrm>
          <a:prstGeom prst="line">
            <a:avLst/>
          </a:prstGeom>
          <a:noFill/>
          <a:ln w="15875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10579608" y="2039112"/>
            <a:ext cx="0" cy="73152"/>
          </a:xfrm>
          <a:prstGeom prst="line">
            <a:avLst/>
          </a:prstGeom>
          <a:noFill/>
          <a:ln w="15875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 txBox="1"/>
          <p:nvPr/>
        </p:nvSpPr>
        <p:spPr>
          <a:xfrm>
            <a:off x="6464808" y="1737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reaction:</a:t>
            </a:r>
            <a:r>
              <a:rPr lang="en-US" sz="1300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re-runs its own broken edit ×5</a:t>
            </a:r>
            <a:endParaRPr lang="en-US" sz="1300"/>
          </a:p>
        </p:txBody>
      </p:sp>
      <p:sp>
        <p:nvSpPr>
          <p:cNvPr id="24" name="Text 22"/>
          <p:cNvSpPr txBox="1"/>
          <p:nvPr/>
        </p:nvSpPr>
        <p:spPr>
          <a:xfrm>
            <a:off x="3941064" y="2615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1E9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engineer's proof: the kernel accepts it</a:t>
            </a:r>
            <a:endParaRPr lang="en-US" sz="1300"/>
          </a:p>
        </p:txBody>
      </p:sp>
      <p:sp>
        <p:nvSpPr>
          <p:cNvPr id="25" name="Text 23"/>
          <p:cNvSpPr txBox="1"/>
          <p:nvPr/>
        </p:nvSpPr>
        <p:spPr>
          <a:xfrm>
            <a:off x="5623560" y="2871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</a:t>
            </a:r>
            <a:r>
              <a:rPr lang="en-US" sz="1300" b="1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failure:</a:t>
            </a:r>
            <a:r>
              <a:rPr lang="en-US" sz="1300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critic rewrites the theorem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548640" y="3364992"/>
            <a:ext cx="1629461" cy="274320"/>
          </a:xfrm>
          <a:prstGeom prst="roundRect">
            <a:avLst>
              <a:gd name="adj" fmla="val 50000"/>
            </a:avLst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 txBox="1"/>
          <p:nvPr/>
        </p:nvSpPr>
        <p:spPr>
          <a:xfrm>
            <a:off x="548640" y="3364992"/>
            <a:ext cx="1629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· gpt-4o-mini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 txBox="1"/>
          <p:nvPr/>
        </p:nvSpPr>
        <p:spPr>
          <a:xfrm>
            <a:off x="749808" y="37490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failure:</a:t>
            </a:r>
            <a:r>
              <a:rPr lang="en-US" sz="14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true planet is in the first fit — the team submits it </a:t>
            </a:r>
            <a:r>
              <a:rPr lang="en-US" sz="14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spurious one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4041648" y="4229100"/>
            <a:ext cx="274320" cy="0"/>
          </a:xfrm>
          <a:prstGeom prst="line">
            <a:avLst/>
          </a:prstGeom>
          <a:noFill/>
          <a:ln w="22225">
            <a:solidFill>
              <a:srgbClr val="6B738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4379976" y="37490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 txBox="1"/>
          <p:nvPr/>
        </p:nvSpPr>
        <p:spPr>
          <a:xfrm>
            <a:off x="4581144" y="37490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says “planet count differs”</a:t>
            </a:r>
            <a:endParaRPr lang="en-US" sz="1400"/>
          </a:p>
        </p:txBody>
      </p:sp>
      <p:sp>
        <p:nvSpPr>
          <p:cNvPr id="33" name="Shape 31"/>
          <p:cNvSpPr/>
          <p:nvPr/>
        </p:nvSpPr>
        <p:spPr>
          <a:xfrm>
            <a:off x="7872984" y="4229100"/>
            <a:ext cx="274320" cy="0"/>
          </a:xfrm>
          <a:prstGeom prst="line">
            <a:avLst/>
          </a:prstGeom>
          <a:noFill/>
          <a:ln w="22225">
            <a:solidFill>
              <a:srgbClr val="6B7384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8211312" y="37490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 txBox="1"/>
          <p:nvPr/>
        </p:nvSpPr>
        <p:spPr>
          <a:xfrm>
            <a:off x="8412480" y="3749040"/>
            <a:ext cx="3026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reaction:</a:t>
            </a:r>
            <a:r>
              <a:rPr lang="en-US" sz="140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critic re-runs checks others already ran; the run ends with </a:t>
            </a:r>
            <a:r>
              <a:rPr lang="en-US" sz="14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unused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548640" y="4919472"/>
            <a:ext cx="3511296" cy="1243584"/>
          </a:xfrm>
          <a:prstGeom prst="roundRect">
            <a:avLst>
              <a:gd name="adj" fmla="val 7353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 txBox="1"/>
          <p:nvPr/>
        </p:nvSpPr>
        <p:spPr>
          <a:xfrm>
            <a:off x="731520" y="50292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C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3400"/>
          </a:p>
        </p:txBody>
      </p:sp>
      <p:sp>
        <p:nvSpPr>
          <p:cNvPr id="38" name="Text 36"/>
          <p:cNvSpPr txBox="1"/>
          <p:nvPr/>
        </p:nvSpPr>
        <p:spPr>
          <a:xfrm>
            <a:off x="713232" y="5614416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verified answers lost at the frontier — both domains</a:t>
            </a:r>
            <a:endParaRPr lang="en-US" sz="1300"/>
          </a:p>
        </p:txBody>
      </p:sp>
      <p:sp>
        <p:nvSpPr>
          <p:cNvPr id="39" name="Shape 37"/>
          <p:cNvSpPr/>
          <p:nvPr/>
        </p:nvSpPr>
        <p:spPr>
          <a:xfrm>
            <a:off x="4334256" y="4919472"/>
            <a:ext cx="3511296" cy="1243584"/>
          </a:xfrm>
          <a:prstGeom prst="roundRect">
            <a:avLst>
              <a:gd name="adj" fmla="val 7353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 txBox="1"/>
          <p:nvPr/>
        </p:nvSpPr>
        <p:spPr>
          <a:xfrm>
            <a:off x="4517136" y="50292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C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400"/>
          </a:p>
        </p:txBody>
      </p:sp>
      <p:sp>
        <p:nvSpPr>
          <p:cNvPr id="41" name="Text 39"/>
          <p:cNvSpPr txBox="1"/>
          <p:nvPr/>
        </p:nvSpPr>
        <p:spPr>
          <a:xfrm>
            <a:off x="4498848" y="5614416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the weaker astro teams</a:t>
            </a:r>
            <a:endParaRPr lang="en-US" sz="1300"/>
          </a:p>
        </p:txBody>
      </p:sp>
      <p:sp>
        <p:nvSpPr>
          <p:cNvPr id="42" name="Shape 40"/>
          <p:cNvSpPr/>
          <p:nvPr/>
        </p:nvSpPr>
        <p:spPr>
          <a:xfrm>
            <a:off x="8119872" y="4919472"/>
            <a:ext cx="3511296" cy="1243584"/>
          </a:xfrm>
          <a:prstGeom prst="roundRect">
            <a:avLst>
              <a:gd name="adj" fmla="val 7353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 txBox="1"/>
          <p:nvPr/>
        </p:nvSpPr>
        <p:spPr>
          <a:xfrm>
            <a:off x="8302752" y="50292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1E9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26</a:t>
            </a:r>
            <a:endParaRPr lang="en-US" sz="3400"/>
          </a:p>
        </p:txBody>
      </p:sp>
      <p:sp>
        <p:nvSpPr>
          <p:cNvPr id="44" name="Text 42"/>
          <p:cNvSpPr txBox="1"/>
          <p:nvPr/>
        </p:nvSpPr>
        <p:spPr>
          <a:xfrm>
            <a:off x="8284464" y="5614416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Lean proofs pass the full kernel gate</a:t>
            </a:r>
            <a:endParaRPr lang="en-US" sz="1300"/>
          </a:p>
        </p:txBody>
      </p:sp>
      <p:sp>
        <p:nvSpPr>
          <p:cNvPr id="45" name="Shape 43"/>
          <p:cNvSpPr/>
          <p:nvPr/>
        </p:nvSpPr>
        <p:spPr>
          <a:xfrm>
            <a:off x="54864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68580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82296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 txBox="1"/>
          <p:nvPr/>
        </p:nvSpPr>
        <p:spPr>
          <a:xfrm>
            <a:off x="10241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answer hides · CAISA Lab, Bonn</a:t>
            </a:r>
            <a:endParaRPr lang="en-US" sz="1000"/>
          </a:p>
        </p:txBody>
      </p:sp>
      <p:sp>
        <p:nvSpPr>
          <p:cNvPr id="49" name="Text 4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7B4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3–6 · THE REVIEWER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 catches nothing — and still loses things</a:t>
            </a:r>
            <a:endParaRPr lang="en-US" sz="340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 critic checks everything and finds nothing  ·  the weak critic rejects what the kernel accepted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3" y="2324953"/>
            <a:ext cx="306141" cy="30614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9202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156</a:t>
            </a:r>
            <a:endParaRPr lang="en-US" sz="4000"/>
          </a:p>
        </p:txBody>
      </p:sp>
      <p:sp>
        <p:nvSpPr>
          <p:cNvPr id="9" name="Text 6"/>
          <p:cNvSpPr txBox="1"/>
          <p:nvPr/>
        </p:nvSpPr>
        <p:spPr>
          <a:xfrm>
            <a:off x="1691640" y="25968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by the strong critic — it re-checks 97% of proofs and finds nothing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6245352" y="17830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6565392" y="2194560"/>
            <a:ext cx="566928" cy="5669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785" y="2324953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88352" y="19202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≥15 / 25</a:t>
            </a:r>
            <a:endParaRPr lang="en-US" sz="4000"/>
          </a:p>
        </p:txBody>
      </p:sp>
      <p:sp>
        <p:nvSpPr>
          <p:cNvPr id="14" name="Text 10"/>
          <p:cNvSpPr txBox="1"/>
          <p:nvPr/>
        </p:nvSpPr>
        <p:spPr>
          <a:xfrm>
            <a:off x="7388352" y="25968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by the weak critic were of kernel-verified proofs</a:t>
            </a:r>
            <a:endParaRPr lang="en-US" sz="1300"/>
          </a:p>
        </p:txBody>
      </p:sp>
      <p:sp>
        <p:nvSpPr>
          <p:cNvPr id="15" name="Shape 11"/>
          <p:cNvSpPr/>
          <p:nvPr/>
        </p:nvSpPr>
        <p:spPr>
          <a:xfrm>
            <a:off x="548640" y="3319272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777240" y="3474720"/>
            <a:ext cx="402336" cy="402336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77" y="3567257"/>
            <a:ext cx="217261" cy="2172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319272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1C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“…uses the deprecated Transitive… should be updated to IsTrans.  HANDOFF: engineer”</a:t>
            </a:r>
            <a:endParaRPr lang="en-US" sz="1800"/>
          </a:p>
        </p:txBody>
      </p:sp>
      <p:sp>
        <p:nvSpPr>
          <p:cNvPr id="19" name="Shape 14"/>
          <p:cNvSpPr/>
          <p:nvPr/>
        </p:nvSpPr>
        <p:spPr>
          <a:xfrm>
            <a:off x="548640" y="4224528"/>
            <a:ext cx="11091672" cy="1261872"/>
          </a:xfrm>
          <a:prstGeom prst="roundRect">
            <a:avLst>
              <a:gd name="adj" fmla="val 8696"/>
            </a:avLst>
          </a:prstGeom>
          <a:solidFill>
            <a:srgbClr val="151A25"/>
          </a:solidFill>
          <a:ln w="12700">
            <a:solidFill>
              <a:srgbClr val="151A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822960" y="4608576"/>
            <a:ext cx="502920" cy="502920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32" y="4724248"/>
            <a:ext cx="271577" cy="27157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224528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only the critic</a:t>
            </a:r>
            <a:endParaRPr lang="en-US" sz="2000"/>
          </a:p>
        </p:txBody>
      </p:sp>
      <p:sp>
        <p:nvSpPr>
          <p:cNvPr id="23" name="Text 17"/>
          <p:cNvSpPr txBox="1"/>
          <p:nvPr/>
        </p:nvSpPr>
        <p:spPr>
          <a:xfrm>
            <a:off x="3886200" y="44256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7FD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unchanged</a:t>
            </a:r>
            <a:endParaRPr lang="en-US" sz="2800"/>
          </a:p>
        </p:txBody>
      </p:sp>
      <p:sp>
        <p:nvSpPr>
          <p:cNvPr id="24" name="Text 18"/>
          <p:cNvSpPr txBox="1"/>
          <p:nvPr/>
        </p:nvSpPr>
        <p:spPr>
          <a:xfrm>
            <a:off x="3886200" y="5001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produced</a:t>
            </a:r>
            <a:endParaRPr lang="en-US" sz="1300"/>
          </a:p>
        </p:txBody>
      </p:sp>
      <p:sp>
        <p:nvSpPr>
          <p:cNvPr id="25" name="Shape 19"/>
          <p:cNvSpPr/>
          <p:nvPr/>
        </p:nvSpPr>
        <p:spPr>
          <a:xfrm>
            <a:off x="6364224" y="4498848"/>
            <a:ext cx="0" cy="713232"/>
          </a:xfrm>
          <a:prstGeom prst="line">
            <a:avLst/>
          </a:prstGeom>
          <a:noFill/>
          <a:ln w="12700">
            <a:solidFill>
              <a:srgbClr val="36405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0"/>
          <p:cNvSpPr txBox="1"/>
          <p:nvPr/>
        </p:nvSpPr>
        <p:spPr>
          <a:xfrm>
            <a:off x="6501384" y="44256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5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 </a:t>
            </a:r>
            <a:r>
              <a:rPr lang="en-US" sz="2800" b="1">
                <a:solidFill>
                  <a:srgbClr val="F5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2800" b="1">
                <a:solidFill>
                  <a:srgbClr val="F5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91%</a:t>
            </a:r>
            <a:endParaRPr lang="en-US" sz="2800"/>
          </a:p>
        </p:txBody>
      </p:sp>
      <p:sp>
        <p:nvSpPr>
          <p:cNvPr id="27" name="Text 21"/>
          <p:cNvSpPr txBox="1"/>
          <p:nvPr/>
        </p:nvSpPr>
        <p:spPr>
          <a:xfrm>
            <a:off x="6501384" y="5001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delivered</a:t>
            </a:r>
            <a:endParaRPr lang="en-US" sz="1300"/>
          </a:p>
        </p:txBody>
      </p:sp>
      <p:sp>
        <p:nvSpPr>
          <p:cNvPr id="28" name="Shape 22"/>
          <p:cNvSpPr/>
          <p:nvPr/>
        </p:nvSpPr>
        <p:spPr>
          <a:xfrm>
            <a:off x="8979408" y="4498848"/>
            <a:ext cx="0" cy="713232"/>
          </a:xfrm>
          <a:prstGeom prst="line">
            <a:avLst/>
          </a:prstGeom>
          <a:noFill/>
          <a:ln w="12700">
            <a:solidFill>
              <a:srgbClr val="36405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3"/>
          <p:cNvSpPr txBox="1"/>
          <p:nvPr/>
        </p:nvSpPr>
        <p:spPr>
          <a:xfrm>
            <a:off x="9116568" y="44256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8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2800"/>
          </a:p>
        </p:txBody>
      </p:sp>
      <p:sp>
        <p:nvSpPr>
          <p:cNvPr id="30" name="Text 24"/>
          <p:cNvSpPr txBox="1"/>
          <p:nvPr/>
        </p:nvSpPr>
        <p:spPr>
          <a:xfrm>
            <a:off x="9116568" y="5001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answers</a:t>
            </a:r>
            <a:endParaRPr lang="en-US" sz="1300"/>
          </a:p>
        </p:txBody>
      </p:sp>
      <p:sp>
        <p:nvSpPr>
          <p:cNvPr id="31" name="Shape 25"/>
          <p:cNvSpPr/>
          <p:nvPr/>
        </p:nvSpPr>
        <p:spPr>
          <a:xfrm>
            <a:off x="566928" y="5696712"/>
            <a:ext cx="384048" cy="384048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59" y="5785043"/>
            <a:ext cx="207386" cy="20738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97280" y="56144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at both ends, </a:t>
            </a:r>
            <a:r>
              <a:rPr lang="en-US" sz="1400" b="1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claims checks that were never run</a:t>
            </a:r>
            <a:r>
              <a:rPr lang="en-US" sz="14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“adds no axioms”  ·  “matches the intended statement exactly”  —  neither backed by any tool output</a:t>
            </a:r>
            <a:endParaRPr lang="en-US" sz="1400"/>
          </a:p>
        </p:txBody>
      </p:sp>
      <p:sp>
        <p:nvSpPr>
          <p:cNvPr id="34" name="Shape 27"/>
          <p:cNvSpPr/>
          <p:nvPr/>
        </p:nvSpPr>
        <p:spPr>
          <a:xfrm>
            <a:off x="54864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28"/>
          <p:cNvSpPr/>
          <p:nvPr/>
        </p:nvSpPr>
        <p:spPr>
          <a:xfrm>
            <a:off x="68580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29"/>
          <p:cNvSpPr/>
          <p:nvPr/>
        </p:nvSpPr>
        <p:spPr>
          <a:xfrm>
            <a:off x="82296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0"/>
          <p:cNvSpPr txBox="1"/>
          <p:nvPr/>
        </p:nvSpPr>
        <p:spPr>
          <a:xfrm>
            <a:off x="10241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answer hides · CAISA Lab, Bonn</a:t>
            </a:r>
            <a:endParaRPr lang="en-US" sz="1000"/>
          </a:p>
        </p:txBody>
      </p:sp>
      <p:sp>
        <p:nvSpPr>
          <p:cNvPr id="38" name="Text 31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kern="0" spc="300">
                <a:solidFill>
                  <a:srgbClr val="1E9C83"/>
                </a:solidFill>
                <a:ea typeface="+mn-lt"/>
                <a:cs typeface="+mn-lt"/>
              </a:rPr>
              <a:t>HOW THE ROLES WERE USED</a:t>
            </a:r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C2230"/>
                </a:solidFill>
                <a:ea typeface="+mn-lt"/>
                <a:cs typeface="+mn-lt"/>
              </a:rPr>
              <a:t>Where the structure worked — and where it got in its own way.</a:t>
            </a:r>
            <a:endParaRPr lang="en-US" sz="1600" b="1">
              <a:ea typeface="Calibri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actually used its loop, its back-edge and its critic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566928" y="1764792"/>
            <a:ext cx="118872" cy="118872"/>
          </a:xfrm>
          <a:prstGeom prst="ellipse">
            <a:avLst/>
          </a:prstGeom>
          <a:solidFill>
            <a:srgbClr val="1E9C83"/>
          </a:solidFill>
          <a:ln w="12700">
            <a:solidFill>
              <a:srgbClr val="1E9C8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 txBox="1"/>
          <p:nvPr/>
        </p:nvSpPr>
        <p:spPr>
          <a:xfrm>
            <a:off x="777240" y="170078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1E9C83"/>
                </a:solidFill>
                <a:latin typeface="Calibri"/>
                <a:ea typeface="Calibri"/>
                <a:cs typeface="Calibri"/>
              </a:rPr>
              <a:t>WHERE IT WORKED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4014216"/>
            <a:ext cx="118872" cy="118872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777240" y="395020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CF4444"/>
                </a:solidFill>
                <a:latin typeface="Calibri"/>
                <a:ea typeface="Calibri"/>
                <a:cs typeface="Calibri"/>
              </a:rPr>
              <a:t>WHERE IT DIDN'T WORK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1F3EE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868680" y="2359152"/>
            <a:ext cx="566928" cy="566928"/>
          </a:xfrm>
          <a:prstGeom prst="ellipse">
            <a:avLst/>
          </a:prstGeom>
          <a:solidFill>
            <a:srgbClr val="1E9C83"/>
          </a:solidFill>
          <a:ln w="12700">
            <a:solidFill>
              <a:srgbClr val="1E9C8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3" y="2489545"/>
            <a:ext cx="306141" cy="30614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91640" y="213969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E9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 </a:t>
            </a:r>
            <a:r>
              <a:rPr lang="en-US" sz="3800" b="1">
                <a:solidFill>
                  <a:srgbClr val="1E9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3800" b="1">
                <a:solidFill>
                  <a:srgbClr val="1E9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55%</a:t>
            </a:r>
            <a:endParaRPr lang="en-US" sz="3800"/>
          </a:p>
        </p:txBody>
      </p:sp>
      <p:sp>
        <p:nvSpPr>
          <p:cNvPr id="13" name="Text 10"/>
          <p:cNvSpPr txBox="1"/>
          <p:nvPr/>
        </p:nvSpPr>
        <p:spPr>
          <a:xfrm>
            <a:off x="1691640" y="281635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after a failed first attempt, weak → frontier</a:t>
            </a:r>
            <a:endParaRPr lang="en-US" sz="140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repair loop is used only above a threshold</a:t>
            </a:r>
            <a:endParaRPr lang="en-US" sz="1400"/>
          </a:p>
        </p:txBody>
      </p:sp>
      <p:sp>
        <p:nvSpPr>
          <p:cNvPr id="14" name="Shape 11"/>
          <p:cNvSpPr/>
          <p:nvPr/>
        </p:nvSpPr>
        <p:spPr>
          <a:xfrm>
            <a:off x="6245352" y="1993392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1F3EE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6565392" y="2359152"/>
            <a:ext cx="566928" cy="566928"/>
          </a:xfrm>
          <a:prstGeom prst="ellipse">
            <a:avLst/>
          </a:prstGeom>
          <a:solidFill>
            <a:srgbClr val="1E9C83"/>
          </a:solidFill>
          <a:ln w="12700">
            <a:solidFill>
              <a:srgbClr val="1E9C8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785" y="2489545"/>
            <a:ext cx="306141" cy="30614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88352" y="213969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E9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18</a:t>
            </a:r>
            <a:endParaRPr lang="en-US" sz="3800"/>
          </a:p>
        </p:txBody>
      </p:sp>
      <p:sp>
        <p:nvSpPr>
          <p:cNvPr id="18" name="Text 14"/>
          <p:cNvSpPr txBox="1"/>
          <p:nvPr/>
        </p:nvSpPr>
        <p:spPr>
          <a:xfrm>
            <a:off x="7388352" y="281635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two-planet systems used the engineer → planner back-edge (one-planet: 20 / 109)</a:t>
            </a:r>
            <a:endParaRPr lang="en-US" sz="140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boundary is used where the task is iterative</a:t>
            </a:r>
            <a:endParaRPr lang="en-US" sz="1400"/>
          </a:p>
        </p:txBody>
      </p:sp>
      <p:sp>
        <p:nvSpPr>
          <p:cNvPr id="19" name="Shape 15"/>
          <p:cNvSpPr/>
          <p:nvPr/>
        </p:nvSpPr>
        <p:spPr>
          <a:xfrm>
            <a:off x="548640" y="4242816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BE6E6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6"/>
          <p:cNvSpPr/>
          <p:nvPr/>
        </p:nvSpPr>
        <p:spPr>
          <a:xfrm>
            <a:off x="868680" y="4608576"/>
            <a:ext cx="566928" cy="566928"/>
          </a:xfrm>
          <a:prstGeom prst="ellipse">
            <a:avLst/>
          </a:prstGeom>
          <a:solidFill>
            <a:srgbClr val="CF4444"/>
          </a:solidFill>
          <a:ln w="12700">
            <a:solidFill>
              <a:srgbClr val="C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073" y="4738969"/>
            <a:ext cx="306141" cy="30614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91640" y="4389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C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800"/>
          </a:p>
        </p:txBody>
      </p:sp>
      <p:sp>
        <p:nvSpPr>
          <p:cNvPr id="23" name="Text 18"/>
          <p:cNvSpPr txBox="1"/>
          <p:nvPr/>
        </p:nvSpPr>
        <p:spPr>
          <a:xfrm>
            <a:off x="1691640" y="5065776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frontier compiler calls are the critic re-checking already-verified work — 0 findings</a:t>
            </a:r>
            <a:endParaRPr lang="en-US" sz="140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critic's checks are redundant</a:t>
            </a:r>
            <a:endParaRPr lang="en-US" sz="1400"/>
          </a:p>
        </p:txBody>
      </p:sp>
      <p:sp>
        <p:nvSpPr>
          <p:cNvPr id="24" name="Shape 19"/>
          <p:cNvSpPr/>
          <p:nvPr/>
        </p:nvSpPr>
        <p:spPr>
          <a:xfrm>
            <a:off x="6245352" y="4242816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BF0D6"/>
          </a:solidFill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0"/>
          <p:cNvSpPr/>
          <p:nvPr/>
        </p:nvSpPr>
        <p:spPr>
          <a:xfrm>
            <a:off x="6565392" y="4608576"/>
            <a:ext cx="566928" cy="566928"/>
          </a:xfrm>
          <a:prstGeom prst="ellipse">
            <a:avLst/>
          </a:prstGeom>
          <a:solidFill>
            <a:srgbClr val="C99014"/>
          </a:solidFill>
          <a:ln w="12700">
            <a:solidFill>
              <a:srgbClr val="C9901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5785" y="4738969"/>
            <a:ext cx="306141" cy="30614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88352" y="4389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A87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216</a:t>
            </a:r>
            <a:endParaRPr lang="en-US" sz="3800"/>
          </a:p>
        </p:txBody>
      </p:sp>
      <p:sp>
        <p:nvSpPr>
          <p:cNvPr id="28" name="Text 22"/>
          <p:cNvSpPr txBox="1"/>
          <p:nvPr/>
        </p:nvSpPr>
        <p:spPr>
          <a:xfrm>
            <a:off x="7388352" y="5065776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5A6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 exhaust their submission budget (published single agents: over-submission)</a:t>
            </a:r>
            <a:endParaRPr lang="en-US" sz="1400"/>
          </a:p>
          <a:p>
            <a:pPr marL="0" indent="0">
              <a:spcBef>
                <a:spcPts val="600"/>
              </a:spcBef>
              <a:buNone/>
            </a:pPr>
            <a:r>
              <a:rPr lang="en-US" sz="1400" b="1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gate produces under-submission</a:t>
            </a:r>
            <a:endParaRPr lang="en-US" sz="1400"/>
          </a:p>
        </p:txBody>
      </p:sp>
      <p:sp>
        <p:nvSpPr>
          <p:cNvPr id="29" name="Shape 23"/>
          <p:cNvSpPr/>
          <p:nvPr/>
        </p:nvSpPr>
        <p:spPr>
          <a:xfrm>
            <a:off x="54864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4"/>
          <p:cNvSpPr/>
          <p:nvPr/>
        </p:nvSpPr>
        <p:spPr>
          <a:xfrm>
            <a:off x="68580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5"/>
          <p:cNvSpPr/>
          <p:nvPr/>
        </p:nvSpPr>
        <p:spPr>
          <a:xfrm>
            <a:off x="82296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6"/>
          <p:cNvSpPr txBox="1"/>
          <p:nvPr/>
        </p:nvSpPr>
        <p:spPr>
          <a:xfrm>
            <a:off x="10241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answer hides · CAISA Lab, Bonn</a:t>
            </a:r>
            <a:endParaRPr lang="en-US" sz="1000"/>
          </a:p>
        </p:txBody>
      </p:sp>
      <p:sp>
        <p:nvSpPr>
          <p:cNvPr id="33" name="Text 2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12838"/>
          </a:solidFill>
          <a:ln w="12700">
            <a:solidFill>
              <a:srgbClr val="2128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 txBox="1"/>
          <p:nvPr/>
        </p:nvSpPr>
        <p:spPr>
          <a:xfrm>
            <a:off x="868680" y="1463040"/>
            <a:ext cx="914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5F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/>
          </a:p>
        </p:txBody>
      </p:sp>
      <p:sp>
        <p:nvSpPr>
          <p:cNvPr id="5" name="Text 3"/>
          <p:cNvSpPr txBox="1"/>
          <p:nvPr/>
        </p:nvSpPr>
        <p:spPr>
          <a:xfrm>
            <a:off x="1828800" y="1645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Score the hand-offs, not just the answer.</a:t>
            </a:r>
          </a:p>
          <a:p>
            <a:r>
              <a:rPr lang="en-US" dirty="0">
                <a:solidFill>
                  <a:srgbClr val="B7C0D0"/>
                </a:solidFill>
                <a:ea typeface="+mn-lt"/>
                <a:cs typeface="+mn-lt"/>
              </a:rPr>
              <a:t>— The score hides where a team fails.</a:t>
            </a:r>
            <a:endParaRPr lang="en-US">
              <a:solidFill>
                <a:srgbClr val="B7C0D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45352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12838"/>
          </a:solidFill>
          <a:ln w="12700">
            <a:solidFill>
              <a:srgbClr val="2128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 txBox="1"/>
          <p:nvPr/>
        </p:nvSpPr>
        <p:spPr>
          <a:xfrm>
            <a:off x="6565392" y="1463040"/>
            <a:ext cx="914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5F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/>
          </a:p>
        </p:txBody>
      </p:sp>
      <p:sp>
        <p:nvSpPr>
          <p:cNvPr id="8" name="Text 6"/>
          <p:cNvSpPr txBox="1"/>
          <p:nvPr/>
        </p:nvSpPr>
        <p:spPr>
          <a:xfrm>
            <a:off x="7525512" y="1645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critic is the coordination role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r>
              <a:rPr lang="en-US">
                <a:solidFill>
                  <a:srgbClr val="B7C0D0"/>
                </a:solidFill>
                <a:latin typeface="Calibri"/>
                <a:ea typeface="Calibri"/>
                <a:cs typeface="Calibri"/>
              </a:rPr>
              <a:t>— </a:t>
            </a:r>
            <a:r>
              <a:rPr lang="en-US" sz="1800">
                <a:solidFill>
                  <a:srgbClr val="B7C0D0"/>
                </a:solidFill>
                <a:latin typeface="Calibri"/>
                <a:ea typeface="Calibri"/>
                <a:cs typeface="Calibri"/>
              </a:rPr>
              <a:t>its </a:t>
            </a:r>
            <a:r>
              <a:rPr lang="en-US" dirty="0" err="1">
                <a:solidFill>
                  <a:srgbClr val="B7C0D0"/>
                </a:solidFill>
                <a:latin typeface="Calibri"/>
                <a:ea typeface="Calibri"/>
                <a:cs typeface="Calibri"/>
              </a:rPr>
              <a:t>behaviour</a:t>
            </a:r>
            <a:r>
              <a:rPr lang="en-US">
                <a:solidFill>
                  <a:srgbClr val="B7C0D0"/>
                </a:solidFill>
                <a:latin typeface="Calibri"/>
                <a:ea typeface="Calibri"/>
                <a:cs typeface="Calibri"/>
              </a:rPr>
              <a:t> sets</a:t>
            </a:r>
            <a:r>
              <a:rPr lang="en-US" sz="1800">
                <a:solidFill>
                  <a:srgbClr val="B7C0D0"/>
                </a:solidFill>
                <a:latin typeface="Calibri"/>
                <a:ea typeface="Calibri"/>
                <a:cs typeface="Calibri"/>
              </a:rPr>
              <a:t> what gets delivered.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12838"/>
          </a:solidFill>
          <a:ln w="12700">
            <a:solidFill>
              <a:srgbClr val="2128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868680" y="3520440"/>
            <a:ext cx="914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5F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/>
          </a:p>
        </p:txBody>
      </p:sp>
      <p:sp>
        <p:nvSpPr>
          <p:cNvPr id="11" name="Text 9"/>
          <p:cNvSpPr txBox="1"/>
          <p:nvPr/>
        </p:nvSpPr>
        <p:spPr>
          <a:xfrm>
            <a:off x="1828800" y="37033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FFFFFF"/>
                </a:solidFill>
                <a:ea typeface="+mn-lt"/>
                <a:cs typeface="+mn-lt"/>
              </a:rPr>
              <a:t>Role boundaries pay where the task is iterative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5352" y="35204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12838"/>
          </a:solidFill>
          <a:ln w="12700">
            <a:solidFill>
              <a:srgbClr val="2128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 txBox="1"/>
          <p:nvPr/>
        </p:nvSpPr>
        <p:spPr>
          <a:xfrm>
            <a:off x="6565392" y="3520440"/>
            <a:ext cx="914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5F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/>
          </a:p>
        </p:txBody>
      </p:sp>
      <p:sp>
        <p:nvSpPr>
          <p:cNvPr id="14" name="Text 12"/>
          <p:cNvSpPr txBox="1"/>
          <p:nvPr/>
        </p:nvSpPr>
        <p:spPr>
          <a:xfrm>
            <a:off x="7525512" y="37033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FFFFFF"/>
                </a:solidFill>
                <a:ea typeface="+mn-lt"/>
                <a:cs typeface="+mn-lt"/>
              </a:rPr>
              <a:t>Add a role where the task needs  a second hypothesis — not for safety</a:t>
            </a:r>
            <a:endParaRPr lang="en-US" b="1">
              <a:solidFill>
                <a:srgbClr val="B7C0D0"/>
              </a:solidFill>
              <a:ea typeface="Calibri"/>
              <a:cs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48640" y="5715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7F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1417320" y="5715000"/>
            <a:ext cx="2642616" cy="310896"/>
          </a:xfrm>
          <a:prstGeom prst="roundRect">
            <a:avLst>
              <a:gd name="adj" fmla="val 50000"/>
            </a:avLst>
          </a:prstGeom>
          <a:solidFill>
            <a:srgbClr val="212838"/>
          </a:solidFill>
          <a:ln w="9525">
            <a:solidFill>
              <a:srgbClr val="36405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 txBox="1"/>
          <p:nvPr/>
        </p:nvSpPr>
        <p:spPr>
          <a:xfrm>
            <a:off x="1417320" y="5715000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single-agent baseline of our own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187952" y="5715000"/>
            <a:ext cx="2371954" cy="310896"/>
          </a:xfrm>
          <a:prstGeom prst="roundRect">
            <a:avLst>
              <a:gd name="adj" fmla="val 50000"/>
            </a:avLst>
          </a:prstGeom>
          <a:solidFill>
            <a:srgbClr val="212838"/>
          </a:solidFill>
          <a:ln w="9525">
            <a:solidFill>
              <a:srgbClr val="36405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 txBox="1"/>
          <p:nvPr/>
        </p:nvSpPr>
        <p:spPr>
          <a:xfrm>
            <a:off x="4187952" y="5715000"/>
            <a:ext cx="23719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arms not cross-comparable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6687922" y="5715000"/>
            <a:ext cx="2101291" cy="310896"/>
          </a:xfrm>
          <a:prstGeom prst="roundRect">
            <a:avLst>
              <a:gd name="adj" fmla="val 50000"/>
            </a:avLst>
          </a:prstGeom>
          <a:solidFill>
            <a:srgbClr val="212838"/>
          </a:solidFill>
          <a:ln w="9525">
            <a:solidFill>
              <a:srgbClr val="36405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 txBox="1"/>
          <p:nvPr/>
        </p:nvSpPr>
        <p:spPr>
          <a:xfrm>
            <a:off x="6687922" y="5715000"/>
            <a:ext cx="2101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n ≈ 20 Lean tasks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8917229" y="571500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12838"/>
          </a:solidFill>
          <a:ln w="9525">
            <a:solidFill>
              <a:srgbClr val="36405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 txBox="1"/>
          <p:nvPr/>
        </p:nvSpPr>
        <p:spPr>
          <a:xfrm>
            <a:off x="8917229" y="571500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7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astro data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4864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3E6DB5"/>
          </a:solidFill>
          <a:ln w="12700">
            <a:solidFill>
              <a:srgbClr val="3E6D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68580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D4822A"/>
          </a:solidFill>
          <a:ln w="12700">
            <a:solidFill>
              <a:srgbClr val="D482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822960" y="6464808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 txBox="1"/>
          <p:nvPr/>
        </p:nvSpPr>
        <p:spPr>
          <a:xfrm>
            <a:off x="10241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F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answer hides · CAISA Lab, Bonn</a:t>
            </a:r>
            <a:endParaRPr lang="en-US" sz="1000"/>
          </a:p>
        </p:txBody>
      </p:sp>
      <p:sp>
        <p:nvSpPr>
          <p:cNvPr id="28" name="Text 26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F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</Words>
  <Application>Microsoft Office PowerPoint</Application>
  <PresentationFormat>Breitbild</PresentationFormat>
  <Paragraphs>217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the final answer hides</dc:title>
  <dc:subject>PptxGenJS Presentation</dc:subject>
  <dc:creator>Jiadong Han · Mohammad Saeed Motevali Amin</dc:creator>
  <cp:lastModifiedBy>jiadong han</cp:lastModifiedBy>
  <cp:revision>45</cp:revision>
  <dcterms:created xsi:type="dcterms:W3CDTF">2026-09-17T00:02:17Z</dcterms:created>
  <dcterms:modified xsi:type="dcterms:W3CDTF">2026-09-21T11:37:13Z</dcterms:modified>
</cp:coreProperties>
</file>